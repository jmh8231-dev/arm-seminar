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30"/>
  </p:notesMasterIdLst>
  <p:sldIdLst>
    <p:sldId id="256" r:id="rId2"/>
    <p:sldId id="258" r:id="rId3"/>
    <p:sldId id="435" r:id="rId4"/>
    <p:sldId id="437" r:id="rId5"/>
    <p:sldId id="451" r:id="rId6"/>
    <p:sldId id="452" r:id="rId7"/>
    <p:sldId id="453" r:id="rId8"/>
    <p:sldId id="454" r:id="rId9"/>
    <p:sldId id="455" r:id="rId10"/>
    <p:sldId id="456" r:id="rId11"/>
    <p:sldId id="457" r:id="rId12"/>
    <p:sldId id="458" r:id="rId13"/>
    <p:sldId id="459" r:id="rId14"/>
    <p:sldId id="462" r:id="rId15"/>
    <p:sldId id="461" r:id="rId16"/>
    <p:sldId id="463" r:id="rId17"/>
    <p:sldId id="464" r:id="rId18"/>
    <p:sldId id="465" r:id="rId19"/>
    <p:sldId id="466" r:id="rId20"/>
    <p:sldId id="467" r:id="rId21"/>
    <p:sldId id="469" r:id="rId22"/>
    <p:sldId id="470" r:id="rId23"/>
    <p:sldId id="471" r:id="rId24"/>
    <p:sldId id="468" r:id="rId25"/>
    <p:sldId id="472" r:id="rId26"/>
    <p:sldId id="473" r:id="rId27"/>
    <p:sldId id="474" r:id="rId28"/>
    <p:sldId id="475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AECD4F-9523-4815-827E-2B8DD5C14A03}">
          <p14:sldIdLst>
            <p14:sldId id="256"/>
            <p14:sldId id="258"/>
            <p14:sldId id="435"/>
            <p14:sldId id="437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2"/>
            <p14:sldId id="461"/>
            <p14:sldId id="463"/>
            <p14:sldId id="464"/>
            <p14:sldId id="465"/>
            <p14:sldId id="466"/>
            <p14:sldId id="467"/>
            <p14:sldId id="469"/>
            <p14:sldId id="470"/>
            <p14:sldId id="471"/>
            <p14:sldId id="468"/>
            <p14:sldId id="472"/>
            <p14:sldId id="473"/>
            <p14:sldId id="474"/>
            <p14:sldId id="4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6"/>
    <a:srgbClr val="FFC001"/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211" d="100"/>
          <a:sy n="211" d="100"/>
        </p:scale>
        <p:origin x="18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A3A56-EDB2-4B73-A1CB-5609952E432E}" type="datetimeFigureOut">
              <a:rPr lang="ko-KR" altLang="en-US" smtClean="0"/>
              <a:t>2026. 1. 23.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DC4E7-C879-4C34-B87B-3BCA38CC4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99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9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0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5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74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1/23/26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03" r:id="rId6"/>
    <p:sldLayoutId id="2147483899" r:id="rId7"/>
    <p:sldLayoutId id="2147483900" r:id="rId8"/>
    <p:sldLayoutId id="2147483901" r:id="rId9"/>
    <p:sldLayoutId id="2147483902" r:id="rId10"/>
    <p:sldLayoutId id="214748390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EB309-3929-FF0E-BDEF-07DD47014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555" y="1380753"/>
            <a:ext cx="5230446" cy="1227221"/>
          </a:xfrm>
        </p:spPr>
        <p:txBody>
          <a:bodyPr anchor="ctr">
            <a:normAutofit fontScale="90000"/>
          </a:bodyPr>
          <a:lstStyle/>
          <a:p>
            <a:r>
              <a:rPr lang="en-US" altLang="ko-KR" dirty="0"/>
              <a:t>Artwork</a:t>
            </a:r>
            <a:r>
              <a:rPr lang="ko-KR" altLang="en-US" dirty="0"/>
              <a:t> 세미나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5D9FB2-EF99-4CCA-9CDB-EB444E8BDB51}"/>
              </a:ext>
            </a:extLst>
          </p:cNvPr>
          <p:cNvSpPr txBox="1"/>
          <p:nvPr/>
        </p:nvSpPr>
        <p:spPr>
          <a:xfrm>
            <a:off x="1685480" y="6410443"/>
            <a:ext cx="500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/>
              <a:t>Robotics </a:t>
            </a:r>
            <a:r>
              <a:rPr lang="ko-KR" altLang="en-US" b="1" dirty="0"/>
              <a:t>정명훈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983F3-D723-6F86-C98E-DCC005282A53}"/>
              </a:ext>
            </a:extLst>
          </p:cNvPr>
          <p:cNvSpPr txBox="1"/>
          <p:nvPr/>
        </p:nvSpPr>
        <p:spPr>
          <a:xfrm>
            <a:off x="5334000" y="3057753"/>
            <a:ext cx="270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세미나 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r>
              <a:rPr lang="ko-KR" altLang="en-US" dirty="0" err="1">
                <a:solidFill>
                  <a:schemeClr val="bg1"/>
                </a:solidFill>
              </a:rPr>
              <a:t>회차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0" name="그림 9" descr="텍스트, 도표, 평면도, 개략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BE38B6-D149-A484-E6F1-8D9C1582F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1" y="-3829"/>
            <a:ext cx="5334000" cy="686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8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5F0D8B9-9302-627A-0DF0-48187E885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837" y="2439987"/>
            <a:ext cx="7315200" cy="23495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BB31C44-31E4-68F2-5A5B-2780DCE514E0}"/>
              </a:ext>
            </a:extLst>
          </p:cNvPr>
          <p:cNvSpPr/>
          <p:nvPr/>
        </p:nvSpPr>
        <p:spPr>
          <a:xfrm>
            <a:off x="8985" y="0"/>
            <a:ext cx="2764302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25FA6-C969-F6F7-C840-477882525D7E}"/>
              </a:ext>
            </a:extLst>
          </p:cNvPr>
          <p:cNvSpPr txBox="1"/>
          <p:nvPr/>
        </p:nvSpPr>
        <p:spPr>
          <a:xfrm>
            <a:off x="201818" y="998384"/>
            <a:ext cx="237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세미나 로드맵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ko-KR" altLang="en-US" sz="2000" dirty="0">
                <a:solidFill>
                  <a:schemeClr val="bg1"/>
                </a:solidFill>
              </a:rPr>
              <a:t>상세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r>
              <a:rPr lang="en-US" altLang="ko-KR" sz="1600" dirty="0">
                <a:solidFill>
                  <a:schemeClr val="bg1"/>
                </a:solidFill>
              </a:rPr>
              <a:t>   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A67160-6AFB-A3C4-BE10-2EBDA448F4BD}"/>
              </a:ext>
            </a:extLst>
          </p:cNvPr>
          <p:cNvSpPr/>
          <p:nvPr/>
        </p:nvSpPr>
        <p:spPr>
          <a:xfrm>
            <a:off x="4159015" y="3471392"/>
            <a:ext cx="7146845" cy="286691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3948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DBCB-DC37-2ED8-7610-D3830606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D22C4-2A50-3ACB-4332-C9459717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0.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PCB</a:t>
            </a:r>
            <a:r>
              <a:rPr lang="ko-KR" altLang="en-US" dirty="0">
                <a:solidFill>
                  <a:srgbClr val="FFFFFF"/>
                </a:solidFill>
                <a:latin typeface="+mn-lt"/>
              </a:rPr>
              <a:t> 구조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0</a:t>
            </a:r>
            <a:r>
              <a:rPr lang="en-US" altLang="ko-KR" sz="2800" dirty="0"/>
              <a:t>-1</a:t>
            </a:r>
            <a:r>
              <a:rPr lang="ko-KR" altLang="en-US" sz="2800" dirty="0"/>
              <a:t> 다층 기판 설계 전략</a:t>
            </a:r>
            <a:endParaRPr lang="ko-KR" altLang="en-US" dirty="0">
              <a:latin typeface="+mn-lt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61DA515-BCCB-F4FB-7AAC-6D5B3BC90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24" y="2491092"/>
            <a:ext cx="4319977" cy="36049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B785665-93FD-1B9C-BBD1-B6F2B6FDD1E8}"/>
              </a:ext>
            </a:extLst>
          </p:cNvPr>
          <p:cNvSpPr txBox="1"/>
          <p:nvPr/>
        </p:nvSpPr>
        <p:spPr>
          <a:xfrm>
            <a:off x="1591911" y="6213075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커패시터의</a:t>
            </a:r>
            <a:r>
              <a:rPr kumimoji="1" lang="ko-KR" altLang="en-US" dirty="0"/>
              <a:t> 구조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F0C459F-D14B-DB0A-1162-83C4DDF87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715" y="3429000"/>
            <a:ext cx="0" cy="0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10ADDBD9-2FFA-D81E-D25D-5D919B4132F0}"/>
              </a:ext>
            </a:extLst>
          </p:cNvPr>
          <p:cNvGrpSpPr/>
          <p:nvPr/>
        </p:nvGrpSpPr>
        <p:grpSpPr>
          <a:xfrm>
            <a:off x="4420608" y="3423297"/>
            <a:ext cx="3221595" cy="1774519"/>
            <a:chOff x="4420608" y="3423297"/>
            <a:chExt cx="3221595" cy="17745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7AE2ED91-767C-7E87-F9AB-0714C9B2BB9E}"/>
                    </a:ext>
                  </a:extLst>
                </p:cNvPr>
                <p:cNvSpPr/>
                <p:nvPr/>
              </p:nvSpPr>
              <p:spPr>
                <a:xfrm>
                  <a:off x="4420608" y="3810858"/>
                  <a:ext cx="3221595" cy="99939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dirty="0"/>
                    <a:t>유전체</a:t>
                  </a:r>
                  <a:r>
                    <a:rPr kumimoji="1" lang="en-US" altLang="ko-KR" dirty="0"/>
                    <a:t>(</a:t>
                  </a:r>
                  <a14:m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ko-KR" altLang="en-US" dirty="0">
                    <a:effectLst/>
                  </a:endParaRPr>
                </a:p>
              </p:txBody>
            </p:sp>
          </mc:Choice>
          <mc:Fallback xmlns=""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7AE2ED91-767C-7E87-F9AB-0714C9B2BB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0608" y="3810858"/>
                  <a:ext cx="3221595" cy="9993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F415EC0-6B5E-810C-11E7-EEED3372E55C}"/>
                </a:ext>
              </a:extLst>
            </p:cNvPr>
            <p:cNvSpPr/>
            <p:nvPr/>
          </p:nvSpPr>
          <p:spPr>
            <a:xfrm>
              <a:off x="4420608" y="3423297"/>
              <a:ext cx="3221595" cy="38756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ko-KR" dirty="0"/>
            </a:p>
            <a:p>
              <a:pPr algn="ctr"/>
              <a:r>
                <a:rPr kumimoji="1" lang="en-US" altLang="ko-KR" dirty="0" err="1">
                  <a:effectLst/>
                </a:rPr>
                <a:t>Fcu</a:t>
              </a:r>
              <a:endParaRPr kumimoji="1" lang="en-US" altLang="ko-KR" dirty="0">
                <a:effectLst/>
              </a:endParaRPr>
            </a:p>
            <a:p>
              <a:pPr algn="ctr"/>
              <a:endParaRPr lang="ko-KR" altLang="en-US" dirty="0">
                <a:effectLst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815DC0-6B76-EBCE-D319-9ED9E70B430F}"/>
                </a:ext>
              </a:extLst>
            </p:cNvPr>
            <p:cNvSpPr/>
            <p:nvPr/>
          </p:nvSpPr>
          <p:spPr>
            <a:xfrm>
              <a:off x="4420608" y="4810255"/>
              <a:ext cx="3221595" cy="38756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en-US" altLang="ko-KR" dirty="0"/>
            </a:p>
            <a:p>
              <a:pPr algn="ctr"/>
              <a:r>
                <a:rPr kumimoji="1" lang="en-US" altLang="ko-KR" dirty="0" err="1"/>
                <a:t>B</a:t>
              </a:r>
              <a:r>
                <a:rPr kumimoji="1" lang="en-US" altLang="ko-KR" dirty="0" err="1">
                  <a:effectLst/>
                </a:rPr>
                <a:t>cu</a:t>
              </a:r>
              <a:endParaRPr lang="ko-KR" altLang="en-US" dirty="0">
                <a:effectLst/>
              </a:endParaRPr>
            </a:p>
            <a:p>
              <a:r>
                <a:rPr lang="en-US" altLang="ko-KR" dirty="0"/>
                <a:t>,</a:t>
              </a:r>
              <a:endParaRPr kumimoji="1" lang="ko-KR" altLang="en-US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CC86E97-A5BB-41C9-7D2F-7B1B1047740D}"/>
              </a:ext>
            </a:extLst>
          </p:cNvPr>
          <p:cNvSpPr txBox="1"/>
          <p:nvPr/>
        </p:nvSpPr>
        <p:spPr>
          <a:xfrm>
            <a:off x="5166899" y="6210739"/>
            <a:ext cx="181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</a:t>
            </a:r>
            <a:r>
              <a:rPr kumimoji="1" lang="ko-KR" altLang="en-US" dirty="0"/>
              <a:t>층 기판의 구조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D1B075D-5D6E-4340-8CC0-FF5881075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487" y="3041439"/>
            <a:ext cx="0" cy="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0CB59BFD-C495-E234-E04C-7663010D659D}"/>
              </a:ext>
            </a:extLst>
          </p:cNvPr>
          <p:cNvGrpSpPr/>
          <p:nvPr/>
        </p:nvGrpSpPr>
        <p:grpSpPr>
          <a:xfrm>
            <a:off x="8480187" y="3423297"/>
            <a:ext cx="3221598" cy="1774519"/>
            <a:chOff x="8480187" y="3423297"/>
            <a:chExt cx="3221598" cy="17745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56BD2AAD-CD85-FB35-544A-D21F6D6D1C7D}"/>
                    </a:ext>
                  </a:extLst>
                </p:cNvPr>
                <p:cNvSpPr/>
                <p:nvPr/>
              </p:nvSpPr>
              <p:spPr>
                <a:xfrm>
                  <a:off x="8480190" y="4188409"/>
                  <a:ext cx="3221595" cy="20728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dirty="0"/>
                    <a:t>유전체</a:t>
                  </a:r>
                  <a:r>
                    <a:rPr kumimoji="1" lang="en-US" altLang="ko-KR" dirty="0"/>
                    <a:t>(</a:t>
                  </a:r>
                  <a14:m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ko-KR" altLang="en-US" dirty="0">
                    <a:effectLst/>
                  </a:endParaRPr>
                </a:p>
              </p:txBody>
            </p:sp>
          </mc:Choice>
          <mc:Fallback xmlns="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56BD2AAD-CD85-FB35-544A-D21F6D6D1C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0190" y="4188409"/>
                  <a:ext cx="3221595" cy="207282"/>
                </a:xfrm>
                <a:prstGeom prst="rect">
                  <a:avLst/>
                </a:prstGeom>
                <a:blipFill>
                  <a:blip r:embed="rId5"/>
                  <a:stretch>
                    <a:fillRect t="-50000" b="-7222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2439630-323B-E095-D88E-7080644DAE24}"/>
                </a:ext>
              </a:extLst>
            </p:cNvPr>
            <p:cNvSpPr/>
            <p:nvPr/>
          </p:nvSpPr>
          <p:spPr>
            <a:xfrm>
              <a:off x="8480187" y="3423297"/>
              <a:ext cx="3221595" cy="38756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ko-KR" dirty="0"/>
            </a:p>
            <a:p>
              <a:pPr algn="ctr"/>
              <a:r>
                <a:rPr kumimoji="1" lang="en-US" altLang="ko-KR" dirty="0" err="1">
                  <a:effectLst/>
                </a:rPr>
                <a:t>Fcu</a:t>
              </a:r>
              <a:endParaRPr kumimoji="1" lang="en-US" altLang="ko-KR" dirty="0">
                <a:effectLst/>
              </a:endParaRPr>
            </a:p>
            <a:p>
              <a:pPr algn="ctr"/>
              <a:endParaRPr lang="ko-KR" altLang="en-US" dirty="0">
                <a:effectLst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40CED2C-854D-A304-5BF3-45EF39DCE036}"/>
                </a:ext>
              </a:extLst>
            </p:cNvPr>
            <p:cNvSpPr/>
            <p:nvPr/>
          </p:nvSpPr>
          <p:spPr>
            <a:xfrm>
              <a:off x="8480187" y="4810255"/>
              <a:ext cx="3221595" cy="38756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 err="1"/>
                <a:t>B</a:t>
              </a:r>
              <a:r>
                <a:rPr kumimoji="1" lang="en-US" altLang="ko-KR" dirty="0" err="1">
                  <a:effectLst/>
                </a:rPr>
                <a:t>cu</a:t>
              </a:r>
              <a:endParaRPr kumimoji="1" lang="ko-KR" altLang="en-US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DF0DDF9-8D2B-A967-C19D-E4F1B64F77FD}"/>
                </a:ext>
              </a:extLst>
            </p:cNvPr>
            <p:cNvSpPr/>
            <p:nvPr/>
          </p:nvSpPr>
          <p:spPr>
            <a:xfrm>
              <a:off x="8480190" y="4395691"/>
              <a:ext cx="3221595" cy="2072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effectLst/>
                </a:rPr>
                <a:t>INcu2</a:t>
              </a:r>
              <a:endParaRPr kumimoji="1" lang="ko-KR" altLang="en-US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1EDF2D2-86D6-1EFD-ED42-E274A3EC7651}"/>
                </a:ext>
              </a:extLst>
            </p:cNvPr>
            <p:cNvSpPr/>
            <p:nvPr/>
          </p:nvSpPr>
          <p:spPr>
            <a:xfrm>
              <a:off x="8480189" y="3981127"/>
              <a:ext cx="3221595" cy="2072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effectLst/>
                </a:rPr>
                <a:t>INcu1</a:t>
              </a:r>
              <a:endParaRPr kumimoji="1"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AD13DD19-4466-B518-9D54-A3FFBDFFC515}"/>
                    </a:ext>
                  </a:extLst>
                </p:cNvPr>
                <p:cNvSpPr/>
                <p:nvPr/>
              </p:nvSpPr>
              <p:spPr>
                <a:xfrm>
                  <a:off x="8480189" y="4602973"/>
                  <a:ext cx="3221595" cy="20728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dirty="0"/>
                    <a:t>유전체</a:t>
                  </a:r>
                  <a:r>
                    <a:rPr kumimoji="1" lang="en-US" altLang="ko-KR" dirty="0"/>
                    <a:t>(</a:t>
                  </a:r>
                  <a14:m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ko-KR" altLang="en-US" dirty="0">
                    <a:effectLst/>
                  </a:endParaRPr>
                </a:p>
              </p:txBody>
            </p:sp>
          </mc:Choice>
          <mc:Fallback xmlns="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AD13DD19-4466-B518-9D54-A3FFBDFFC5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0189" y="4602973"/>
                  <a:ext cx="3221595" cy="207282"/>
                </a:xfrm>
                <a:prstGeom prst="rect">
                  <a:avLst/>
                </a:prstGeom>
                <a:blipFill>
                  <a:blip r:embed="rId6"/>
                  <a:stretch>
                    <a:fillRect t="-52941" b="-8235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48A5201F-4468-2E9D-00A4-30C93FE627F1}"/>
                    </a:ext>
                  </a:extLst>
                </p:cNvPr>
                <p:cNvSpPr/>
                <p:nvPr/>
              </p:nvSpPr>
              <p:spPr>
                <a:xfrm>
                  <a:off x="8480188" y="3796678"/>
                  <a:ext cx="3221595" cy="20728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dirty="0"/>
                    <a:t>유전체</a:t>
                  </a:r>
                  <a:r>
                    <a:rPr kumimoji="1" lang="en-US" altLang="ko-KR" dirty="0"/>
                    <a:t>(</a:t>
                  </a:r>
                  <a14:m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ko-KR" altLang="en-US" dirty="0">
                    <a:effectLst/>
                  </a:endParaRPr>
                </a:p>
              </p:txBody>
            </p:sp>
          </mc:Choice>
          <mc:Fallback xmlns=""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48A5201F-4468-2E9D-00A4-30C93FE627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0188" y="3796678"/>
                  <a:ext cx="3221595" cy="207282"/>
                </a:xfrm>
                <a:prstGeom prst="rect">
                  <a:avLst/>
                </a:prstGeom>
                <a:blipFill>
                  <a:blip r:embed="rId7"/>
                  <a:stretch>
                    <a:fillRect t="-58824" b="-7647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3839A79-88A1-9F72-2D3B-C8AB30E44A73}"/>
              </a:ext>
            </a:extLst>
          </p:cNvPr>
          <p:cNvSpPr txBox="1"/>
          <p:nvPr/>
        </p:nvSpPr>
        <p:spPr>
          <a:xfrm>
            <a:off x="9181119" y="6210739"/>
            <a:ext cx="181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4</a:t>
            </a:r>
            <a:r>
              <a:rPr kumimoji="1" lang="ko-KR" altLang="en-US" dirty="0"/>
              <a:t>층 기판의 구조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F72A7C-73C2-4844-DD77-0C96448ED4A5}"/>
              </a:ext>
            </a:extLst>
          </p:cNvPr>
          <p:cNvSpPr txBox="1"/>
          <p:nvPr/>
        </p:nvSpPr>
        <p:spPr>
          <a:xfrm>
            <a:off x="7411825" y="2692207"/>
            <a:ext cx="4289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*</a:t>
            </a:r>
            <a:r>
              <a:rPr kumimoji="1" lang="en-US" altLang="ko-KR" b="1" dirty="0"/>
              <a:t>PCB </a:t>
            </a:r>
            <a:r>
              <a:rPr kumimoji="1" lang="ko-KR" altLang="en-US" b="1" dirty="0"/>
              <a:t>자체로 </a:t>
            </a:r>
            <a:r>
              <a:rPr kumimoji="1" lang="ko-KR" altLang="en-US" b="1" dirty="0" err="1"/>
              <a:t>커패시터</a:t>
            </a:r>
            <a:r>
              <a:rPr kumimoji="1" lang="ko-KR" altLang="en-US" b="1" dirty="0"/>
              <a:t> 역할이 가능하다</a:t>
            </a:r>
            <a:r>
              <a:rPr kumimoji="1" lang="en-US" altLang="ko-KR" b="1" dirty="0"/>
              <a:t>.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061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3E080-FB59-53A4-797D-CDFB4F074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AB9F8-B5B8-3546-451B-67E52A3D9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  <a:latin typeface="+mn-lt"/>
              </a:rPr>
              <a:t>노이즈 대책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-1</a:t>
            </a:r>
            <a:r>
              <a:rPr lang="ko-KR" altLang="en-US" sz="2800" dirty="0"/>
              <a:t> </a:t>
            </a:r>
            <a:r>
              <a:rPr lang="en-US" altLang="ko-KR" sz="2800" dirty="0"/>
              <a:t>IC</a:t>
            </a:r>
            <a:r>
              <a:rPr lang="ko-KR" altLang="en-US" sz="2800" dirty="0"/>
              <a:t>전원부에 </a:t>
            </a:r>
            <a:r>
              <a:rPr lang="en-US" altLang="ko-KR" sz="2800" dirty="0"/>
              <a:t>104(0.1uF) CAP</a:t>
            </a:r>
            <a:r>
              <a:rPr lang="ko-KR" altLang="en-US" sz="2800" dirty="0"/>
              <a:t>을 배치하는 이유</a:t>
            </a:r>
            <a:r>
              <a:rPr lang="en-US" altLang="ko-KR" sz="2800" dirty="0"/>
              <a:t> #1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D872450-50F0-7258-0488-9D37F3365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11" y="3791055"/>
            <a:ext cx="4971570" cy="148521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2EAACD5-4F38-DC47-12C0-5A9AE3D0E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115" y="3791056"/>
            <a:ext cx="5297274" cy="14852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FD3CF1-2E61-205D-4271-937D97AB7FAF}"/>
              </a:ext>
            </a:extLst>
          </p:cNvPr>
          <p:cNvSpPr txBox="1"/>
          <p:nvPr/>
        </p:nvSpPr>
        <p:spPr>
          <a:xfrm>
            <a:off x="3951329" y="6037462"/>
            <a:ext cx="3935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갑작스런 부하 증가의 따른 전압 강하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88BB4-3CBC-90A7-17DC-8655A9587F21}"/>
              </a:ext>
            </a:extLst>
          </p:cNvPr>
          <p:cNvSpPr txBox="1"/>
          <p:nvPr/>
        </p:nvSpPr>
        <p:spPr>
          <a:xfrm>
            <a:off x="1925490" y="3244334"/>
            <a:ext cx="2537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디커플링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커패시터</a:t>
            </a:r>
            <a:r>
              <a:rPr kumimoji="1" lang="ko-KR" altLang="en-US" dirty="0"/>
              <a:t> </a:t>
            </a:r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48E7A2-BFB7-2124-416B-4778E324A90A}"/>
              </a:ext>
            </a:extLst>
          </p:cNvPr>
          <p:cNvSpPr txBox="1"/>
          <p:nvPr/>
        </p:nvSpPr>
        <p:spPr>
          <a:xfrm>
            <a:off x="7541193" y="3244334"/>
            <a:ext cx="2587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디커플링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커패시터</a:t>
            </a:r>
            <a:r>
              <a:rPr kumimoji="1" lang="ko-KR" altLang="en-US" dirty="0"/>
              <a:t> </a:t>
            </a:r>
            <a:r>
              <a:rPr kumimoji="1" lang="en-US" altLang="ko-KR" dirty="0"/>
              <a:t>O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5933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5450A-93F1-02F5-C436-FCF9AD970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38F48-9959-5C36-F6D9-365993DB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노이즈 대책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-1</a:t>
            </a:r>
            <a:r>
              <a:rPr lang="ko-KR" altLang="en-US" sz="2800" dirty="0"/>
              <a:t> </a:t>
            </a:r>
            <a:r>
              <a:rPr lang="en-US" altLang="ko-KR" sz="2800" dirty="0"/>
              <a:t>IC</a:t>
            </a:r>
            <a:r>
              <a:rPr lang="ko-KR" altLang="en-US" sz="2800" dirty="0"/>
              <a:t>전원부에 </a:t>
            </a:r>
            <a:r>
              <a:rPr lang="en-US" altLang="ko-KR" sz="2800" dirty="0"/>
              <a:t>104(0.1uF) CAP</a:t>
            </a:r>
            <a:r>
              <a:rPr lang="ko-KR" altLang="en-US" sz="2800" dirty="0"/>
              <a:t>을 배치하는 이유</a:t>
            </a:r>
            <a:r>
              <a:rPr lang="en-US" altLang="ko-KR" sz="2800" dirty="0"/>
              <a:t> #2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83601-83C9-A4C4-3396-6AB42E89367A}"/>
              </a:ext>
            </a:extLst>
          </p:cNvPr>
          <p:cNvSpPr txBox="1"/>
          <p:nvPr/>
        </p:nvSpPr>
        <p:spPr>
          <a:xfrm>
            <a:off x="3416420" y="5698347"/>
            <a:ext cx="5359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고주파 노이즈 관점에서 </a:t>
            </a:r>
            <a:r>
              <a:rPr kumimoji="1" lang="en-US" altLang="ko-KR" dirty="0"/>
              <a:t>LDO -&gt; MCU</a:t>
            </a:r>
            <a:r>
              <a:rPr kumimoji="1" lang="ko-KR" altLang="en-US" dirty="0"/>
              <a:t> 의 등가 회로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FA1799-CC87-E81E-4B42-98F5F0485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671" y="2990724"/>
            <a:ext cx="8838655" cy="23745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D94300-1591-8E8C-A950-A69507DBFA7F}"/>
              </a:ext>
            </a:extLst>
          </p:cNvPr>
          <p:cNvSpPr txBox="1"/>
          <p:nvPr/>
        </p:nvSpPr>
        <p:spPr>
          <a:xfrm>
            <a:off x="3314765" y="2621392"/>
            <a:ext cx="720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PCB </a:t>
            </a:r>
            <a:r>
              <a:rPr kumimoji="1" lang="ko-KR" altLang="en-US" dirty="0"/>
              <a:t>기생 인덕턴스와 </a:t>
            </a:r>
            <a:r>
              <a:rPr kumimoji="1" lang="ko-KR" altLang="en-US" dirty="0" err="1"/>
              <a:t>디커플링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커패시터로</a:t>
            </a:r>
            <a:r>
              <a:rPr kumimoji="1" lang="ko-KR" altLang="en-US" dirty="0"/>
              <a:t> 인해 </a:t>
            </a:r>
            <a:r>
              <a:rPr kumimoji="1" lang="en-US" altLang="ko-KR" dirty="0"/>
              <a:t>LC</a:t>
            </a:r>
            <a:r>
              <a:rPr kumimoji="1" lang="ko-KR" altLang="en-US" dirty="0"/>
              <a:t> 필터 효과를 준다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8981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4F637-2572-E466-B848-0CF93BDD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691F7-95C4-63E7-1D40-CE3FC80FF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노이즈 대책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-1</a:t>
            </a:r>
            <a:r>
              <a:rPr lang="ko-KR" altLang="en-US" sz="2800" dirty="0"/>
              <a:t> </a:t>
            </a:r>
            <a:r>
              <a:rPr lang="en-US" altLang="ko-KR" sz="2800" dirty="0"/>
              <a:t>IC</a:t>
            </a:r>
            <a:r>
              <a:rPr lang="ko-KR" altLang="en-US" sz="2800" dirty="0"/>
              <a:t>전원부에 </a:t>
            </a:r>
            <a:r>
              <a:rPr lang="en-US" altLang="ko-KR" sz="2800" dirty="0"/>
              <a:t>104(0.1uF) CAP</a:t>
            </a:r>
            <a:r>
              <a:rPr lang="ko-KR" altLang="en-US" sz="2800" dirty="0"/>
              <a:t>을 배치하는 이유</a:t>
            </a:r>
            <a:r>
              <a:rPr lang="en-US" altLang="ko-KR" sz="2800" dirty="0"/>
              <a:t> #3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2B96B-8B78-C42E-1E71-75412F4F9E7A}"/>
              </a:ext>
            </a:extLst>
          </p:cNvPr>
          <p:cNvSpPr txBox="1"/>
          <p:nvPr/>
        </p:nvSpPr>
        <p:spPr>
          <a:xfrm>
            <a:off x="4647525" y="5601457"/>
            <a:ext cx="2896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고주파 노이즈의 전류 루프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87E40-B31D-645D-1892-7FA71B9FC477}"/>
              </a:ext>
            </a:extLst>
          </p:cNvPr>
          <p:cNvSpPr txBox="1"/>
          <p:nvPr/>
        </p:nvSpPr>
        <p:spPr>
          <a:xfrm>
            <a:off x="6301383" y="2674781"/>
            <a:ext cx="3680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rgbClr val="FFC001"/>
                </a:solidFill>
              </a:rPr>
              <a:t>노란색 경로</a:t>
            </a:r>
            <a:r>
              <a:rPr kumimoji="1" lang="en-US" altLang="ko-KR" b="1" dirty="0">
                <a:solidFill>
                  <a:srgbClr val="FFC001"/>
                </a:solidFill>
              </a:rPr>
              <a:t>:</a:t>
            </a:r>
            <a:r>
              <a:rPr kumimoji="1" lang="ko-KR" altLang="en-US" b="1" dirty="0">
                <a:solidFill>
                  <a:srgbClr val="FFC001"/>
                </a:solidFill>
              </a:rPr>
              <a:t> </a:t>
            </a:r>
            <a:r>
              <a:rPr kumimoji="1" lang="ko-KR" altLang="en-US" b="1" dirty="0" err="1">
                <a:solidFill>
                  <a:srgbClr val="FFC001"/>
                </a:solidFill>
              </a:rPr>
              <a:t>디커플링</a:t>
            </a:r>
            <a:r>
              <a:rPr kumimoji="1" lang="ko-KR" altLang="en-US" b="1" dirty="0">
                <a:solidFill>
                  <a:srgbClr val="FFC001"/>
                </a:solidFill>
              </a:rPr>
              <a:t> </a:t>
            </a:r>
            <a:r>
              <a:rPr kumimoji="1" lang="ko-KR" altLang="en-US" b="1" dirty="0" err="1">
                <a:solidFill>
                  <a:srgbClr val="FFC001"/>
                </a:solidFill>
              </a:rPr>
              <a:t>커패시터</a:t>
            </a:r>
            <a:r>
              <a:rPr kumimoji="1" lang="ko-KR" altLang="en-US" b="1" dirty="0">
                <a:solidFill>
                  <a:srgbClr val="FFC001"/>
                </a:solidFill>
              </a:rPr>
              <a:t> </a:t>
            </a:r>
            <a:r>
              <a:rPr kumimoji="1" lang="en-US" altLang="ko-KR" b="1" dirty="0">
                <a:solidFill>
                  <a:srgbClr val="FFC001"/>
                </a:solidFill>
              </a:rPr>
              <a:t>X</a:t>
            </a:r>
          </a:p>
          <a:p>
            <a:r>
              <a:rPr kumimoji="1" lang="ko-KR" altLang="en-US" b="1" dirty="0">
                <a:solidFill>
                  <a:srgbClr val="5B9BD6"/>
                </a:solidFill>
              </a:rPr>
              <a:t>파란색 경로</a:t>
            </a:r>
            <a:r>
              <a:rPr kumimoji="1" lang="en-US" altLang="ko-KR" b="1" dirty="0">
                <a:solidFill>
                  <a:srgbClr val="5B9BD6"/>
                </a:solidFill>
              </a:rPr>
              <a:t>:</a:t>
            </a:r>
            <a:r>
              <a:rPr kumimoji="1" lang="ko-KR" altLang="en-US" b="1" dirty="0">
                <a:solidFill>
                  <a:srgbClr val="5B9BD6"/>
                </a:solidFill>
              </a:rPr>
              <a:t> </a:t>
            </a:r>
            <a:r>
              <a:rPr kumimoji="1" lang="ko-KR" altLang="en-US" b="1" dirty="0" err="1">
                <a:solidFill>
                  <a:srgbClr val="5B9BD6"/>
                </a:solidFill>
              </a:rPr>
              <a:t>디커플링</a:t>
            </a:r>
            <a:r>
              <a:rPr kumimoji="1" lang="ko-KR" altLang="en-US" b="1" dirty="0">
                <a:solidFill>
                  <a:srgbClr val="5B9BD6"/>
                </a:solidFill>
              </a:rPr>
              <a:t> </a:t>
            </a:r>
            <a:r>
              <a:rPr kumimoji="1" lang="ko-KR" altLang="en-US" b="1" dirty="0" err="1">
                <a:solidFill>
                  <a:srgbClr val="5B9BD6"/>
                </a:solidFill>
              </a:rPr>
              <a:t>커패시터</a:t>
            </a:r>
            <a:r>
              <a:rPr kumimoji="1" lang="ko-KR" altLang="en-US" b="1" dirty="0">
                <a:solidFill>
                  <a:srgbClr val="5B9BD6"/>
                </a:solidFill>
              </a:rPr>
              <a:t> </a:t>
            </a:r>
            <a:r>
              <a:rPr kumimoji="1" lang="en-US" altLang="ko-KR" b="1" dirty="0">
                <a:solidFill>
                  <a:srgbClr val="5B9BD6"/>
                </a:solidFill>
              </a:rPr>
              <a:t>O</a:t>
            </a:r>
            <a:endParaRPr kumimoji="1" lang="ko-KR" altLang="en-US" b="1" dirty="0">
              <a:solidFill>
                <a:srgbClr val="5B9BD6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EAF3719-5C02-074B-3716-5F6E00D5B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3554611"/>
            <a:ext cx="7772400" cy="157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344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32BBD-437A-02B5-92A3-BF655E994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ACF8E-E442-CC51-60A3-F93764FBA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노이즈 대책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-2</a:t>
            </a:r>
            <a:r>
              <a:rPr lang="ko-KR" altLang="en-US" sz="2800" dirty="0"/>
              <a:t> 올바른 배치 방법</a:t>
            </a:r>
            <a:endParaRPr lang="ko-KR" altLang="en-US" dirty="0">
              <a:latin typeface="+mn-lt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4DD58F9-7365-D482-694E-034EE622A294}"/>
              </a:ext>
            </a:extLst>
          </p:cNvPr>
          <p:cNvGrpSpPr/>
          <p:nvPr/>
        </p:nvGrpSpPr>
        <p:grpSpPr>
          <a:xfrm>
            <a:off x="712293" y="2556737"/>
            <a:ext cx="6249914" cy="4154604"/>
            <a:chOff x="2971043" y="2635460"/>
            <a:chExt cx="6249914" cy="415460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ADAF77B-57D5-919D-F753-2076F7821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1043" y="2635460"/>
              <a:ext cx="6249914" cy="184968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94D2090-EFBB-FF0C-B21A-0F70A7BBD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1043" y="4485144"/>
              <a:ext cx="6249914" cy="230492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EE30F57-1669-E817-6825-7B781315F7C8}"/>
              </a:ext>
            </a:extLst>
          </p:cNvPr>
          <p:cNvSpPr txBox="1"/>
          <p:nvPr/>
        </p:nvSpPr>
        <p:spPr>
          <a:xfrm>
            <a:off x="7217561" y="3804555"/>
            <a:ext cx="497443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Power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Ground</a:t>
            </a:r>
            <a:r>
              <a:rPr kumimoji="1" lang="ko-KR" altLang="en-US" dirty="0"/>
              <a:t> 판 사이 거리가 가까울 경우</a:t>
            </a:r>
            <a:br>
              <a:rPr kumimoji="1" lang="en-US" altLang="ko-KR" dirty="0"/>
            </a:br>
            <a:r>
              <a:rPr kumimoji="1" lang="ko-KR" altLang="en-US" dirty="0" err="1"/>
              <a:t>커패시터</a:t>
            </a:r>
            <a:r>
              <a:rPr kumimoji="1" lang="ko-KR" altLang="en-US" dirty="0"/>
              <a:t> 극성 배치 보다는 간격이 더 큰 요소로</a:t>
            </a:r>
            <a:br>
              <a:rPr kumimoji="1" lang="en-US" altLang="ko-KR" dirty="0"/>
            </a:br>
            <a:r>
              <a:rPr kumimoji="1" lang="ko-KR" altLang="en-US" dirty="0"/>
              <a:t>작용한다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만약 거리가 멀 경우 </a:t>
            </a:r>
            <a:r>
              <a:rPr kumimoji="1" lang="en-US" altLang="ko-KR" dirty="0"/>
              <a:t>CAP</a:t>
            </a:r>
            <a:r>
              <a:rPr kumimoji="1" lang="ko-KR" altLang="en-US" dirty="0"/>
              <a:t>을 빽빽하게 배치하는</a:t>
            </a:r>
            <a:br>
              <a:rPr kumimoji="1" lang="en-US" altLang="ko-KR" dirty="0"/>
            </a:br>
            <a:r>
              <a:rPr kumimoji="1" lang="ko-KR" altLang="en-US" dirty="0"/>
              <a:t>것이 효과적이다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9289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48F4-0F1F-5E14-1C75-4EA39B7B8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896882-5B91-AA59-025C-E2FBA5B54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노이즈 대책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-3</a:t>
            </a:r>
            <a:r>
              <a:rPr lang="ko-KR" altLang="en-US" sz="2800" dirty="0"/>
              <a:t> 올바른 배선 방법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047AC46-A216-9AC8-162A-EDAC531BC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999" y="2314091"/>
            <a:ext cx="6674354" cy="454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43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DBF75-03F0-71E1-9611-36D44B10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25747-5B3A-08A7-370F-7A671E28E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노이즈 대책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-3</a:t>
            </a:r>
            <a:r>
              <a:rPr lang="ko-KR" altLang="en-US" sz="2800" dirty="0"/>
              <a:t> 올바른 배선 방법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17C4AC-5A4D-ABC6-6741-6F380D26B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083" y="2292596"/>
            <a:ext cx="6535834" cy="447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47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67FCF-9E8E-FDDE-3E10-9003A52AF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636D8D-C387-CD7E-FE10-84EA5CBA5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노이즈 대책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-4</a:t>
            </a:r>
            <a:r>
              <a:rPr lang="ko-KR" altLang="en-US" sz="2800" dirty="0"/>
              <a:t> 전원 회로의 배치 방법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284132D-A310-964D-85E6-85B006BE1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24" y="3366280"/>
            <a:ext cx="5165957" cy="173358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B8FE5C1-C4AA-846A-77B5-B6EB99900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294" y="3366280"/>
            <a:ext cx="5165957" cy="1733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85F905-21AC-A257-FB1D-3498EC313FC3}"/>
              </a:ext>
            </a:extLst>
          </p:cNvPr>
          <p:cNvSpPr txBox="1"/>
          <p:nvPr/>
        </p:nvSpPr>
        <p:spPr>
          <a:xfrm>
            <a:off x="568724" y="29969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(a)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E0321E-999F-2DDA-76C5-D50FF82F9DFE}"/>
              </a:ext>
            </a:extLst>
          </p:cNvPr>
          <p:cNvSpPr txBox="1"/>
          <p:nvPr/>
        </p:nvSpPr>
        <p:spPr>
          <a:xfrm>
            <a:off x="6291294" y="2996948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(b)</a:t>
            </a:r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65EFF7-21D0-998E-8CAA-40D39406F96E}"/>
              </a:ext>
            </a:extLst>
          </p:cNvPr>
          <p:cNvSpPr txBox="1"/>
          <p:nvPr/>
        </p:nvSpPr>
        <p:spPr>
          <a:xfrm>
            <a:off x="568724" y="5469193"/>
            <a:ext cx="11159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/>
              <a:t>a</a:t>
            </a:r>
            <a:r>
              <a:rPr kumimoji="1" lang="ko-KR" altLang="en-US" sz="1600" dirty="0"/>
              <a:t>와 </a:t>
            </a:r>
            <a:r>
              <a:rPr kumimoji="1" lang="en-US" altLang="ko-KR" sz="1600" dirty="0"/>
              <a:t>b</a:t>
            </a:r>
            <a:r>
              <a:rPr kumimoji="1" lang="ko-KR" altLang="en-US" sz="1600" dirty="0"/>
              <a:t>모두 </a:t>
            </a:r>
            <a:r>
              <a:rPr kumimoji="1" lang="ko-KR" altLang="en-US" sz="1600" dirty="0" err="1"/>
              <a:t>동작중에</a:t>
            </a:r>
            <a:r>
              <a:rPr kumimoji="1" lang="ko-KR" altLang="en-US" sz="1600" dirty="0"/>
              <a:t> 별다른 영향을 끼치지 않으나 </a:t>
            </a:r>
            <a:r>
              <a:rPr kumimoji="1" lang="en-US" altLang="ko-KR" sz="1600" dirty="0"/>
              <a:t>a</a:t>
            </a:r>
            <a:r>
              <a:rPr kumimoji="1" lang="ko-KR" altLang="en-US" sz="1600" dirty="0"/>
              <a:t>의 배치는 서지</a:t>
            </a:r>
            <a:r>
              <a:rPr kumimoji="1" lang="en-US" altLang="ko-KR" sz="1600" dirty="0"/>
              <a:t>(Surge) </a:t>
            </a:r>
            <a:r>
              <a:rPr kumimoji="1" lang="ko-KR" altLang="en-US" sz="1600" dirty="0"/>
              <a:t>성능 시험에서 종지 않는 결과를 가져올 수 있다</a:t>
            </a:r>
            <a:r>
              <a:rPr kumimoji="1" lang="en-US" altLang="ko-KR" sz="1600" dirty="0"/>
              <a:t>.</a:t>
            </a:r>
            <a:endParaRPr kumimoji="1"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49E2A2-496E-BFDB-2EA5-A282716A7B4B}"/>
              </a:ext>
            </a:extLst>
          </p:cNvPr>
          <p:cNvSpPr txBox="1"/>
          <p:nvPr/>
        </p:nvSpPr>
        <p:spPr>
          <a:xfrm>
            <a:off x="5734681" y="2396784"/>
            <a:ext cx="6394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/>
              <a:t>*</a:t>
            </a:r>
            <a:r>
              <a:rPr kumimoji="1" lang="ko-KR" altLang="en-US" sz="1400" b="1" dirty="0" err="1"/>
              <a:t>전원부</a:t>
            </a:r>
            <a:r>
              <a:rPr kumimoji="1" lang="ko-KR" altLang="en-US" sz="1400" b="1" dirty="0"/>
              <a:t> 설계 시 출력</a:t>
            </a:r>
            <a:r>
              <a:rPr kumimoji="1" lang="en-US" altLang="ko-KR" sz="1400" b="1" dirty="0"/>
              <a:t>(2</a:t>
            </a:r>
            <a:r>
              <a:rPr kumimoji="1" lang="ko-KR" altLang="en-US" sz="1400" b="1" dirty="0"/>
              <a:t>차측</a:t>
            </a:r>
            <a:r>
              <a:rPr kumimoji="1" lang="en-US" altLang="ko-KR" sz="1400" b="1" dirty="0"/>
              <a:t>)</a:t>
            </a:r>
            <a:r>
              <a:rPr kumimoji="1" lang="ko-KR" altLang="en-US" sz="1400" b="1" dirty="0"/>
              <a:t>부를 훨씬 더 중요하게 설계 해야 한다</a:t>
            </a:r>
            <a:r>
              <a:rPr kumimoji="1" lang="en-US" altLang="ko-KR" sz="1400" b="1" dirty="0"/>
              <a:t>.</a:t>
            </a:r>
          </a:p>
          <a:p>
            <a:r>
              <a:rPr kumimoji="1" lang="en-US" altLang="ko-KR" sz="1400" b="1" dirty="0"/>
              <a:t>1</a:t>
            </a:r>
            <a:r>
              <a:rPr kumimoji="1" lang="ko-KR" altLang="en-US" sz="1400" b="1" dirty="0" err="1"/>
              <a:t>차측에서</a:t>
            </a:r>
            <a:r>
              <a:rPr kumimoji="1" lang="ko-KR" altLang="en-US" sz="1400" b="1" dirty="0"/>
              <a:t> 제거되지 못한 노이즈를 </a:t>
            </a:r>
            <a:r>
              <a:rPr kumimoji="1" lang="en-US" altLang="ko-KR" sz="1400" b="1" dirty="0"/>
              <a:t>2</a:t>
            </a:r>
            <a:r>
              <a:rPr kumimoji="1" lang="ko-KR" altLang="en-US" sz="1400" b="1" dirty="0" err="1"/>
              <a:t>차측에서</a:t>
            </a:r>
            <a:r>
              <a:rPr kumimoji="1" lang="ko-KR" altLang="en-US" sz="1400" b="1" dirty="0"/>
              <a:t> 충분히 제거해야 하기 때문이다</a:t>
            </a:r>
            <a:r>
              <a:rPr kumimoji="1" lang="en-US" altLang="ko-KR" sz="1400" b="1" dirty="0"/>
              <a:t>.</a:t>
            </a:r>
            <a:endParaRPr kumimoji="1"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096918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E7898-F87E-1630-BAF4-20F4E26DA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FE92A-589A-7D6E-D967-27AC9B282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노이즈 대책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-5</a:t>
            </a:r>
            <a:r>
              <a:rPr lang="ko-KR" altLang="en-US" sz="2800" dirty="0"/>
              <a:t> </a:t>
            </a:r>
            <a:r>
              <a:rPr lang="en-US" altLang="ko-KR" sz="2800" dirty="0"/>
              <a:t>TP</a:t>
            </a:r>
            <a:r>
              <a:rPr lang="ko-KR" altLang="en-US" sz="2800" dirty="0"/>
              <a:t> 배치 방법</a:t>
            </a:r>
            <a:endParaRPr lang="ko-KR" alt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CF5FD-57AA-5843-B463-02AEB25CB04B}"/>
              </a:ext>
            </a:extLst>
          </p:cNvPr>
          <p:cNvSpPr txBox="1"/>
          <p:nvPr/>
        </p:nvSpPr>
        <p:spPr>
          <a:xfrm>
            <a:off x="2137638" y="2725441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(a)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AE4BA-4D18-65B7-0CA7-E6E5C6254959}"/>
              </a:ext>
            </a:extLst>
          </p:cNvPr>
          <p:cNvSpPr txBox="1"/>
          <p:nvPr/>
        </p:nvSpPr>
        <p:spPr>
          <a:xfrm>
            <a:off x="7264737" y="2725441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(b)</a:t>
            </a:r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670583-D6B5-5F32-C5E5-9BC8334B8F0D}"/>
              </a:ext>
            </a:extLst>
          </p:cNvPr>
          <p:cNvSpPr txBox="1"/>
          <p:nvPr/>
        </p:nvSpPr>
        <p:spPr>
          <a:xfrm>
            <a:off x="1616248" y="5850849"/>
            <a:ext cx="8959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/>
              <a:t>TP</a:t>
            </a:r>
            <a:r>
              <a:rPr kumimoji="1" lang="ko-KR" altLang="en-US" sz="1600" dirty="0" err="1"/>
              <a:t>를</a:t>
            </a:r>
            <a:r>
              <a:rPr kumimoji="1" lang="ko-KR" altLang="en-US" sz="1600" dirty="0"/>
              <a:t> 배치할 경우 </a:t>
            </a:r>
            <a:r>
              <a:rPr kumimoji="1" lang="en-US" altLang="ko-KR" sz="1600" dirty="0"/>
              <a:t>(a)</a:t>
            </a:r>
            <a:r>
              <a:rPr kumimoji="1" lang="ko-KR" altLang="en-US" sz="1600" dirty="0"/>
              <a:t>와 같이 한다면 안테나 역할을 하여 </a:t>
            </a:r>
            <a:r>
              <a:rPr kumimoji="1" lang="en-US" altLang="ko-KR" sz="1600" dirty="0"/>
              <a:t>EMI</a:t>
            </a:r>
            <a:r>
              <a:rPr kumimoji="1" lang="ko-KR" altLang="en-US" sz="1600" dirty="0"/>
              <a:t> 성능 시험에서 문제가 발생할 수 있다</a:t>
            </a:r>
            <a:r>
              <a:rPr kumimoji="1" lang="en-US" altLang="ko-KR" sz="1600" dirty="0"/>
              <a:t>.</a:t>
            </a:r>
            <a:endParaRPr kumimoji="1" lang="ko-KR" altLang="en-US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B7CD9D-A3BB-F098-32B3-F004E77A1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638" y="3094773"/>
            <a:ext cx="2809812" cy="238674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D4FB649-09B4-DF72-FE1C-4048AB4E6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737" y="3094773"/>
            <a:ext cx="2809811" cy="23867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5B1FD6-066B-7E25-C027-1E2E0E12E347}"/>
              </a:ext>
            </a:extLst>
          </p:cNvPr>
          <p:cNvSpPr txBox="1"/>
          <p:nvPr/>
        </p:nvSpPr>
        <p:spPr>
          <a:xfrm>
            <a:off x="3980654" y="2417664"/>
            <a:ext cx="623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*TP</a:t>
            </a:r>
            <a:r>
              <a:rPr kumimoji="1" lang="ko-KR" altLang="en-US" sz="1400" b="1" dirty="0"/>
              <a:t>의 배선 굵기는 </a:t>
            </a:r>
            <a:r>
              <a:rPr kumimoji="1" lang="en-US" altLang="ko-KR" sz="1400" b="1" dirty="0"/>
              <a:t>0.38mm(15 mils) ~ 0.64mm(25mils) </a:t>
            </a:r>
            <a:r>
              <a:rPr kumimoji="1" lang="ko-KR" altLang="en-US" sz="1400" b="1" dirty="0"/>
              <a:t>정도면 충분하다</a:t>
            </a:r>
            <a:r>
              <a:rPr kumimoji="1" lang="en-US" altLang="ko-KR" sz="1400" b="1" dirty="0"/>
              <a:t>.</a:t>
            </a:r>
            <a:endParaRPr kumimoji="1"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909677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E882E-EB06-ED24-FBD7-0587CD163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B1843-61D7-B54D-97A0-D99A632E4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노이즈 대책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-6</a:t>
            </a:r>
            <a:r>
              <a:rPr lang="ko-KR" altLang="en-US" sz="2800" dirty="0"/>
              <a:t> </a:t>
            </a:r>
            <a:r>
              <a:rPr lang="en-US" altLang="ko-KR" sz="2800" dirty="0"/>
              <a:t>Clock</a:t>
            </a:r>
            <a:r>
              <a:rPr lang="ko-KR" altLang="en-US" sz="2800" dirty="0"/>
              <a:t> 라인 배선 방법 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9274582-8BF5-0198-33C3-927744DB0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742" y="3578412"/>
            <a:ext cx="3886200" cy="122695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728C06C-0408-6D06-800B-0C7701B01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15" y="3314919"/>
            <a:ext cx="5107317" cy="17539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93CC18-1AEB-21C1-8E2E-57A8F31E6459}"/>
              </a:ext>
            </a:extLst>
          </p:cNvPr>
          <p:cNvSpPr txBox="1"/>
          <p:nvPr/>
        </p:nvSpPr>
        <p:spPr>
          <a:xfrm>
            <a:off x="2261318" y="5389510"/>
            <a:ext cx="1915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b="1" dirty="0"/>
              <a:t>가장 </a:t>
            </a:r>
            <a:r>
              <a:rPr kumimoji="1" lang="ko-KR" altLang="en-US" b="1" dirty="0" err="1"/>
              <a:t>안좋은</a:t>
            </a:r>
            <a:r>
              <a:rPr kumimoji="1" lang="ko-KR" altLang="en-US" b="1" dirty="0"/>
              <a:t> 예시</a:t>
            </a:r>
            <a:br>
              <a:rPr kumimoji="1" lang="en-US" altLang="ko-KR" b="1" dirty="0"/>
            </a:br>
            <a:r>
              <a:rPr kumimoji="1" lang="en-US" altLang="ko-KR" b="1" dirty="0"/>
              <a:t>not good</a:t>
            </a:r>
            <a:endParaRPr kumimoji="1"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349DC2-2643-B31B-0A85-1F1A6C01F4A3}"/>
              </a:ext>
            </a:extLst>
          </p:cNvPr>
          <p:cNvSpPr txBox="1"/>
          <p:nvPr/>
        </p:nvSpPr>
        <p:spPr>
          <a:xfrm>
            <a:off x="8178989" y="5389510"/>
            <a:ext cx="1165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b="1" dirty="0"/>
              <a:t>좋은 예시</a:t>
            </a:r>
            <a:br>
              <a:rPr kumimoji="1" lang="en-US" altLang="ko-KR" b="1" dirty="0"/>
            </a:br>
            <a:r>
              <a:rPr kumimoji="1" lang="en-US" altLang="ko-KR" b="1" dirty="0"/>
              <a:t>good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81652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64584-F4C2-7A52-F85F-4D67ABBB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A8E643-98C4-6597-9C7D-C508B4DF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노이즈 대책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-6</a:t>
            </a:r>
            <a:r>
              <a:rPr lang="ko-KR" altLang="en-US" sz="2800" dirty="0"/>
              <a:t> </a:t>
            </a:r>
            <a:r>
              <a:rPr lang="en-US" altLang="ko-KR" sz="2800" dirty="0"/>
              <a:t>Clock</a:t>
            </a:r>
            <a:r>
              <a:rPr lang="ko-KR" altLang="en-US" sz="2800" dirty="0"/>
              <a:t> 라인 배선 방법 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D82D82-C421-5FE1-3E43-6A38435FB9CE}"/>
              </a:ext>
            </a:extLst>
          </p:cNvPr>
          <p:cNvSpPr txBox="1"/>
          <p:nvPr/>
        </p:nvSpPr>
        <p:spPr>
          <a:xfrm>
            <a:off x="5253461" y="6020326"/>
            <a:ext cx="16850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b="1" dirty="0"/>
              <a:t>아주 좋은 예시</a:t>
            </a:r>
            <a:br>
              <a:rPr kumimoji="1" lang="en-US" altLang="ko-KR" b="1" dirty="0"/>
            </a:br>
            <a:r>
              <a:rPr kumimoji="1" lang="en-US" altLang="ko-KR" b="1" dirty="0"/>
              <a:t>very good</a:t>
            </a:r>
            <a:endParaRPr kumimoji="1"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FBAD24-A567-BA76-5C16-113751AFE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976" y="2609830"/>
            <a:ext cx="7772400" cy="317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17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DA02B-7B60-CA21-B029-DDFB55A56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174D6-8BD5-4C11-F7E1-589534F44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  <a:latin typeface="+mn-lt"/>
              </a:rPr>
              <a:t>노이즈</a:t>
            </a:r>
            <a:r>
              <a:rPr lang="ko-KR" altLang="en-US" dirty="0">
                <a:solidFill>
                  <a:srgbClr val="FFFFFF"/>
                </a:solidFill>
              </a:rPr>
              <a:t> 대책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-6</a:t>
            </a:r>
            <a:r>
              <a:rPr lang="ko-KR" altLang="en-US" sz="2800" dirty="0"/>
              <a:t> </a:t>
            </a:r>
            <a:r>
              <a:rPr lang="en-US" altLang="ko-KR" sz="2800" dirty="0"/>
              <a:t>Clock</a:t>
            </a:r>
            <a:r>
              <a:rPr lang="ko-KR" altLang="en-US" sz="2800" dirty="0"/>
              <a:t> 라인 배선 방법 </a:t>
            </a:r>
            <a:r>
              <a:rPr lang="en-US" altLang="ko-KR" sz="2800" dirty="0"/>
              <a:t>#3</a:t>
            </a:r>
            <a:endParaRPr lang="ko-KR" altLang="en-US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8FD731-F91B-9D54-F60B-54FE8AD5205E}"/>
              </a:ext>
            </a:extLst>
          </p:cNvPr>
          <p:cNvSpPr txBox="1"/>
          <p:nvPr/>
        </p:nvSpPr>
        <p:spPr>
          <a:xfrm>
            <a:off x="5513147" y="6120943"/>
            <a:ext cx="1165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b="1" dirty="0"/>
              <a:t>나쁜 예시</a:t>
            </a:r>
            <a:br>
              <a:rPr kumimoji="1" lang="en-US" altLang="ko-KR" b="1" dirty="0"/>
            </a:br>
            <a:r>
              <a:rPr kumimoji="1" lang="en-US" altLang="ko-KR" b="1" dirty="0"/>
              <a:t>poor</a:t>
            </a:r>
            <a:endParaRPr kumimoji="1"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1ACFBD-91B1-61E7-423F-342F540F1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261" y="2593121"/>
            <a:ext cx="6855477" cy="34624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A5E543-B522-8CEC-B0B9-833CDD341F58}"/>
              </a:ext>
            </a:extLst>
          </p:cNvPr>
          <p:cNvSpPr txBox="1"/>
          <p:nvPr/>
        </p:nvSpPr>
        <p:spPr>
          <a:xfrm>
            <a:off x="5805531" y="2285344"/>
            <a:ext cx="3858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*</a:t>
            </a:r>
            <a:r>
              <a:rPr kumimoji="1" lang="ko-KR" altLang="en-US" sz="1400" b="1" dirty="0"/>
              <a:t>소자 아래로 패턴이나</a:t>
            </a:r>
            <a:r>
              <a:rPr kumimoji="1" lang="en-US" altLang="ko-KR" sz="1400" b="1" dirty="0"/>
              <a:t> via</a:t>
            </a:r>
            <a:r>
              <a:rPr kumimoji="1" lang="ko-KR" altLang="en-US" sz="1400" b="1" dirty="0"/>
              <a:t>가 </a:t>
            </a:r>
            <a:r>
              <a:rPr kumimoji="1" lang="ko-KR" altLang="en-US" sz="1400" b="1" dirty="0" err="1"/>
              <a:t>배치되선</a:t>
            </a:r>
            <a:r>
              <a:rPr kumimoji="1" lang="ko-KR" altLang="en-US" sz="1400" b="1" dirty="0"/>
              <a:t> 안된다</a:t>
            </a:r>
            <a:r>
              <a:rPr kumimoji="1" lang="en-US" altLang="ko-KR" sz="1400" b="1" dirty="0"/>
              <a:t>.</a:t>
            </a:r>
            <a:endParaRPr kumimoji="1"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69480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9EF36-3BA2-5780-8BE1-97327A052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D7A07-ED5F-CF7A-6CBB-9765624D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solidFill>
                  <a:srgbClr val="FFFFFF"/>
                </a:solidFill>
                <a:latin typeface="+mn-lt"/>
              </a:rPr>
              <a:t>서지</a:t>
            </a:r>
            <a:r>
              <a:rPr lang="ko-KR" altLang="en-US" dirty="0">
                <a:solidFill>
                  <a:srgbClr val="FFFFFF"/>
                </a:solidFill>
              </a:rPr>
              <a:t> 대책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-1</a:t>
            </a:r>
            <a:r>
              <a:rPr lang="ko-KR" altLang="en-US" sz="2800" dirty="0"/>
              <a:t> 서지 대책이 필요한 이유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62F9A1-F6DA-8352-B6DE-0D1F7FDF6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24" y="2860443"/>
            <a:ext cx="6197600" cy="284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F0E47F-3AB6-6ACA-FD28-C65F2FA7DFC7}"/>
              </a:ext>
            </a:extLst>
          </p:cNvPr>
          <p:cNvSpPr txBox="1"/>
          <p:nvPr/>
        </p:nvSpPr>
        <p:spPr>
          <a:xfrm>
            <a:off x="1237939" y="6025350"/>
            <a:ext cx="9716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외부 커넥터와 </a:t>
            </a:r>
            <a:r>
              <a:rPr kumimoji="1" lang="en-US" altLang="ko-KR" dirty="0"/>
              <a:t>MCU</a:t>
            </a:r>
            <a:r>
              <a:rPr kumimoji="1" lang="ko-KR" altLang="en-US" dirty="0"/>
              <a:t> 포트가 직결되어 있다면 정전기로 인해 </a:t>
            </a:r>
            <a:r>
              <a:rPr kumimoji="1" lang="en-US" altLang="ko-KR" dirty="0"/>
              <a:t>I/O</a:t>
            </a:r>
            <a:r>
              <a:rPr kumimoji="1" lang="ko-KR" altLang="en-US" dirty="0"/>
              <a:t>가 손상 될 수 있어 대책이 필요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4D09C1A-683F-543A-E419-08BC2444D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324" y="2860443"/>
            <a:ext cx="5207221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5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D5E21-6CBF-56A3-CB3A-119EC780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F4784-67F8-E87C-BFB1-1B2D79D02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solidFill>
                  <a:srgbClr val="FFFFFF"/>
                </a:solidFill>
                <a:latin typeface="+mn-lt"/>
              </a:rPr>
              <a:t>서지</a:t>
            </a:r>
            <a:r>
              <a:rPr lang="ko-KR" altLang="en-US" dirty="0">
                <a:solidFill>
                  <a:srgbClr val="FFFFFF"/>
                </a:solidFill>
              </a:rPr>
              <a:t> 대책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-2</a:t>
            </a:r>
            <a:r>
              <a:rPr lang="ko-KR" altLang="en-US" sz="2800" dirty="0"/>
              <a:t> 올바른 </a:t>
            </a:r>
            <a:r>
              <a:rPr lang="en-US" altLang="ko-KR" sz="2800" dirty="0"/>
              <a:t>TVS Diode </a:t>
            </a:r>
            <a:r>
              <a:rPr lang="ko-KR" altLang="en-US" sz="2800" dirty="0"/>
              <a:t>배치 및 배선 방법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047474-3415-6D8A-F8F3-C7762EDA2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11" y="2785590"/>
            <a:ext cx="4661111" cy="30702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C1ADC59-A051-1F14-EE71-DACD909D7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222" y="2785590"/>
            <a:ext cx="4606525" cy="30682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B6729B-2DAD-C557-ADEC-3759B36F9B52}"/>
              </a:ext>
            </a:extLst>
          </p:cNvPr>
          <p:cNvSpPr txBox="1"/>
          <p:nvPr/>
        </p:nvSpPr>
        <p:spPr>
          <a:xfrm>
            <a:off x="1748848" y="6169054"/>
            <a:ext cx="8694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서지 보호를 위한 </a:t>
            </a:r>
            <a:r>
              <a:rPr kumimoji="1" lang="en-US" altLang="ko-KR" dirty="0"/>
              <a:t>TVS</a:t>
            </a:r>
            <a:r>
              <a:rPr kumimoji="1" lang="ko-KR" altLang="en-US" dirty="0"/>
              <a:t> </a:t>
            </a:r>
            <a:r>
              <a:rPr kumimoji="1" lang="en-US" altLang="ko-KR" dirty="0"/>
              <a:t>Diode</a:t>
            </a:r>
            <a:r>
              <a:rPr kumimoji="1" lang="ko-KR" altLang="en-US" dirty="0"/>
              <a:t>는 커넥터</a:t>
            </a:r>
            <a:r>
              <a:rPr kumimoji="1" lang="en-US" altLang="ko-KR" dirty="0"/>
              <a:t>(</a:t>
            </a:r>
            <a:r>
              <a:rPr kumimoji="1" lang="ko-KR" altLang="en-US" dirty="0"/>
              <a:t>서지 발생원</a:t>
            </a:r>
            <a:r>
              <a:rPr kumimoji="1" lang="en-US" altLang="ko-KR" dirty="0"/>
              <a:t>)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가깝게 위치해야 효과가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8721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FCCD5-8842-3046-3AA9-F3A76EA0E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4AA6E-7154-640D-A1C3-E2B9D730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solidFill>
                  <a:srgbClr val="FFFFFF"/>
                </a:solidFill>
                <a:latin typeface="+mn-lt"/>
              </a:rPr>
              <a:t>서지</a:t>
            </a:r>
            <a:r>
              <a:rPr lang="ko-KR" altLang="en-US" dirty="0">
                <a:solidFill>
                  <a:srgbClr val="FFFFFF"/>
                </a:solidFill>
              </a:rPr>
              <a:t> 대책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-2</a:t>
            </a:r>
            <a:r>
              <a:rPr lang="ko-KR" altLang="en-US" sz="2800" dirty="0"/>
              <a:t> 올바른 </a:t>
            </a:r>
            <a:r>
              <a:rPr lang="en-US" altLang="ko-KR" sz="2800" dirty="0"/>
              <a:t>TVS Diode </a:t>
            </a:r>
            <a:r>
              <a:rPr lang="ko-KR" altLang="en-US" sz="2800" dirty="0"/>
              <a:t>배치 및 배선 방법</a:t>
            </a:r>
            <a:endParaRPr lang="ko-KR" altLang="en-US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534180-DCC2-05C8-A417-551EAFE21449}"/>
              </a:ext>
            </a:extLst>
          </p:cNvPr>
          <p:cNvSpPr txBox="1"/>
          <p:nvPr/>
        </p:nvSpPr>
        <p:spPr>
          <a:xfrm>
            <a:off x="1536097" y="6029775"/>
            <a:ext cx="911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그 이유는 기생 인덕턴스 성분을 낮춰 더 많은 </a:t>
            </a:r>
            <a:r>
              <a:rPr kumimoji="1" lang="en-US" altLang="ko-KR" dirty="0"/>
              <a:t>ESD</a:t>
            </a:r>
            <a:r>
              <a:rPr kumimoji="1" lang="ko-KR" altLang="en-US" dirty="0"/>
              <a:t> 전류를 </a:t>
            </a:r>
            <a:r>
              <a:rPr kumimoji="1" lang="en-US" altLang="ko-KR" dirty="0"/>
              <a:t>GND</a:t>
            </a:r>
            <a:r>
              <a:rPr kumimoji="1" lang="ko-KR" altLang="en-US" dirty="0"/>
              <a:t>로 흘릴 수 있기 때문이다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FFE5160-FB23-F341-5ACB-6E7DFD24D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3033226"/>
            <a:ext cx="7772400" cy="251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489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A69B4-F8E1-DFE1-D9B3-6957EBAF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2EFC3-F63E-A4F6-D1A6-5F9FC28C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via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</a:t>
            </a:r>
            <a:r>
              <a:rPr lang="ko-KR" altLang="en-US" sz="2800" dirty="0"/>
              <a:t> </a:t>
            </a:r>
            <a:r>
              <a:rPr lang="en-US" altLang="ko-KR" sz="2800" dirty="0"/>
              <a:t>GND</a:t>
            </a:r>
            <a:r>
              <a:rPr lang="ko-KR" altLang="en-US" sz="2800" dirty="0"/>
              <a:t> 리턴 경로를 고려한 </a:t>
            </a:r>
            <a:r>
              <a:rPr lang="en-US" altLang="ko-KR" sz="2800" dirty="0"/>
              <a:t>via</a:t>
            </a:r>
            <a:r>
              <a:rPr lang="ko-KR" altLang="en-US" sz="2800" dirty="0"/>
              <a:t> 배치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F979662-627E-74E0-2F92-3B48BFDFF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055" y="2492253"/>
            <a:ext cx="9443890" cy="35821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A43118-2F63-35BF-6AD0-AB5EB7017981}"/>
              </a:ext>
            </a:extLst>
          </p:cNvPr>
          <p:cNvSpPr txBox="1"/>
          <p:nvPr/>
        </p:nvSpPr>
        <p:spPr>
          <a:xfrm>
            <a:off x="4202020" y="6265820"/>
            <a:ext cx="3787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GND Return path</a:t>
            </a:r>
            <a:r>
              <a:rPr kumimoji="1" lang="ko-KR" altLang="en-US" dirty="0"/>
              <a:t>는 짧을 수록 좋다</a:t>
            </a:r>
          </a:p>
        </p:txBody>
      </p:sp>
    </p:spTree>
    <p:extLst>
      <p:ext uri="{BB962C8B-B14F-4D97-AF65-F5344CB8AC3E}">
        <p14:creationId xmlns:p14="http://schemas.microsoft.com/office/powerpoint/2010/main" val="1220540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C7CB7-722B-398E-827C-04C7EC17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D5F9E-DFE7-C6D0-DA9D-1ECB919F5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via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-2</a:t>
            </a:r>
            <a:r>
              <a:rPr lang="ko-KR" altLang="en-US" sz="2800" dirty="0"/>
              <a:t> </a:t>
            </a:r>
            <a:r>
              <a:rPr lang="en-US" altLang="ko-KR" sz="2800" dirty="0"/>
              <a:t>Thermal via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3279A-FD42-7068-77C3-A8528B3BE08A}"/>
              </a:ext>
            </a:extLst>
          </p:cNvPr>
          <p:cNvSpPr txBox="1"/>
          <p:nvPr/>
        </p:nvSpPr>
        <p:spPr>
          <a:xfrm>
            <a:off x="1015122" y="6231494"/>
            <a:ext cx="10221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</a:t>
            </a:r>
            <a:r>
              <a:rPr kumimoji="1" lang="en-US" altLang="ko-KR" dirty="0"/>
              <a:t>PMIC</a:t>
            </a:r>
            <a:r>
              <a:rPr kumimoji="1" lang="ko-KR" altLang="en-US" dirty="0"/>
              <a:t>나 모터 드라이버 같이 발열이 있는 소자의 경우 소자 아래 방열용 </a:t>
            </a:r>
            <a:r>
              <a:rPr kumimoji="1" lang="en-US" altLang="ko-KR" dirty="0"/>
              <a:t>via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배치하는게</a:t>
            </a:r>
            <a:r>
              <a:rPr kumimoji="1" lang="ko-KR" altLang="en-US" dirty="0"/>
              <a:t> 좋다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A7B1BA-465C-24FD-3459-8BC6AFC31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2570699"/>
            <a:ext cx="66675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51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67043-F1FA-8439-595A-01B80F9A6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F24C8-E5FB-7050-8ACC-F0A1C3661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via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-3</a:t>
            </a:r>
            <a:r>
              <a:rPr lang="ko-KR" altLang="en-US" sz="2800" dirty="0"/>
              <a:t> </a:t>
            </a:r>
            <a:r>
              <a:rPr lang="en-US" altLang="ko-KR" sz="2800" dirty="0"/>
              <a:t>Power plane</a:t>
            </a:r>
            <a:r>
              <a:rPr lang="ko-KR" altLang="en-US" sz="2800" dirty="0"/>
              <a:t>의 올바른 </a:t>
            </a:r>
            <a:r>
              <a:rPr lang="en-US" altLang="ko-KR" sz="2800" dirty="0"/>
              <a:t>via </a:t>
            </a:r>
            <a:r>
              <a:rPr lang="ko-KR" altLang="en-US" sz="2800" dirty="0"/>
              <a:t>배치</a:t>
            </a:r>
            <a:endParaRPr lang="ko-KR" alt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055DA82-71D0-F3A0-FD13-7941F587E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389" y="2633507"/>
            <a:ext cx="8569221" cy="367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13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A91E3-A378-2E2B-A7C8-D9D25F560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49F2-9615-9B4C-EBC3-38C7CFAA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GND</a:t>
            </a:r>
            <a:r>
              <a:rPr lang="ko-KR" altLang="en-US" dirty="0">
                <a:solidFill>
                  <a:srgbClr val="FFFFFF"/>
                </a:solidFill>
                <a:latin typeface="+mn-lt"/>
              </a:rPr>
              <a:t> 분리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-1</a:t>
            </a:r>
            <a:r>
              <a:rPr lang="ko-KR" altLang="en-US" sz="2800" dirty="0"/>
              <a:t> </a:t>
            </a:r>
            <a:r>
              <a:rPr lang="en-US" altLang="ko-KR" sz="2800" dirty="0"/>
              <a:t>AGND</a:t>
            </a:r>
            <a:r>
              <a:rPr lang="ko-KR" altLang="en-US" sz="2800" dirty="0"/>
              <a:t>와 </a:t>
            </a:r>
            <a:r>
              <a:rPr lang="en-US" altLang="ko-KR" sz="2800" dirty="0"/>
              <a:t>DGND</a:t>
            </a:r>
            <a:r>
              <a:rPr lang="ko-KR" altLang="en-US" sz="2800" dirty="0" err="1"/>
              <a:t>를</a:t>
            </a:r>
            <a:r>
              <a:rPr lang="ko-KR" altLang="en-US" sz="2800" dirty="0"/>
              <a:t> 분리해야 하는 이유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49AEDC-C843-A520-1FAC-193A57BE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59" y="2996653"/>
            <a:ext cx="5689600" cy="3238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84D895-D5D3-BE36-94EB-E2174C88514E}"/>
              </a:ext>
            </a:extLst>
          </p:cNvPr>
          <p:cNvSpPr txBox="1"/>
          <p:nvPr/>
        </p:nvSpPr>
        <p:spPr>
          <a:xfrm>
            <a:off x="6727804" y="3429000"/>
            <a:ext cx="5198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디지털 영역의 빠른 에지</a:t>
            </a:r>
            <a:r>
              <a:rPr kumimoji="1" lang="en-US" altLang="ko-KR" dirty="0"/>
              <a:t>(</a:t>
            </a:r>
            <a:r>
              <a:rPr kumimoji="1" lang="ko-KR" altLang="en-US" dirty="0"/>
              <a:t>클럭</a:t>
            </a:r>
            <a:r>
              <a:rPr kumimoji="1" lang="en-US" altLang="ko-KR" dirty="0"/>
              <a:t>/IO </a:t>
            </a:r>
            <a:r>
              <a:rPr kumimoji="1" lang="ko-KR" altLang="en-US" dirty="0" err="1"/>
              <a:t>스위칭</a:t>
            </a:r>
            <a:r>
              <a:rPr kumimoji="1" lang="en-US" altLang="ko-KR" dirty="0"/>
              <a:t>)</a:t>
            </a:r>
            <a:r>
              <a:rPr kumimoji="1" lang="ko-KR" altLang="en-US" dirty="0"/>
              <a:t>로</a:t>
            </a:r>
            <a:br>
              <a:rPr kumimoji="1" lang="en-US" altLang="ko-KR" dirty="0"/>
            </a:br>
            <a:r>
              <a:rPr kumimoji="1" lang="ko-KR" altLang="en-US" dirty="0"/>
              <a:t>생기는 고주파 성분이 </a:t>
            </a:r>
            <a:r>
              <a:rPr kumimoji="1" lang="en-US" altLang="ko-KR" dirty="0"/>
              <a:t>AGND</a:t>
            </a:r>
            <a:r>
              <a:rPr kumimoji="1" lang="ko-KR" altLang="en-US" dirty="0"/>
              <a:t> 영역에 영향을 준다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9863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B75CF-966E-7C26-30D5-D6E3ED0A7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C9AEA-64D3-1EDD-E755-2786282B0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GND</a:t>
            </a:r>
            <a:r>
              <a:rPr lang="ko-KR" altLang="en-US" dirty="0">
                <a:solidFill>
                  <a:srgbClr val="FFFFFF"/>
                </a:solidFill>
                <a:latin typeface="+mn-lt"/>
              </a:rPr>
              <a:t> 분리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-2</a:t>
            </a:r>
            <a:r>
              <a:rPr lang="ko-KR" altLang="en-US" sz="2800" dirty="0"/>
              <a:t> </a:t>
            </a:r>
            <a:r>
              <a:rPr lang="en-US" altLang="ko-KR" sz="2800" dirty="0"/>
              <a:t>AGND</a:t>
            </a:r>
            <a:r>
              <a:rPr lang="ko-KR" altLang="en-US" sz="2800" dirty="0"/>
              <a:t>와 </a:t>
            </a:r>
            <a:r>
              <a:rPr lang="en-US" altLang="ko-KR" sz="2800" dirty="0"/>
              <a:t>DGND</a:t>
            </a:r>
            <a:r>
              <a:rPr lang="ko-KR" altLang="en-US" sz="2800" dirty="0"/>
              <a:t> 분리방법 </a:t>
            </a:r>
            <a:r>
              <a:rPr lang="en-US" altLang="ko-KR" sz="2800" dirty="0"/>
              <a:t>#</a:t>
            </a:r>
            <a:r>
              <a:rPr lang="ko-KR" altLang="en-US" sz="2800" dirty="0"/>
              <a:t> </a:t>
            </a:r>
            <a:r>
              <a:rPr lang="en-US" altLang="ko-KR" sz="2800" dirty="0"/>
              <a:t>Bead</a:t>
            </a:r>
            <a:endParaRPr lang="ko-KR" alt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777D24-976D-40FB-FB97-A3E4EBF8F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736" y="3170677"/>
            <a:ext cx="3175000" cy="250190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13A8E0D-1D03-6DA4-6651-5044C591C45C}"/>
              </a:ext>
            </a:extLst>
          </p:cNvPr>
          <p:cNvGrpSpPr/>
          <p:nvPr/>
        </p:nvGrpSpPr>
        <p:grpSpPr>
          <a:xfrm>
            <a:off x="6461357" y="2350380"/>
            <a:ext cx="3802810" cy="4142495"/>
            <a:chOff x="5940572" y="2350380"/>
            <a:chExt cx="3802810" cy="414249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51EC162-755B-1D6E-0898-F6FCCC29D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0572" y="2350380"/>
              <a:ext cx="3802810" cy="4142495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A7B77C3-A38F-8E15-CEFE-0F29C2154FB5}"/>
                </a:ext>
              </a:extLst>
            </p:cNvPr>
            <p:cNvSpPr/>
            <p:nvPr/>
          </p:nvSpPr>
          <p:spPr>
            <a:xfrm>
              <a:off x="7737893" y="4931509"/>
              <a:ext cx="594653" cy="394772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177E5B4-5DDC-9E89-AC7C-79517D594CD3}"/>
              </a:ext>
            </a:extLst>
          </p:cNvPr>
          <p:cNvSpPr txBox="1"/>
          <p:nvPr/>
        </p:nvSpPr>
        <p:spPr>
          <a:xfrm>
            <a:off x="239782" y="6001129"/>
            <a:ext cx="549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Bead</a:t>
            </a:r>
            <a:r>
              <a:rPr kumimoji="1" lang="ko-KR" altLang="en-US" dirty="0"/>
              <a:t>는 주로 성격이 다른 </a:t>
            </a:r>
            <a:r>
              <a:rPr kumimoji="1" lang="en-US" altLang="ko-KR" dirty="0" err="1"/>
              <a:t>gnd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연결할때</a:t>
            </a:r>
            <a:r>
              <a:rPr kumimoji="1" lang="ko-KR" altLang="en-US" dirty="0"/>
              <a:t> 사용된다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7791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F5058-5E37-E6F4-DFDC-5AB4B91E7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4C87D-71A8-4DB9-D5BC-2F95A8DF7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GND</a:t>
            </a:r>
            <a:r>
              <a:rPr lang="ko-KR" altLang="en-US" dirty="0">
                <a:solidFill>
                  <a:srgbClr val="FFFFFF"/>
                </a:solidFill>
                <a:latin typeface="+mn-lt"/>
              </a:rPr>
              <a:t> 분리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-3</a:t>
            </a:r>
            <a:r>
              <a:rPr lang="ko-KR" altLang="en-US" sz="2800" dirty="0"/>
              <a:t> </a:t>
            </a:r>
            <a:r>
              <a:rPr lang="en-US" altLang="ko-KR" sz="2800" dirty="0"/>
              <a:t>AGND</a:t>
            </a:r>
            <a:r>
              <a:rPr lang="ko-KR" altLang="en-US" sz="2800" dirty="0"/>
              <a:t>와 </a:t>
            </a:r>
            <a:r>
              <a:rPr lang="en-US" altLang="ko-KR" sz="2800" dirty="0"/>
              <a:t>DGND</a:t>
            </a:r>
            <a:r>
              <a:rPr lang="ko-KR" altLang="en-US" sz="2800" dirty="0"/>
              <a:t> 분리방법 </a:t>
            </a:r>
            <a:r>
              <a:rPr lang="en-US" altLang="ko-KR" sz="2800" dirty="0"/>
              <a:t>#</a:t>
            </a:r>
            <a:r>
              <a:rPr lang="ko-KR" altLang="en-US" sz="2800" dirty="0"/>
              <a:t> </a:t>
            </a:r>
            <a:r>
              <a:rPr lang="en-US" altLang="ko-KR" sz="2800" dirty="0"/>
              <a:t>Isolator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74DA71-E1DC-B1EA-B610-B7EC6EE08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3429000"/>
            <a:ext cx="4292600" cy="22225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A3721E4-5E95-6303-65E6-550D4058F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885" y="2772958"/>
            <a:ext cx="5594915" cy="357402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A803790-9059-145C-DDDC-F5D786D2C091}"/>
              </a:ext>
            </a:extLst>
          </p:cNvPr>
          <p:cNvSpPr/>
          <p:nvPr/>
        </p:nvSpPr>
        <p:spPr>
          <a:xfrm>
            <a:off x="8464570" y="4362586"/>
            <a:ext cx="643096" cy="190499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DFDF1-C681-A1BB-02E4-289BA88065C6}"/>
              </a:ext>
            </a:extLst>
          </p:cNvPr>
          <p:cNvSpPr txBox="1"/>
          <p:nvPr/>
        </p:nvSpPr>
        <p:spPr>
          <a:xfrm>
            <a:off x="89037" y="5977655"/>
            <a:ext cx="5178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Isolator</a:t>
            </a:r>
            <a:r>
              <a:rPr kumimoji="1" lang="ko-KR" altLang="en-US" dirty="0"/>
              <a:t>을 사용하면 전기적으로 완전히 분리된다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5710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23C0-1DE5-BF62-7C9D-46A14DB6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DB876-E314-3EC8-A4B2-387E00708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STM32</a:t>
            </a:r>
            <a:r>
              <a:rPr lang="ko-KR" altLang="en-US" dirty="0">
                <a:solidFill>
                  <a:srgbClr val="FFFFFF"/>
                </a:solidFill>
                <a:latin typeface="+mn-lt"/>
              </a:rPr>
              <a:t> 커스텀 보드 설계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</a:t>
            </a:r>
            <a:r>
              <a:rPr lang="en-US" altLang="ko-KR" sz="2800" dirty="0"/>
              <a:t>-1</a:t>
            </a:r>
            <a:r>
              <a:rPr lang="ko-KR" altLang="en-US" sz="2800" dirty="0"/>
              <a:t> </a:t>
            </a:r>
            <a:r>
              <a:rPr lang="en-US" altLang="ko-KR" sz="2800" dirty="0"/>
              <a:t>STM32</a:t>
            </a:r>
            <a:r>
              <a:rPr lang="ko-KR" altLang="en-US" sz="2800" dirty="0"/>
              <a:t> </a:t>
            </a:r>
            <a:r>
              <a:rPr lang="ko-KR" altLang="en-US" sz="2800" dirty="0" err="1"/>
              <a:t>전원부</a:t>
            </a:r>
            <a:r>
              <a:rPr lang="ko-KR" altLang="en-US" sz="2800" dirty="0"/>
              <a:t> 설계 </a:t>
            </a:r>
            <a:r>
              <a:rPr lang="en-US" altLang="ko-KR" sz="2800" dirty="0"/>
              <a:t># VBAT</a:t>
            </a:r>
            <a:endParaRPr lang="ko-KR" altLang="en-US" dirty="0">
              <a:latin typeface="+mn-lt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238FEB6-9A92-587A-381B-FA9C0BF8A8BC}"/>
              </a:ext>
            </a:extLst>
          </p:cNvPr>
          <p:cNvGrpSpPr/>
          <p:nvPr/>
        </p:nvGrpSpPr>
        <p:grpSpPr>
          <a:xfrm>
            <a:off x="669041" y="2541032"/>
            <a:ext cx="4818200" cy="4036622"/>
            <a:chOff x="729597" y="2456253"/>
            <a:chExt cx="4818200" cy="403662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1A91A4F-7953-DC91-EBBF-90D31E0CA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9597" y="2456253"/>
              <a:ext cx="4818200" cy="403662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DD9B6F2-95AE-CC8A-506F-71208BAEFFCF}"/>
                </a:ext>
              </a:extLst>
            </p:cNvPr>
            <p:cNvSpPr/>
            <p:nvPr/>
          </p:nvSpPr>
          <p:spPr>
            <a:xfrm>
              <a:off x="1670153" y="2685177"/>
              <a:ext cx="2938181" cy="790754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680207E-8FE4-C66D-DAAB-A40DA99EEC53}"/>
              </a:ext>
            </a:extLst>
          </p:cNvPr>
          <p:cNvSpPr txBox="1"/>
          <p:nvPr/>
        </p:nvSpPr>
        <p:spPr>
          <a:xfrm>
            <a:off x="5570689" y="2769956"/>
            <a:ext cx="59522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VBAT</a:t>
            </a:r>
            <a:r>
              <a:rPr kumimoji="1" lang="ko-KR" altLang="en-US" dirty="0"/>
              <a:t>은 외부 배터리를 연결하는 전원 포트이다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 err="1"/>
              <a:t>주전원</a:t>
            </a:r>
            <a:r>
              <a:rPr kumimoji="1" lang="en-US" altLang="ko-KR" dirty="0"/>
              <a:t>(VDD)</a:t>
            </a:r>
            <a:r>
              <a:rPr kumimoji="1" lang="ko-KR" altLang="en-US" dirty="0"/>
              <a:t>이 공급되지 않을 경우 제한적인 범위 내에서</a:t>
            </a:r>
            <a:endParaRPr kumimoji="1" lang="en-US" altLang="ko-KR" dirty="0"/>
          </a:p>
          <a:p>
            <a:r>
              <a:rPr kumimoji="1" lang="ko-KR" altLang="en-US" dirty="0"/>
              <a:t>전원을 공급하여 동작 시킬 수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4070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F51A1-A040-F08B-C92F-FD30FFBEC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55416-87FA-71EB-F827-D4A77C908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STM32</a:t>
            </a:r>
            <a:r>
              <a:rPr lang="ko-KR" altLang="en-US" dirty="0">
                <a:solidFill>
                  <a:srgbClr val="FFFFFF"/>
                </a:solidFill>
                <a:latin typeface="+mn-lt"/>
              </a:rPr>
              <a:t> 커스텀 보드 설계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</a:t>
            </a:r>
            <a:r>
              <a:rPr lang="en-US" altLang="ko-KR" sz="2800" dirty="0"/>
              <a:t>-2</a:t>
            </a:r>
            <a:r>
              <a:rPr lang="ko-KR" altLang="en-US" sz="2800" dirty="0"/>
              <a:t> </a:t>
            </a:r>
            <a:r>
              <a:rPr lang="en-US" altLang="ko-KR" sz="2800" dirty="0"/>
              <a:t>STM32</a:t>
            </a:r>
            <a:r>
              <a:rPr lang="ko-KR" altLang="en-US" sz="2800" dirty="0"/>
              <a:t> </a:t>
            </a:r>
            <a:r>
              <a:rPr lang="ko-KR" altLang="en-US" sz="2800" dirty="0" err="1"/>
              <a:t>전원부</a:t>
            </a:r>
            <a:r>
              <a:rPr lang="ko-KR" altLang="en-US" sz="2800" dirty="0"/>
              <a:t> 설계 </a:t>
            </a:r>
            <a:r>
              <a:rPr lang="en-US" altLang="ko-KR" sz="2800" dirty="0"/>
              <a:t># VDD/VSS</a:t>
            </a:r>
            <a:endParaRPr lang="ko-KR" altLang="en-US" dirty="0">
              <a:latin typeface="+mn-lt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1A98D34-B7FF-242A-D4D1-ADEC3B73B5BD}"/>
              </a:ext>
            </a:extLst>
          </p:cNvPr>
          <p:cNvGrpSpPr/>
          <p:nvPr/>
        </p:nvGrpSpPr>
        <p:grpSpPr>
          <a:xfrm>
            <a:off x="669041" y="2541032"/>
            <a:ext cx="4818200" cy="4036622"/>
            <a:chOff x="729597" y="2456253"/>
            <a:chExt cx="4818200" cy="403662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49AEEBC-BA98-4FC7-7BD2-A83A7F8F7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9597" y="2456253"/>
              <a:ext cx="4818200" cy="403662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9F44E33-DD9E-6BDC-6962-8B0F98D6E3D0}"/>
                </a:ext>
              </a:extLst>
            </p:cNvPr>
            <p:cNvSpPr/>
            <p:nvPr/>
          </p:nvSpPr>
          <p:spPr>
            <a:xfrm>
              <a:off x="967701" y="4079187"/>
              <a:ext cx="2720178" cy="868262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ABE2A78-07C5-A263-9036-FD1AFD7C5AC5}"/>
              </a:ext>
            </a:extLst>
          </p:cNvPr>
          <p:cNvSpPr txBox="1"/>
          <p:nvPr/>
        </p:nvSpPr>
        <p:spPr>
          <a:xfrm>
            <a:off x="5487241" y="2690336"/>
            <a:ext cx="67621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STM32</a:t>
            </a:r>
            <a:r>
              <a:rPr kumimoji="1" lang="ko-KR" altLang="en-US" dirty="0"/>
              <a:t>의 메인 전원 단자로 내부 </a:t>
            </a:r>
            <a:r>
              <a:rPr kumimoji="1" lang="en-US" altLang="ko-KR" dirty="0"/>
              <a:t>LDO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통해 </a:t>
            </a:r>
            <a:r>
              <a:rPr kumimoji="1" lang="en-US" altLang="ko-KR" dirty="0"/>
              <a:t>Kernel logic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br>
              <a:rPr kumimoji="1" lang="en-US" altLang="ko-KR" dirty="0"/>
            </a:br>
            <a:r>
              <a:rPr kumimoji="1" lang="ko-KR" altLang="en-US" dirty="0"/>
              <a:t>전원이 공급된다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데이터시트에서 각 핀마다 </a:t>
            </a:r>
            <a:r>
              <a:rPr kumimoji="1" lang="en-US" altLang="ko-KR" dirty="0"/>
              <a:t>104CAP</a:t>
            </a:r>
            <a:r>
              <a:rPr kumimoji="1" lang="ko-KR" altLang="en-US" dirty="0"/>
              <a:t> 장착을 요구하며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공통 버스에</a:t>
            </a:r>
            <a:br>
              <a:rPr kumimoji="1" lang="en-US" altLang="ko-KR" dirty="0"/>
            </a:br>
            <a:r>
              <a:rPr kumimoji="1" lang="en-US" altLang="ko-KR" dirty="0"/>
              <a:t>4.7uF</a:t>
            </a:r>
            <a:r>
              <a:rPr kumimoji="1" lang="ko-KR" altLang="en-US" dirty="0"/>
              <a:t> </a:t>
            </a:r>
            <a:r>
              <a:rPr kumimoji="1" lang="en-US" altLang="ko-KR" dirty="0"/>
              <a:t>CAP</a:t>
            </a:r>
            <a:r>
              <a:rPr kumimoji="1" lang="ko-KR" altLang="en-US" dirty="0"/>
              <a:t>도 장착을 권고한다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037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AFC57-F008-9193-C130-4A1CA6F0D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B67D0-5C4C-EA6B-A226-A47C6188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STM32</a:t>
            </a:r>
            <a:r>
              <a:rPr lang="ko-KR" altLang="en-US" dirty="0">
                <a:solidFill>
                  <a:srgbClr val="FFFFFF"/>
                </a:solidFill>
                <a:latin typeface="+mn-lt"/>
              </a:rPr>
              <a:t> 커스텀 보드 설계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</a:t>
            </a:r>
            <a:r>
              <a:rPr lang="en-US" altLang="ko-KR" sz="2800" dirty="0"/>
              <a:t>-3</a:t>
            </a:r>
            <a:r>
              <a:rPr lang="ko-KR" altLang="en-US" sz="2800" dirty="0"/>
              <a:t> </a:t>
            </a:r>
            <a:r>
              <a:rPr lang="en-US" altLang="ko-KR" sz="2800" dirty="0"/>
              <a:t>STM32</a:t>
            </a:r>
            <a:r>
              <a:rPr lang="ko-KR" altLang="en-US" sz="2800" dirty="0"/>
              <a:t> </a:t>
            </a:r>
            <a:r>
              <a:rPr lang="ko-KR" altLang="en-US" sz="2800" dirty="0" err="1"/>
              <a:t>전원부</a:t>
            </a:r>
            <a:r>
              <a:rPr lang="ko-KR" altLang="en-US" sz="2800" dirty="0"/>
              <a:t> 설계 </a:t>
            </a:r>
            <a:r>
              <a:rPr lang="en-US" altLang="ko-KR" sz="2800" dirty="0"/>
              <a:t># VCAP</a:t>
            </a:r>
            <a:endParaRPr lang="ko-KR" altLang="en-US" dirty="0">
              <a:latin typeface="+mn-lt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17620C3-D3A5-7B6B-7E65-1539281A2F1C}"/>
              </a:ext>
            </a:extLst>
          </p:cNvPr>
          <p:cNvGrpSpPr/>
          <p:nvPr/>
        </p:nvGrpSpPr>
        <p:grpSpPr>
          <a:xfrm>
            <a:off x="669041" y="2541032"/>
            <a:ext cx="4818200" cy="4036622"/>
            <a:chOff x="729597" y="2456253"/>
            <a:chExt cx="4818200" cy="403662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55298AE-5E50-76FE-20FC-E69FAE4B7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9597" y="2456253"/>
              <a:ext cx="4818200" cy="403662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E60A96D-5F29-C289-7992-1A6552524D8D}"/>
                </a:ext>
              </a:extLst>
            </p:cNvPr>
            <p:cNvSpPr/>
            <p:nvPr/>
          </p:nvSpPr>
          <p:spPr>
            <a:xfrm>
              <a:off x="2281773" y="3975758"/>
              <a:ext cx="1182047" cy="886912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9491025-E9D2-1372-141F-33D7F8891323}"/>
              </a:ext>
            </a:extLst>
          </p:cNvPr>
          <p:cNvSpPr txBox="1"/>
          <p:nvPr/>
        </p:nvSpPr>
        <p:spPr>
          <a:xfrm>
            <a:off x="5487241" y="2690336"/>
            <a:ext cx="67656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내부 </a:t>
            </a:r>
            <a:r>
              <a:rPr kumimoji="1" lang="en-US" altLang="ko-KR" dirty="0"/>
              <a:t>LDO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통해 </a:t>
            </a:r>
            <a:r>
              <a:rPr kumimoji="1" lang="en-US" altLang="ko-KR" dirty="0"/>
              <a:t>Kernel logic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공급할 전원을 생성하는데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이때</a:t>
            </a:r>
            <a:br>
              <a:rPr kumimoji="1" lang="en-US" altLang="ko-KR" dirty="0"/>
            </a:br>
            <a:r>
              <a:rPr kumimoji="1" lang="en-US" altLang="ko-KR" dirty="0"/>
              <a:t>LDO</a:t>
            </a:r>
            <a:r>
              <a:rPr kumimoji="1" lang="ko-KR" altLang="en-US" dirty="0"/>
              <a:t>출력에 연결된 단자로 주로 </a:t>
            </a:r>
            <a:r>
              <a:rPr kumimoji="1" lang="en-US" altLang="ko-KR" dirty="0"/>
              <a:t>2.2uF</a:t>
            </a:r>
            <a:r>
              <a:rPr kumimoji="1" lang="ko-KR" altLang="en-US" dirty="0"/>
              <a:t> 을 장착할 것을 요구한다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이때 연결되는 </a:t>
            </a:r>
            <a:r>
              <a:rPr kumimoji="1" lang="en-US" altLang="ko-KR" dirty="0"/>
              <a:t>CAP</a:t>
            </a:r>
            <a:r>
              <a:rPr kumimoji="1" lang="ko-KR" altLang="en-US" dirty="0"/>
              <a:t>은 꼭 </a:t>
            </a:r>
            <a:r>
              <a:rPr kumimoji="1" lang="en-US" altLang="ko-KR" dirty="0" err="1"/>
              <a:t>LowESR</a:t>
            </a:r>
            <a:r>
              <a:rPr kumimoji="1" lang="ko-KR" altLang="en-US" dirty="0"/>
              <a:t> </a:t>
            </a:r>
            <a:r>
              <a:rPr kumimoji="1" lang="en-US" altLang="ko-KR" dirty="0"/>
              <a:t>MLCC</a:t>
            </a:r>
            <a:r>
              <a:rPr kumimoji="1" lang="ko-KR" altLang="en-US" dirty="0"/>
              <a:t>여야 한다</a:t>
            </a:r>
            <a:r>
              <a:rPr kumimoji="1"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34852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1F3E4-DFC6-454A-02E7-7EE056049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C11CC-341A-8E95-B222-AF07E9EE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STM32</a:t>
            </a:r>
            <a:r>
              <a:rPr lang="ko-KR" altLang="en-US" dirty="0">
                <a:solidFill>
                  <a:srgbClr val="FFFFFF"/>
                </a:solidFill>
                <a:latin typeface="+mn-lt"/>
              </a:rPr>
              <a:t> 커스텀 보드 설계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</a:t>
            </a:r>
            <a:r>
              <a:rPr lang="en-US" altLang="ko-KR" sz="2800" dirty="0"/>
              <a:t>-4</a:t>
            </a:r>
            <a:r>
              <a:rPr lang="ko-KR" altLang="en-US" sz="2800" dirty="0"/>
              <a:t> </a:t>
            </a:r>
            <a:r>
              <a:rPr lang="en-US" altLang="ko-KR" sz="2800" dirty="0"/>
              <a:t>STM32</a:t>
            </a:r>
            <a:r>
              <a:rPr lang="ko-KR" altLang="en-US" sz="2800" dirty="0"/>
              <a:t> </a:t>
            </a:r>
            <a:r>
              <a:rPr lang="ko-KR" altLang="en-US" sz="2800" dirty="0" err="1"/>
              <a:t>전원부</a:t>
            </a:r>
            <a:r>
              <a:rPr lang="ko-KR" altLang="en-US" sz="2800" dirty="0"/>
              <a:t> 설계 </a:t>
            </a:r>
            <a:r>
              <a:rPr lang="en-US" altLang="ko-KR" sz="2800" dirty="0"/>
              <a:t># VDDA/VREF/VSSA</a:t>
            </a:r>
            <a:endParaRPr lang="ko-KR" altLang="en-US" dirty="0">
              <a:latin typeface="+mn-lt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E6C6375-33C2-EEE5-14B2-D7901A9DBED5}"/>
              </a:ext>
            </a:extLst>
          </p:cNvPr>
          <p:cNvGrpSpPr/>
          <p:nvPr/>
        </p:nvGrpSpPr>
        <p:grpSpPr>
          <a:xfrm>
            <a:off x="669041" y="2541032"/>
            <a:ext cx="4818200" cy="4036622"/>
            <a:chOff x="729597" y="2456253"/>
            <a:chExt cx="4818200" cy="403662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2B1CF12-92BF-EA5B-E6C8-0AA4BA07C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9597" y="2456253"/>
              <a:ext cx="4818200" cy="403662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AC61A86-E8F9-5A30-77B2-A84F4DA076F5}"/>
                </a:ext>
              </a:extLst>
            </p:cNvPr>
            <p:cNvSpPr/>
            <p:nvPr/>
          </p:nvSpPr>
          <p:spPr>
            <a:xfrm>
              <a:off x="1379484" y="5168716"/>
              <a:ext cx="2635398" cy="1092803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FF5A50F-D6F5-32B6-2CB6-69E5A39F0021}"/>
              </a:ext>
            </a:extLst>
          </p:cNvPr>
          <p:cNvSpPr txBox="1"/>
          <p:nvPr/>
        </p:nvSpPr>
        <p:spPr>
          <a:xfrm>
            <a:off x="5487241" y="2690336"/>
            <a:ext cx="68034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내부 아날로그 </a:t>
            </a:r>
            <a:r>
              <a:rPr kumimoji="1" lang="en-US" altLang="ko-KR" dirty="0"/>
              <a:t>logic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공급되는 전원이다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VDD</a:t>
            </a:r>
            <a:r>
              <a:rPr kumimoji="1" lang="ko-KR" altLang="en-US" dirty="0"/>
              <a:t>와 마찬가지로</a:t>
            </a:r>
            <a:endParaRPr kumimoji="1" lang="en-US" altLang="ko-KR" dirty="0"/>
          </a:p>
          <a:p>
            <a:r>
              <a:rPr kumimoji="1" lang="ko-KR" altLang="en-US" dirty="0"/>
              <a:t>핀마다 </a:t>
            </a:r>
            <a:r>
              <a:rPr kumimoji="1" lang="en-US" altLang="ko-KR" dirty="0"/>
              <a:t>104CAP</a:t>
            </a:r>
            <a:r>
              <a:rPr kumimoji="1" lang="ko-KR" altLang="en-US" dirty="0"/>
              <a:t>을 요구하며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공통버스에 </a:t>
            </a:r>
            <a:r>
              <a:rPr kumimoji="1" lang="en-US" altLang="ko-KR" dirty="0"/>
              <a:t>1uF</a:t>
            </a:r>
            <a:r>
              <a:rPr kumimoji="1" lang="ko-KR" altLang="en-US" dirty="0"/>
              <a:t> </a:t>
            </a:r>
            <a:r>
              <a:rPr kumimoji="1" lang="en-US" altLang="ko-KR" dirty="0"/>
              <a:t>CAP </a:t>
            </a:r>
            <a:r>
              <a:rPr kumimoji="1" lang="ko-KR" altLang="en-US" dirty="0"/>
              <a:t>연결을 권고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이때 </a:t>
            </a:r>
            <a:r>
              <a:rPr kumimoji="1" lang="en-US" altLang="ko-KR" dirty="0"/>
              <a:t>VSSA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VSS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Bead or 0ohm </a:t>
            </a:r>
            <a:r>
              <a:rPr kumimoji="1" lang="ko-KR" altLang="en-US" dirty="0"/>
              <a:t>저항을 통해 분리할 것을 권장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024470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BD5A7-5725-E796-B469-9E031450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679C71-AFFD-9086-B113-A4C795A9B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STM32</a:t>
            </a:r>
            <a:r>
              <a:rPr lang="ko-KR" altLang="en-US" dirty="0">
                <a:solidFill>
                  <a:srgbClr val="FFFFFF"/>
                </a:solidFill>
                <a:latin typeface="+mn-lt"/>
              </a:rPr>
              <a:t> 커스텀 보드 설계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</a:t>
            </a:r>
            <a:r>
              <a:rPr lang="en-US" altLang="ko-KR" sz="2800" dirty="0"/>
              <a:t>-5</a:t>
            </a:r>
            <a:r>
              <a:rPr lang="ko-KR" altLang="en-US" sz="2800" dirty="0"/>
              <a:t> </a:t>
            </a:r>
            <a:r>
              <a:rPr lang="en-US" altLang="ko-KR" sz="2800" dirty="0"/>
              <a:t>STM32</a:t>
            </a:r>
            <a:r>
              <a:rPr lang="ko-KR" altLang="en-US" sz="2800" dirty="0"/>
              <a:t> </a:t>
            </a:r>
            <a:r>
              <a:rPr lang="ko-KR" altLang="en-US" sz="2800" dirty="0" err="1"/>
              <a:t>전원부</a:t>
            </a:r>
            <a:r>
              <a:rPr lang="ko-KR" altLang="en-US" sz="2800" dirty="0"/>
              <a:t> 설계 </a:t>
            </a:r>
            <a:r>
              <a:rPr lang="en-US" altLang="ko-KR" sz="2800" dirty="0"/>
              <a:t># PDR_ON</a:t>
            </a:r>
            <a:endParaRPr lang="ko-KR" altLang="en-US" dirty="0">
              <a:latin typeface="+mn-lt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7C17EEF-1AA8-6850-209E-8A05154C08A0}"/>
              </a:ext>
            </a:extLst>
          </p:cNvPr>
          <p:cNvGrpSpPr/>
          <p:nvPr/>
        </p:nvGrpSpPr>
        <p:grpSpPr>
          <a:xfrm>
            <a:off x="669041" y="2541032"/>
            <a:ext cx="4818200" cy="4036622"/>
            <a:chOff x="729597" y="2456253"/>
            <a:chExt cx="4818200" cy="403662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00F8E14-3436-3889-1637-98F81CF8F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9597" y="2456253"/>
              <a:ext cx="4818200" cy="403662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5F3D1C8-FE89-D5D3-B1D4-0180170C3184}"/>
                </a:ext>
              </a:extLst>
            </p:cNvPr>
            <p:cNvSpPr/>
            <p:nvPr/>
          </p:nvSpPr>
          <p:spPr>
            <a:xfrm>
              <a:off x="2246638" y="4950714"/>
              <a:ext cx="1192959" cy="390352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3316649-137B-3BCE-E295-044472FC6FD2}"/>
              </a:ext>
            </a:extLst>
          </p:cNvPr>
          <p:cNvSpPr txBox="1"/>
          <p:nvPr/>
        </p:nvSpPr>
        <p:spPr>
          <a:xfrm>
            <a:off x="5487241" y="2690336"/>
            <a:ext cx="667894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PDR(Power Down Reset)</a:t>
            </a:r>
            <a:r>
              <a:rPr kumimoji="1" lang="ko-KR" altLang="en-US" dirty="0"/>
              <a:t>핀은 </a:t>
            </a:r>
            <a:r>
              <a:rPr kumimoji="1" lang="en-US" altLang="ko-KR" dirty="0"/>
              <a:t>VDD</a:t>
            </a:r>
            <a:r>
              <a:rPr kumimoji="1" lang="ko-KR" altLang="en-US" dirty="0"/>
              <a:t>로 공급되는 전압을 감시하여</a:t>
            </a:r>
            <a:br>
              <a:rPr kumimoji="1" lang="en-US" altLang="ko-KR" dirty="0"/>
            </a:br>
            <a:r>
              <a:rPr kumimoji="1" lang="ko-KR" altLang="en-US" dirty="0"/>
              <a:t>일정수준 이하로 떨어질 경우 자동으로 </a:t>
            </a:r>
            <a:r>
              <a:rPr kumimoji="1" lang="en-US" altLang="ko-KR" dirty="0"/>
              <a:t>Reset</a:t>
            </a:r>
            <a:r>
              <a:rPr kumimoji="1" lang="ko-KR" altLang="en-US" dirty="0"/>
              <a:t>되게 하는 기능을</a:t>
            </a:r>
            <a:br>
              <a:rPr kumimoji="1" lang="en-US" altLang="ko-KR" dirty="0"/>
            </a:br>
            <a:r>
              <a:rPr kumimoji="1" lang="ko-KR" altLang="en-US" dirty="0"/>
              <a:t>활성화 하는 핀이다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만약 </a:t>
            </a:r>
            <a:r>
              <a:rPr kumimoji="1" lang="en-US" altLang="ko-KR" dirty="0"/>
              <a:t>VDD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연결하면 해당 기능이 활성화 된다</a:t>
            </a:r>
            <a:r>
              <a:rPr kumimoji="1"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7943380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2494</TotalTime>
  <Words>866</Words>
  <Application>Microsoft Macintosh PowerPoint</Application>
  <PresentationFormat>와이드스크린</PresentationFormat>
  <Paragraphs>95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맑은 고딕</vt:lpstr>
      <vt:lpstr>Arial</vt:lpstr>
      <vt:lpstr>Avenir Next LT Pro</vt:lpstr>
      <vt:lpstr>Bahnschrift</vt:lpstr>
      <vt:lpstr>Cambria Math</vt:lpstr>
      <vt:lpstr>MatrixVTI</vt:lpstr>
      <vt:lpstr>Artwork 세미나 </vt:lpstr>
      <vt:lpstr>PowerPoint 프레젠테이션</vt:lpstr>
      <vt:lpstr>0. PCB 구조 0-1 다층 기판 설계 전략</vt:lpstr>
      <vt:lpstr>1. 노이즈 대책 1-1 IC전원부에 104(0.1uF) CAP을 배치하는 이유 #1</vt:lpstr>
      <vt:lpstr>1. 노이즈 대책 1-1 IC전원부에 104(0.1uF) CAP을 배치하는 이유 #2</vt:lpstr>
      <vt:lpstr>1. 노이즈 대책 1-1 IC전원부에 104(0.1uF) CAP을 배치하는 이유 #3</vt:lpstr>
      <vt:lpstr>1. 노이즈 대책 1-2 올바른 배치 방법</vt:lpstr>
      <vt:lpstr>1. 노이즈 대책 1-3 올바른 배선 방법</vt:lpstr>
      <vt:lpstr>1. 노이즈 대책 1-3 올바른 배선 방법</vt:lpstr>
      <vt:lpstr>1. 노이즈 대책 1-4 전원 회로의 배치 방법</vt:lpstr>
      <vt:lpstr>1. 노이즈 대책 1-5 TP 배치 방법</vt:lpstr>
      <vt:lpstr>1. 노이즈 대책 1-6 Clock 라인 배선 방법 #1</vt:lpstr>
      <vt:lpstr>1. 노이즈 대책 1-6 Clock 라인 배선 방법 #2</vt:lpstr>
      <vt:lpstr>1. 노이즈 대책 1-6 Clock 라인 배선 방법 #3</vt:lpstr>
      <vt:lpstr>2. 서지 대책 2-1 서지 대책이 필요한 이유</vt:lpstr>
      <vt:lpstr>2. 서지 대책 2-2 올바른 TVS Diode 배치 및 배선 방법</vt:lpstr>
      <vt:lpstr>2. 서지 대책 2-2 올바른 TVS Diode 배치 및 배선 방법</vt:lpstr>
      <vt:lpstr>3. via 3-1 GND 리턴 경로를 고려한 via 배치</vt:lpstr>
      <vt:lpstr>3. via 3-2 Thermal via</vt:lpstr>
      <vt:lpstr>3. via 3-3 Power plane의 올바른 via 배치</vt:lpstr>
      <vt:lpstr>4. GND 분리 4-1 AGND와 DGND를 분리해야 하는 이유</vt:lpstr>
      <vt:lpstr>4. GND 분리 4-2 AGND와 DGND 분리방법 # Bead</vt:lpstr>
      <vt:lpstr>4. GND 분리 4-3 AGND와 DGND 분리방법 # Isolator</vt:lpstr>
      <vt:lpstr>5. STM32 커스텀 보드 설계 5-1 STM32 전원부 설계 # VBAT</vt:lpstr>
      <vt:lpstr>5. STM32 커스텀 보드 설계 5-2 STM32 전원부 설계 # VDD/VSS</vt:lpstr>
      <vt:lpstr>5. STM32 커스텀 보드 설계 5-3 STM32 전원부 설계 # VCAP</vt:lpstr>
      <vt:lpstr>5. STM32 커스텀 보드 설계 5-4 STM32 전원부 설계 # VDDA/VREF/VSSA</vt:lpstr>
      <vt:lpstr>5. STM32 커스텀 보드 설계 5-5 STM32 전원부 설계 # PDR_ON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Processor 세미나</dc:title>
  <dc:creator>mta</dc:creator>
  <cp:lastModifiedBy>mta</cp:lastModifiedBy>
  <cp:revision>874</cp:revision>
  <dcterms:created xsi:type="dcterms:W3CDTF">2023-04-01T05:56:39Z</dcterms:created>
  <dcterms:modified xsi:type="dcterms:W3CDTF">2026-01-23T02:56:39Z</dcterms:modified>
</cp:coreProperties>
</file>