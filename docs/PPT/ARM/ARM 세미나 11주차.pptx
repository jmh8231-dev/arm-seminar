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notesMasterIdLst>
    <p:notesMasterId r:id="rId25"/>
  </p:notesMasterIdLst>
  <p:sldIdLst>
    <p:sldId id="256" r:id="rId2"/>
    <p:sldId id="513" r:id="rId3"/>
    <p:sldId id="405" r:id="rId4"/>
    <p:sldId id="258" r:id="rId5"/>
    <p:sldId id="512" r:id="rId6"/>
    <p:sldId id="514" r:id="rId7"/>
    <p:sldId id="515" r:id="rId8"/>
    <p:sldId id="516" r:id="rId9"/>
    <p:sldId id="526" r:id="rId10"/>
    <p:sldId id="517" r:id="rId11"/>
    <p:sldId id="519" r:id="rId12"/>
    <p:sldId id="520" r:id="rId13"/>
    <p:sldId id="521" r:id="rId14"/>
    <p:sldId id="522" r:id="rId15"/>
    <p:sldId id="523" r:id="rId16"/>
    <p:sldId id="524" r:id="rId17"/>
    <p:sldId id="525" r:id="rId18"/>
    <p:sldId id="527" r:id="rId19"/>
    <p:sldId id="528" r:id="rId20"/>
    <p:sldId id="529" r:id="rId21"/>
    <p:sldId id="530" r:id="rId22"/>
    <p:sldId id="531" r:id="rId23"/>
    <p:sldId id="494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3AECD4F-9523-4815-827E-2B8DD5C14A03}">
          <p14:sldIdLst>
            <p14:sldId id="256"/>
            <p14:sldId id="513"/>
            <p14:sldId id="405"/>
            <p14:sldId id="258"/>
            <p14:sldId id="512"/>
            <p14:sldId id="514"/>
            <p14:sldId id="515"/>
            <p14:sldId id="516"/>
            <p14:sldId id="526"/>
            <p14:sldId id="517"/>
            <p14:sldId id="519"/>
            <p14:sldId id="520"/>
            <p14:sldId id="521"/>
            <p14:sldId id="522"/>
            <p14:sldId id="523"/>
            <p14:sldId id="524"/>
            <p14:sldId id="525"/>
            <p14:sldId id="527"/>
            <p14:sldId id="528"/>
            <p14:sldId id="529"/>
            <p14:sldId id="530"/>
            <p14:sldId id="531"/>
            <p14:sldId id="4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9" autoAdjust="0"/>
    <p:restoredTop sz="94661"/>
  </p:normalViewPr>
  <p:slideViewPr>
    <p:cSldViewPr snapToGrid="0">
      <p:cViewPr varScale="1">
        <p:scale>
          <a:sx n="199" d="100"/>
          <a:sy n="199" d="100"/>
        </p:scale>
        <p:origin x="2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A3A56-EDB2-4B73-A1CB-5609952E432E}" type="datetimeFigureOut">
              <a:rPr lang="ko-KR" altLang="en-US" smtClean="0"/>
              <a:t>2026. 1. 15.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DC4E7-C879-4C34-B87B-3BCA38CC4A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58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199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0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2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5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9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5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9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0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5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5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74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69A71A3-950D-4899-B79B-35F2758BD331}"/>
              </a:ext>
            </a:extLst>
          </p:cNvPr>
          <p:cNvGrpSpPr/>
          <p:nvPr userDrawn="1"/>
        </p:nvGrpSpPr>
        <p:grpSpPr>
          <a:xfrm>
            <a:off x="0" y="1207336"/>
            <a:ext cx="12192000" cy="4467863"/>
            <a:chOff x="0" y="1207336"/>
            <a:chExt cx="12192000" cy="4467863"/>
          </a:xfrm>
        </p:grpSpPr>
        <p:sp>
          <p:nvSpPr>
            <p:cNvPr id="33" name="Flowchart: Delay 24">
              <a:extLst>
                <a:ext uri="{FF2B5EF4-FFF2-40B4-BE49-F238E27FC236}">
                  <a16:creationId xmlns:a16="http://schemas.microsoft.com/office/drawing/2014/main" id="{928187B2-0394-40AE-9F9C-6682AC71596C}"/>
                </a:ext>
              </a:extLst>
            </p:cNvPr>
            <p:cNvSpPr/>
            <p:nvPr userDrawn="1"/>
          </p:nvSpPr>
          <p:spPr>
            <a:xfrm flipH="1">
              <a:off x="2613003" y="3441616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355D9AC9-E7B7-459E-925B-0047C675B750}"/>
                </a:ext>
              </a:extLst>
            </p:cNvPr>
            <p:cNvSpPr/>
            <p:nvPr userDrawn="1"/>
          </p:nvSpPr>
          <p:spPr>
            <a:xfrm>
              <a:off x="9491472" y="1379494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02FB5C-BDE1-4891-8E91-CB3F868629BB}"/>
                </a:ext>
              </a:extLst>
            </p:cNvPr>
            <p:cNvSpPr/>
            <p:nvPr userDrawn="1"/>
          </p:nvSpPr>
          <p:spPr>
            <a:xfrm>
              <a:off x="4416552" y="1207336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rgbClr val="BAC82F"/>
                </a:gs>
                <a:gs pos="100000">
                  <a:srgbClr val="0C6D8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9DE4F0-7E7E-4423-A407-CD6485ACBB4F}"/>
                </a:ext>
              </a:extLst>
            </p:cNvPr>
            <p:cNvSpPr/>
            <p:nvPr userDrawn="1"/>
          </p:nvSpPr>
          <p:spPr>
            <a:xfrm>
              <a:off x="0" y="1207336"/>
              <a:ext cx="4416552" cy="356616"/>
            </a:xfrm>
            <a:prstGeom prst="rect">
              <a:avLst/>
            </a:prstGeom>
            <a:gradFill flip="none" rotWithShape="1">
              <a:gsLst>
                <a:gs pos="0">
                  <a:srgbClr val="F2C020"/>
                </a:gs>
                <a:gs pos="100000">
                  <a:srgbClr val="BAC82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D74833-8EE3-4FA9-B6D2-03710E410482}"/>
                </a:ext>
              </a:extLst>
            </p:cNvPr>
            <p:cNvSpPr/>
            <p:nvPr userDrawn="1"/>
          </p:nvSpPr>
          <p:spPr>
            <a:xfrm>
              <a:off x="4416552" y="3269385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005B59-B78D-469E-BAA4-E7B2A61E103D}"/>
                </a:ext>
              </a:extLst>
            </p:cNvPr>
            <p:cNvSpPr/>
            <p:nvPr userDrawn="1"/>
          </p:nvSpPr>
          <p:spPr>
            <a:xfrm>
              <a:off x="4414968" y="5318583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52000">
                  <a:schemeClr val="accent3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0BE4BEF-834D-4D0F-8E96-F1F8E6600C46}"/>
                </a:ext>
              </a:extLst>
            </p:cNvPr>
            <p:cNvSpPr/>
            <p:nvPr userDrawn="1"/>
          </p:nvSpPr>
          <p:spPr>
            <a:xfrm>
              <a:off x="9448800" y="5317275"/>
              <a:ext cx="2743200" cy="35661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4D6C00-E83E-4187-903F-A0A515BA9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38" y="2079876"/>
            <a:ext cx="3052087" cy="1475598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STYLE</a:t>
            </a: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F0DE95-4ED7-482F-BB4E-C1238B352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963" y="3587769"/>
            <a:ext cx="1726129" cy="29159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20XX-20XX</a:t>
            </a:r>
            <a:endParaRPr lang="ru-RU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F135EA3-D982-467F-B90A-B791DFDDA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3" y="3927199"/>
            <a:ext cx="1726129" cy="3785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3 Years Plan</a:t>
            </a:r>
            <a:endParaRPr lang="ru-RU" dirty="0"/>
          </a:p>
        </p:txBody>
      </p:sp>
      <p:sp>
        <p:nvSpPr>
          <p:cNvPr id="106" name="Picture Placeholder 104">
            <a:extLst>
              <a:ext uri="{FF2B5EF4-FFF2-40B4-BE49-F238E27FC236}">
                <a16:creationId xmlns:a16="http://schemas.microsoft.com/office/drawing/2014/main" id="{4580320F-7723-4672-AB19-22C87ECD53D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461963" y="5725379"/>
            <a:ext cx="950912" cy="685800"/>
          </a:xfrm>
          <a:ln w="3556">
            <a:solidFill>
              <a:srgbClr val="454D5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ru-RU"/>
          </a:p>
        </p:txBody>
      </p:sp>
      <p:sp>
        <p:nvSpPr>
          <p:cNvPr id="108" name="Text Placeholder 42">
            <a:extLst>
              <a:ext uri="{FF2B5EF4-FFF2-40B4-BE49-F238E27FC236}">
                <a16:creationId xmlns:a16="http://schemas.microsoft.com/office/drawing/2014/main" id="{F6CA33C8-1786-4D07-8C52-AE1469894B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65129" y="863644"/>
            <a:ext cx="1044000" cy="1044000"/>
          </a:xfrm>
          <a:prstGeom prst="ellipse">
            <a:avLst/>
          </a:prstGeom>
          <a:solidFill>
            <a:srgbClr val="BAC82F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62E3BBD0-72BD-45D7-BE15-8B93AFB862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4968" y="84398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rgbClr val="BAC82F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C695E72E-773D-407A-AFA4-EF90ADF9D1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78435" y="436306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BAC82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463FB1C-AFEB-4EAE-B84D-A1613AF5BA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78434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12DFAD2F-3ED1-46BF-B662-2E96A42C48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9136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alpha val="60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22FB247-DB8F-4B67-B9EA-5741E1DDBE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2681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81BF3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CE2C8800-C93B-4E93-9AE2-9CBFC1E6D7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2680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CC1B1148-CFC2-4FF7-8B7C-9502EB6500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03304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60559160-7568-4A5B-88B4-DBB3C42D5D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55391" y="43779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2CA05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ED30C6D-348A-4701-A27D-F10DFC175A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55390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6" name="Text Placeholder 42">
            <a:extLst>
              <a:ext uri="{FF2B5EF4-FFF2-40B4-BE49-F238E27FC236}">
                <a16:creationId xmlns:a16="http://schemas.microsoft.com/office/drawing/2014/main" id="{DC934A70-FE40-4A89-9799-1A6723466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7472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AB11D018-DEEE-4BCE-B5F0-2B33DD39A6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06873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1B866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085539ED-B933-484F-8ECB-700829A52C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06872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3" name="Text Placeholder 42">
            <a:extLst>
              <a:ext uri="{FF2B5EF4-FFF2-40B4-BE49-F238E27FC236}">
                <a16:creationId xmlns:a16="http://schemas.microsoft.com/office/drawing/2014/main" id="{F3728A77-BAED-49CA-87A0-DFCB220B3A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05088" y="1917406"/>
            <a:ext cx="1044000" cy="1044000"/>
          </a:xfrm>
          <a:prstGeom prst="ellipse">
            <a:avLst/>
          </a:prstGeom>
          <a:solidFill>
            <a:schemeClr val="tx1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D7526F27-FC58-40E7-A76A-47A27D232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47472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0D030018-A573-45D1-B6EF-210F3CF92D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105170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0C6D8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1FC8372-90CA-42B7-A237-0BC81F2687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05169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242D0BB2-4F17-4A8D-87A7-FADA2CAEC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3304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7F7CC596-D7AD-4DCE-B864-BB1A6A7C8B1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55390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403474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28E66912-ACE9-4007-9A2B-050DC940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55389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CC1EC2BE-5D73-4D49-B2F2-4DA2785D6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59136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1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441FE3C4-7737-4EB6-9280-FAD8852FB4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20978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571B6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70EF49EC-F8D8-463F-B786-F2C04C33AEE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0977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997AC0B1-99FC-455E-A896-3C370BB38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4968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D66EAED5-741C-44D6-840F-C90C1AF74A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1198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6F0066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7887B0FE-2AB8-455F-8EC7-C8F31FEA27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1197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5" name="Text Placeholder 42">
            <a:extLst>
              <a:ext uri="{FF2B5EF4-FFF2-40B4-BE49-F238E27FC236}">
                <a16:creationId xmlns:a16="http://schemas.microsoft.com/office/drawing/2014/main" id="{6F1AC56E-6618-4728-A6EA-8B021EB6BC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88092" y="3979528"/>
            <a:ext cx="1044000" cy="1044000"/>
          </a:xfrm>
          <a:prstGeom prst="ellipse">
            <a:avLst/>
          </a:prstGeom>
          <a:solidFill>
            <a:schemeClr val="tx2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DB4C9C65-90B1-4A40-BB7B-DE799076D1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14968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E9ED50CB-058A-4C6B-A8E2-0536EC0E4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75657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04D14365-5F59-4F4F-B237-26A11A2DD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075656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3" name="Text Placeholder 42">
            <a:extLst>
              <a:ext uri="{FF2B5EF4-FFF2-40B4-BE49-F238E27FC236}">
                <a16:creationId xmlns:a16="http://schemas.microsoft.com/office/drawing/2014/main" id="{CFA7DBCF-F797-4B29-8C96-7AC1602B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59136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3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100" name="Text Placeholder 7">
            <a:extLst>
              <a:ext uri="{FF2B5EF4-FFF2-40B4-BE49-F238E27FC236}">
                <a16:creationId xmlns:a16="http://schemas.microsoft.com/office/drawing/2014/main" id="{07524528-CBB1-40C1-A6F2-855A4D9947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23464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41F799BD-659E-472B-98A7-7C06C2F745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23463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2" name="Text Placeholder 42">
            <a:extLst>
              <a:ext uri="{FF2B5EF4-FFF2-40B4-BE49-F238E27FC236}">
                <a16:creationId xmlns:a16="http://schemas.microsoft.com/office/drawing/2014/main" id="{113ADCA9-C0A6-4FAB-A09E-4DECBD41D7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3304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4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3EC66011-3B65-49CC-8886-E2CCFBFFAB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59849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E8611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3B2B5959-E5CC-42A7-B797-463098BE629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59848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1" name="Text Placeholder 42">
            <a:extLst>
              <a:ext uri="{FF2B5EF4-FFF2-40B4-BE49-F238E27FC236}">
                <a16:creationId xmlns:a16="http://schemas.microsoft.com/office/drawing/2014/main" id="{91E8A179-36A3-4D0A-96E7-689F93F9B8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7472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5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9FDC66A0-D1C5-4C83-BBEE-D079881FADA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07656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3" name="Text Placeholder 7">
            <a:extLst>
              <a:ext uri="{FF2B5EF4-FFF2-40B4-BE49-F238E27FC236}">
                <a16:creationId xmlns:a16="http://schemas.microsoft.com/office/drawing/2014/main" id="{E4E5E736-BFFC-4245-916F-5861101288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07655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110" name="Text Placeholder 42">
            <a:extLst>
              <a:ext uri="{FF2B5EF4-FFF2-40B4-BE49-F238E27FC236}">
                <a16:creationId xmlns:a16="http://schemas.microsoft.com/office/drawing/2014/main" id="{74922A2C-30D3-4ED0-8443-C57494EB42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293432" y="4973439"/>
            <a:ext cx="1044000" cy="1044000"/>
          </a:xfrm>
          <a:prstGeom prst="ellipse">
            <a:avLst/>
          </a:prstGeom>
          <a:solidFill>
            <a:schemeClr val="accent5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E081-530B-464A-B47C-C858A60E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373A1-F9A6-4E7C-A04F-22454F3A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5888" y="550858"/>
            <a:ext cx="2743200" cy="176716"/>
          </a:xfrm>
          <a:prstGeom prst="rect">
            <a:avLst/>
          </a:prstGeom>
        </p:spPr>
        <p:txBody>
          <a:bodyPr/>
          <a:lstStyle/>
          <a:p>
            <a:fld id="{F0BF70C0-85C8-4782-A2DC-740B0F58DBF8}" type="datetime1">
              <a:rPr lang="ru-RU" smtClean="0"/>
              <a:t>15.01.2026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F57F-FEA7-4D09-AA29-F32AA557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428B-5ACF-4E79-A091-05E2328DA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18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1/15/26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9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03" r:id="rId6"/>
    <p:sldLayoutId id="2147483899" r:id="rId7"/>
    <p:sldLayoutId id="2147483900" r:id="rId8"/>
    <p:sldLayoutId id="2147483901" r:id="rId9"/>
    <p:sldLayoutId id="2147483902" r:id="rId10"/>
    <p:sldLayoutId id="2147483904" r:id="rId11"/>
    <p:sldLayoutId id="2147483918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spressif.github.io/esptool-js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docs.espressif.com/projects/esp-at/en/release-v2.2.0.0_esp8266/AT_Command_Set/index.html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EB309-3929-FF0E-BDEF-07DD47014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1439" y="1673361"/>
            <a:ext cx="5230446" cy="1227221"/>
          </a:xfrm>
        </p:spPr>
        <p:txBody>
          <a:bodyPr anchor="ctr">
            <a:normAutofit fontScale="90000"/>
          </a:bodyPr>
          <a:lstStyle/>
          <a:p>
            <a:r>
              <a:rPr lang="en-US" altLang="ko-KR" dirty="0"/>
              <a:t>ARM Processor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1026" name="Picture 2" descr="Cortex-M4">
            <a:extLst>
              <a:ext uri="{FF2B5EF4-FFF2-40B4-BE49-F238E27FC236}">
                <a16:creationId xmlns:a16="http://schemas.microsoft.com/office/drawing/2014/main" id="{1F1D1580-B74F-5C60-C967-772F8BEE3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" r="10734" b="-4"/>
          <a:stretch/>
        </p:blipFill>
        <p:spPr bwMode="auto">
          <a:xfrm>
            <a:off x="6095998" y="0"/>
            <a:ext cx="609600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D9FB2-EF99-4CCA-9CDB-EB444E8BDB51}"/>
              </a:ext>
            </a:extLst>
          </p:cNvPr>
          <p:cNvSpPr txBox="1"/>
          <p:nvPr/>
        </p:nvSpPr>
        <p:spPr>
          <a:xfrm>
            <a:off x="1048811" y="6398251"/>
            <a:ext cx="500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/>
              <a:t>Robotics </a:t>
            </a:r>
            <a:r>
              <a:rPr lang="ko-KR" altLang="en-US" b="1" dirty="0"/>
              <a:t>정명훈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983F3-D723-6F86-C98E-DCC005282A53}"/>
              </a:ext>
            </a:extLst>
          </p:cNvPr>
          <p:cNvSpPr txBox="1"/>
          <p:nvPr/>
        </p:nvSpPr>
        <p:spPr>
          <a:xfrm>
            <a:off x="3850105" y="2346585"/>
            <a:ext cx="270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세미나 </a:t>
            </a:r>
            <a:r>
              <a:rPr lang="en-US" altLang="ko-KR" dirty="0">
                <a:solidFill>
                  <a:schemeClr val="bg1"/>
                </a:solidFill>
              </a:rPr>
              <a:t>11</a:t>
            </a:r>
            <a:r>
              <a:rPr lang="ko-KR" altLang="en-US" dirty="0">
                <a:solidFill>
                  <a:schemeClr val="bg1"/>
                </a:solidFill>
              </a:rPr>
              <a:t>주차</a:t>
            </a:r>
          </a:p>
        </p:txBody>
      </p:sp>
    </p:spTree>
    <p:extLst>
      <p:ext uri="{BB962C8B-B14F-4D97-AF65-F5344CB8AC3E}">
        <p14:creationId xmlns:p14="http://schemas.microsoft.com/office/powerpoint/2010/main" val="267008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8047F-1D7A-3B0E-2D3E-E4817AD67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FFC88-8C1F-C17A-A324-302D4D302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 fontScale="90000"/>
          </a:bodyPr>
          <a:lstStyle/>
          <a:p>
            <a:r>
              <a:rPr lang="ko-KR" altLang="en-US" dirty="0">
                <a:latin typeface="+mn-lt"/>
              </a:rPr>
              <a:t>응용문제</a:t>
            </a:r>
            <a:br>
              <a:rPr lang="en-US" altLang="ko-KR" dirty="0">
                <a:latin typeface="+mn-lt"/>
              </a:rPr>
            </a:b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2B1424-7838-BFB7-E72D-315B7CEDC1D2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A6B8A7-EA4F-E491-1704-DABDC77EE770}"/>
              </a:ext>
            </a:extLst>
          </p:cNvPr>
          <p:cNvSpPr txBox="1"/>
          <p:nvPr/>
        </p:nvSpPr>
        <p:spPr>
          <a:xfrm>
            <a:off x="484552" y="2720986"/>
            <a:ext cx="889948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문제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9</a:t>
            </a:r>
            <a:r>
              <a:rPr kumimoji="1" lang="ko-KR" altLang="en-US" dirty="0"/>
              <a:t>주차에서 진행한 </a:t>
            </a:r>
            <a:r>
              <a:rPr kumimoji="1" lang="en-US" altLang="ko-KR" dirty="0"/>
              <a:t>MP3</a:t>
            </a:r>
            <a:r>
              <a:rPr kumimoji="1" lang="ko-KR" altLang="en-US" dirty="0"/>
              <a:t> 만들기를 </a:t>
            </a:r>
            <a:r>
              <a:rPr kumimoji="1" lang="en-US" altLang="ko-KR" dirty="0"/>
              <a:t>CAN</a:t>
            </a:r>
            <a:r>
              <a:rPr kumimoji="1" lang="ko-KR" altLang="en-US" dirty="0"/>
              <a:t>을 통해 제어하기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A(MP3</a:t>
            </a:r>
            <a:r>
              <a:rPr kumimoji="1" lang="ko-KR" altLang="en-US" dirty="0"/>
              <a:t> 보드</a:t>
            </a:r>
            <a:r>
              <a:rPr kumimoji="1" lang="en-US" altLang="ko-KR" dirty="0"/>
              <a:t>),</a:t>
            </a:r>
            <a:r>
              <a:rPr kumimoji="1" lang="ko-KR" altLang="en-US" dirty="0"/>
              <a:t> </a:t>
            </a:r>
            <a:r>
              <a:rPr kumimoji="1" lang="en-US" altLang="ko-KR" dirty="0"/>
              <a:t>B(</a:t>
            </a:r>
            <a:r>
              <a:rPr kumimoji="1" lang="ko-KR" altLang="en-US" dirty="0"/>
              <a:t>제어보드</a:t>
            </a:r>
            <a:r>
              <a:rPr kumimoji="1" lang="en-US" altLang="ko-KR" dirty="0"/>
              <a:t>)</a:t>
            </a:r>
            <a:br>
              <a:rPr kumimoji="1" lang="en-US" altLang="ko-KR" dirty="0"/>
            </a:br>
            <a:br>
              <a:rPr kumimoji="1" lang="en-US" altLang="ko-KR" dirty="0"/>
            </a:br>
            <a:r>
              <a:rPr kumimoji="1" lang="en-US" altLang="ko-KR" dirty="0"/>
              <a:t>B</a:t>
            </a:r>
            <a:r>
              <a:rPr kumimoji="1" lang="ko-KR" altLang="en-US" dirty="0"/>
              <a:t>보드에 있는 버튼을 눌러 </a:t>
            </a:r>
            <a:r>
              <a:rPr kumimoji="1" lang="en-US" altLang="ko-KR" dirty="0"/>
              <a:t>A</a:t>
            </a:r>
            <a:r>
              <a:rPr kumimoji="1" lang="ko-KR" altLang="en-US" dirty="0"/>
              <a:t>보드의 일시정지</a:t>
            </a:r>
            <a:r>
              <a:rPr kumimoji="1" lang="en-US" altLang="ko-KR" dirty="0"/>
              <a:t>,</a:t>
            </a:r>
            <a:r>
              <a:rPr kumimoji="1" lang="ko-KR" altLang="en-US" dirty="0"/>
              <a:t> 재생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다음곡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이전곡</a:t>
            </a:r>
            <a:r>
              <a:rPr kumimoji="1" lang="ko-KR" altLang="en-US" dirty="0"/>
              <a:t> 기능을 제어하기</a:t>
            </a:r>
            <a:br>
              <a:rPr kumimoji="1" lang="en-US" altLang="ko-KR" dirty="0"/>
            </a:br>
            <a:r>
              <a:rPr kumimoji="1" lang="ko-KR" altLang="en-US" dirty="0"/>
              <a:t>이때 기존 </a:t>
            </a:r>
            <a:r>
              <a:rPr kumimoji="1" lang="en-US" altLang="ko-KR" dirty="0"/>
              <a:t>A</a:t>
            </a:r>
            <a:r>
              <a:rPr kumimoji="1" lang="ko-KR" altLang="en-US" dirty="0"/>
              <a:t>보드에 출력되어야 하는 곡정보를 </a:t>
            </a:r>
            <a:r>
              <a:rPr kumimoji="1" lang="en-US" altLang="ko-KR" dirty="0"/>
              <a:t>B</a:t>
            </a:r>
            <a:r>
              <a:rPr kumimoji="1" lang="ko-KR" altLang="en-US" dirty="0"/>
              <a:t>보드 디스플레이에서 보여주기</a:t>
            </a:r>
          </a:p>
        </p:txBody>
      </p:sp>
    </p:spTree>
    <p:extLst>
      <p:ext uri="{BB962C8B-B14F-4D97-AF65-F5344CB8AC3E}">
        <p14:creationId xmlns:p14="http://schemas.microsoft.com/office/powerpoint/2010/main" val="3807957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CB4C-B5E1-4756-815D-BC6EC8E7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92" y="189332"/>
            <a:ext cx="11534862" cy="686113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ARM Processor Seminar Roadmap</a:t>
            </a:r>
            <a:endParaRPr lang="ru-RU" sz="4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306A44-50E7-4C10-ABF1-71CE55A094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8041" y="2905510"/>
            <a:ext cx="1044000" cy="1044000"/>
          </a:xfrm>
        </p:spPr>
        <p:txBody>
          <a:bodyPr/>
          <a:lstStyle/>
          <a:p>
            <a:r>
              <a:rPr lang="en-US" dirty="0"/>
              <a:t>10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5D376EC-609C-46F1-A4A6-22B3BCBA977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036976" y="4067055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CAN</a:t>
            </a:r>
            <a:endParaRPr lang="ru-RU" b="1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BD9AA2-DFE1-412D-BB95-7989BA1E603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9113" y="2930232"/>
            <a:ext cx="1044000" cy="1044000"/>
          </a:xfrm>
        </p:spPr>
        <p:txBody>
          <a:bodyPr/>
          <a:lstStyle/>
          <a:p>
            <a:r>
              <a:rPr lang="en-US" altLang="ko-KR" b="1" dirty="0"/>
              <a:t>11</a:t>
            </a:r>
            <a:r>
              <a:rPr lang="ko-KR" altLang="en-US" b="1" dirty="0"/>
              <a:t>주</a:t>
            </a:r>
            <a:endParaRPr lang="ru-RU" b="1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B5D9C5D-1FCA-4D88-ADCB-481D203B846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098047" y="2502374"/>
            <a:ext cx="1726129" cy="39628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IOT</a:t>
            </a:r>
            <a:r>
              <a:rPr lang="ko-KR" altLang="en-US" b="1" dirty="0"/>
              <a:t> 환경 구축 및</a:t>
            </a:r>
            <a:r>
              <a:rPr lang="en-US" altLang="ko-KR" b="1" dirty="0"/>
              <a:t> </a:t>
            </a:r>
            <a:r>
              <a:rPr lang="en-US" altLang="ko-KR" b="1" dirty="0" err="1"/>
              <a:t>WiFi</a:t>
            </a:r>
            <a:r>
              <a:rPr lang="ko-KR" altLang="en-US" b="1" dirty="0"/>
              <a:t> 모듈 사용법 설명</a:t>
            </a:r>
            <a:endParaRPr lang="en-US" altLang="ko-KR" b="1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DDFF132-912B-4B2B-B3E5-D1AB199B58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32758" y="2924536"/>
            <a:ext cx="1044000" cy="1044000"/>
          </a:xfrm>
        </p:spPr>
        <p:txBody>
          <a:bodyPr/>
          <a:lstStyle/>
          <a:p>
            <a:r>
              <a:rPr lang="en-US" altLang="ko-KR" dirty="0"/>
              <a:t>12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7AEBAB8-BDEB-4E4A-B443-829D3C340CA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191693" y="4067055"/>
            <a:ext cx="1726129" cy="613650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WiFi</a:t>
            </a:r>
            <a:r>
              <a:rPr lang="en-US" altLang="ko-KR" dirty="0"/>
              <a:t> </a:t>
            </a:r>
            <a:r>
              <a:rPr lang="ko-KR" altLang="en-US" dirty="0"/>
              <a:t>모듈을 통한</a:t>
            </a:r>
            <a:endParaRPr lang="en-US" altLang="ko-KR" dirty="0"/>
          </a:p>
          <a:p>
            <a:r>
              <a:rPr lang="en-US" altLang="ko-KR" dirty="0"/>
              <a:t>GPIO</a:t>
            </a:r>
            <a:r>
              <a:rPr lang="ko-KR" altLang="en-US" dirty="0"/>
              <a:t>제어</a:t>
            </a:r>
            <a:endParaRPr lang="en-US" altLang="ko-K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950DBC3-6438-47ED-BA7E-BBD7E08290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888" y="2902597"/>
            <a:ext cx="1044000" cy="1044000"/>
          </a:xfrm>
        </p:spPr>
        <p:txBody>
          <a:bodyPr/>
          <a:lstStyle/>
          <a:p>
            <a:r>
              <a:rPr lang="en-US" altLang="ko-KR" dirty="0"/>
              <a:t>13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1435C51-CB8E-41E5-8C00-34ADCC273A3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367823" y="2528249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/>
              <a:t>Sensors </a:t>
            </a:r>
            <a:r>
              <a:rPr lang="ko-KR" altLang="en-US" dirty="0"/>
              <a:t>값 전송</a:t>
            </a:r>
            <a:endParaRPr lang="ru-RU" altLang="ko-KR" dirty="0"/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7C0ECD94-A4CB-4FB7-A7F7-AA32C0ED85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altLang="ko-KR" dirty="0"/>
              <a:t>14</a:t>
            </a:r>
            <a:r>
              <a:rPr lang="ko-KR" altLang="en-US" dirty="0"/>
              <a:t>주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0624EF-8210-444B-9BC7-2C144038C2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08888" y="4965034"/>
            <a:ext cx="1044000" cy="1044000"/>
          </a:xfrm>
        </p:spPr>
        <p:txBody>
          <a:bodyPr/>
          <a:lstStyle/>
          <a:p>
            <a:r>
              <a:rPr lang="en-US" altLang="ko-KR" dirty="0"/>
              <a:t>15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F4A9D67-1B01-4CF8-AC0D-C7E518691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367823" y="455650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 err="1"/>
              <a:t>FreeRTOS</a:t>
            </a:r>
            <a:endParaRPr lang="ru-RU" altLang="ko-KR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073D15E-3E59-4781-BA50-8D741A373A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74000" y="4975694"/>
            <a:ext cx="1044000" cy="1044000"/>
          </a:xfrm>
        </p:spPr>
        <p:txBody>
          <a:bodyPr/>
          <a:lstStyle/>
          <a:p>
            <a:r>
              <a:rPr lang="en-US" altLang="ko-KR" dirty="0"/>
              <a:t>16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183E534-6B6A-4814-BF59-57A6E38C5B0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32935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altLang="ko-KR" dirty="0"/>
              <a:t>DFU Bootloader</a:t>
            </a:r>
            <a:endParaRPr lang="ru-RU" altLang="ko-KR" dirty="0"/>
          </a:p>
          <a:p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ACEF7EF-E8CB-4008-A749-3586789460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88170" y="4965034"/>
            <a:ext cx="1044000" cy="1044000"/>
          </a:xfrm>
        </p:spPr>
        <p:txBody>
          <a:bodyPr/>
          <a:lstStyle/>
          <a:p>
            <a:r>
              <a:rPr lang="en-US" altLang="ko-KR" dirty="0"/>
              <a:t>17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6FA5D30-6CB0-4EEA-AB74-670C4C1A6E0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098048" y="4603665"/>
            <a:ext cx="1726129" cy="294537"/>
          </a:xfrm>
        </p:spPr>
        <p:txBody>
          <a:bodyPr>
            <a:normAutofit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OTA</a:t>
            </a:r>
            <a:endParaRPr lang="ru-RU" altLang="ko-KR" dirty="0">
              <a:solidFill>
                <a:schemeClr val="accent1"/>
              </a:solidFill>
            </a:endParaRP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15ADFC7-484C-4FB9-A3C1-CDAA545F73F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8040" y="4970360"/>
            <a:ext cx="1044000" cy="1044000"/>
          </a:xfrm>
        </p:spPr>
        <p:txBody>
          <a:bodyPr>
            <a:normAutofit/>
          </a:bodyPr>
          <a:lstStyle/>
          <a:p>
            <a:r>
              <a:rPr lang="en-US" altLang="ko-KR" dirty="0"/>
              <a:t>18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2CF05B5-E92D-4FD2-A21C-956D8E8321A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36976" y="6121335"/>
            <a:ext cx="1726129" cy="659592"/>
          </a:xfrm>
        </p:spPr>
        <p:txBody>
          <a:bodyPr>
            <a:normAutofit/>
          </a:bodyPr>
          <a:lstStyle/>
          <a:p>
            <a:r>
              <a:rPr lang="ko-KR" altLang="en-US" dirty="0"/>
              <a:t>최종 작품 만들기</a:t>
            </a:r>
            <a:endParaRPr lang="ru-RU" altLang="ko-KR" dirty="0"/>
          </a:p>
        </p:txBody>
      </p:sp>
      <p:sp>
        <p:nvSpPr>
          <p:cNvPr id="97" name="Text Placeholder 32">
            <a:extLst>
              <a:ext uri="{FF2B5EF4-FFF2-40B4-BE49-F238E27FC236}">
                <a16:creationId xmlns:a16="http://schemas.microsoft.com/office/drawing/2014/main" id="{258CED2E-C5E4-5EE0-63E5-C9113E4295E9}"/>
              </a:ext>
            </a:extLst>
          </p:cNvPr>
          <p:cNvSpPr txBox="1">
            <a:spLocks/>
          </p:cNvSpPr>
          <p:nvPr/>
        </p:nvSpPr>
        <p:spPr>
          <a:xfrm>
            <a:off x="671413" y="4399390"/>
            <a:ext cx="1380948" cy="204276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571B6D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전원 관리 기법</a:t>
            </a:r>
            <a:endParaRPr lang="en-US" altLang="ko-KR" b="1" dirty="0"/>
          </a:p>
        </p:txBody>
      </p:sp>
    </p:spTree>
    <p:extLst>
      <p:ext uri="{BB962C8B-B14F-4D97-AF65-F5344CB8AC3E}">
        <p14:creationId xmlns:p14="http://schemas.microsoft.com/office/powerpoint/2010/main" val="257717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44FF07C-A6B5-384C-A764-1331E85A0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635" y="1612900"/>
            <a:ext cx="7302500" cy="3632200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BB31C44-31E4-68F2-5A5B-2780DCE514E0}"/>
              </a:ext>
            </a:extLst>
          </p:cNvPr>
          <p:cNvSpPr/>
          <p:nvPr/>
        </p:nvSpPr>
        <p:spPr>
          <a:xfrm>
            <a:off x="8985" y="0"/>
            <a:ext cx="2764302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25FA6-C969-F6F7-C840-477882525D7E}"/>
              </a:ext>
            </a:extLst>
          </p:cNvPr>
          <p:cNvSpPr txBox="1"/>
          <p:nvPr/>
        </p:nvSpPr>
        <p:spPr>
          <a:xfrm>
            <a:off x="201818" y="998384"/>
            <a:ext cx="2378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세미나 로드맵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ko-KR" altLang="en-US" sz="2000" dirty="0">
                <a:solidFill>
                  <a:schemeClr val="bg1"/>
                </a:solidFill>
              </a:rPr>
              <a:t>상세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  <a:r>
              <a:rPr lang="en-US" altLang="ko-KR" sz="1600" dirty="0">
                <a:solidFill>
                  <a:schemeClr val="bg1"/>
                </a:solidFill>
              </a:rPr>
              <a:t>    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A67160-6AFB-A3C4-BE10-2EBDA448F4BD}"/>
              </a:ext>
            </a:extLst>
          </p:cNvPr>
          <p:cNvSpPr/>
          <p:nvPr/>
        </p:nvSpPr>
        <p:spPr>
          <a:xfrm>
            <a:off x="3956278" y="2007842"/>
            <a:ext cx="7138015" cy="78651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3948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C1C2-1F4C-C440-18DC-9DF8C1877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76B77D-ACBA-BA04-AB10-115D3DFDC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 err="1">
                <a:latin typeface="+mn-lt"/>
              </a:rPr>
              <a:t>WiFi</a:t>
            </a:r>
            <a:r>
              <a:rPr lang="ko-KR" altLang="en-US" dirty="0">
                <a:latin typeface="+mn-lt"/>
              </a:rPr>
              <a:t> </a:t>
            </a:r>
            <a:r>
              <a:rPr lang="en-US" altLang="ko-KR" dirty="0">
                <a:latin typeface="+mn-lt"/>
              </a:rPr>
              <a:t>Module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-1 STM32</a:t>
            </a:r>
            <a:r>
              <a:rPr lang="ko-KR" altLang="en-US" sz="2800" dirty="0"/>
              <a:t>에서 </a:t>
            </a:r>
            <a:r>
              <a:rPr lang="en-US" altLang="ko-KR" sz="2800" dirty="0" err="1"/>
              <a:t>WiFi</a:t>
            </a:r>
            <a:r>
              <a:rPr lang="ko-KR" altLang="en-US" sz="2800" dirty="0" err="1"/>
              <a:t>를</a:t>
            </a:r>
            <a:r>
              <a:rPr lang="ko-KR" altLang="en-US" sz="2800" dirty="0"/>
              <a:t> 사용하는 방법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C6281-85C3-522F-B02E-C64BDC5AFF02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317B446-955A-6747-5ED6-DD051C78F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660585"/>
            <a:ext cx="7772400" cy="36294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978E1B-38F5-5DDD-1077-EC06C5DDEBBE}"/>
              </a:ext>
            </a:extLst>
          </p:cNvPr>
          <p:cNvSpPr txBox="1"/>
          <p:nvPr/>
        </p:nvSpPr>
        <p:spPr>
          <a:xfrm>
            <a:off x="6884333" y="2660585"/>
            <a:ext cx="486960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현시점에는 </a:t>
            </a:r>
            <a:r>
              <a:rPr kumimoji="1" lang="en-US" altLang="ko-KR" sz="1400" dirty="0" err="1"/>
              <a:t>WiFi</a:t>
            </a:r>
            <a:r>
              <a:rPr kumimoji="1" lang="ko-KR" altLang="en-US" sz="1400" dirty="0" err="1"/>
              <a:t>를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one chip</a:t>
            </a:r>
            <a:r>
              <a:rPr kumimoji="1" lang="ko-KR" altLang="en-US" sz="1400" dirty="0" err="1"/>
              <a:t>으로</a:t>
            </a:r>
            <a:r>
              <a:rPr kumimoji="1" lang="ko-KR" altLang="en-US" sz="1400" dirty="0"/>
              <a:t> 지원하는 라인이 없다</a:t>
            </a:r>
            <a:r>
              <a:rPr kumimoji="1" lang="en-US" altLang="ko-KR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따라서 </a:t>
            </a:r>
            <a:r>
              <a:rPr kumimoji="1" lang="en-US" altLang="ko-KR" sz="1400" dirty="0"/>
              <a:t>ESP8266,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ESP32</a:t>
            </a:r>
            <a:r>
              <a:rPr kumimoji="1" lang="ko-KR" altLang="en-US" sz="1400" dirty="0"/>
              <a:t>같은 </a:t>
            </a:r>
            <a:r>
              <a:rPr kumimoji="1" lang="en-US" altLang="ko-KR" sz="1400" dirty="0" err="1"/>
              <a:t>WiFi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modem</a:t>
            </a:r>
            <a:r>
              <a:rPr kumimoji="1" lang="ko-KR" altLang="en-US" sz="1400" dirty="0"/>
              <a:t>이 필요하다</a:t>
            </a:r>
            <a:r>
              <a:rPr kumimoji="1" lang="en-US" altLang="ko-KR" sz="1400" dirty="0"/>
              <a:t>.</a:t>
            </a:r>
            <a:endParaRPr kumimoji="1"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14681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CA1FC-D03D-57E5-C966-596E63803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40EACA-601A-5C66-66CA-39155AF76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 err="1">
                <a:latin typeface="+mn-lt"/>
              </a:rPr>
              <a:t>WiFi</a:t>
            </a:r>
            <a:r>
              <a:rPr lang="en-US" altLang="ko-KR" dirty="0">
                <a:latin typeface="+mn-lt"/>
              </a:rPr>
              <a:t> Module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-2 ESP8266 vs ESP32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92866C-DE45-9C61-AC87-10F3F8A4D131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3042B9E-91DE-3B00-F81C-87E688BFE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127" y="2773218"/>
            <a:ext cx="9733745" cy="30348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562A74-5970-B324-E343-09B148738827}"/>
              </a:ext>
            </a:extLst>
          </p:cNvPr>
          <p:cNvSpPr txBox="1"/>
          <p:nvPr/>
        </p:nvSpPr>
        <p:spPr>
          <a:xfrm>
            <a:off x="1229127" y="6138629"/>
            <a:ext cx="65336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ESP32</a:t>
            </a:r>
            <a:r>
              <a:rPr kumimoji="1" lang="ko-KR" altLang="en-US" sz="1400" dirty="0"/>
              <a:t>가 성능이 훨씬 높으나</a:t>
            </a:r>
            <a:r>
              <a:rPr kumimoji="1" lang="en-US" altLang="ko-KR" sz="1400" dirty="0"/>
              <a:t>,</a:t>
            </a:r>
            <a:r>
              <a:rPr kumimoji="1" lang="ko-KR" altLang="en-US" sz="1400" dirty="0"/>
              <a:t> 단순 </a:t>
            </a:r>
            <a:r>
              <a:rPr kumimoji="1" lang="en-US" altLang="ko-KR" sz="1400" dirty="0"/>
              <a:t>modem</a:t>
            </a:r>
            <a:r>
              <a:rPr kumimoji="1" lang="ko-KR" altLang="en-US" sz="1400" dirty="0"/>
              <a:t> 역할이라면 </a:t>
            </a:r>
            <a:r>
              <a:rPr kumimoji="1" lang="en-US" altLang="ko-KR" sz="1400" dirty="0"/>
              <a:t>ESP8266</a:t>
            </a:r>
            <a:r>
              <a:rPr kumimoji="1" lang="ko-KR" altLang="en-US" sz="1400" dirty="0"/>
              <a:t>도 충분하다</a:t>
            </a:r>
            <a:r>
              <a:rPr kumimoji="1" lang="en-US" altLang="ko-KR" sz="1400" dirty="0"/>
              <a:t>.</a:t>
            </a:r>
            <a:endParaRPr kumimoji="1"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38934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0C60A-848E-84A7-92D9-3BC104BF7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BF1B5D-37C2-9009-1B9B-867821D3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 err="1">
                <a:latin typeface="+mn-lt"/>
              </a:rPr>
              <a:t>WiFi</a:t>
            </a:r>
            <a:r>
              <a:rPr lang="en-US" altLang="ko-KR" dirty="0">
                <a:latin typeface="+mn-lt"/>
              </a:rPr>
              <a:t> Module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-3 ESP-12F </a:t>
            </a:r>
            <a:r>
              <a:rPr lang="ko-KR" altLang="en-US" sz="2800" dirty="0"/>
              <a:t>사양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54A94A-AA02-48B6-1453-652F68203A38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522F254-A07F-0768-6CA9-34E41D83C8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130" y="2543187"/>
            <a:ext cx="8170451" cy="3864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798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F3527-A411-7C89-75E3-AFFDB28D9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B8F52-780D-E957-D6BE-FC0A5F601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en-US" altLang="ko-KR" dirty="0" err="1">
                <a:latin typeface="+mn-lt"/>
              </a:rPr>
              <a:t>WiFi</a:t>
            </a:r>
            <a:r>
              <a:rPr lang="en-US" altLang="ko-KR" dirty="0">
                <a:latin typeface="+mn-lt"/>
              </a:rPr>
              <a:t> Module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-4 </a:t>
            </a:r>
            <a:r>
              <a:rPr lang="ko-KR" altLang="en-US" sz="2800" dirty="0"/>
              <a:t>*</a:t>
            </a:r>
            <a:r>
              <a:rPr lang="en-US" altLang="ko-KR" sz="2800" dirty="0"/>
              <a:t>ARM Training Kit v2.0 HW Issue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756472-D5EE-0DDF-EC30-9CE7592122C5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B14E76-7AE7-08AD-4344-3B3C10F6F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89" y="2577420"/>
            <a:ext cx="7023900" cy="416511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C9637E7-FE86-B48C-53E8-6684A12EECA8}"/>
              </a:ext>
            </a:extLst>
          </p:cNvPr>
          <p:cNvSpPr/>
          <p:nvPr/>
        </p:nvSpPr>
        <p:spPr>
          <a:xfrm>
            <a:off x="927189" y="4041264"/>
            <a:ext cx="1368403" cy="102310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5F5A4B-894D-D917-C405-169F42C8409F}"/>
              </a:ext>
            </a:extLst>
          </p:cNvPr>
          <p:cNvSpPr txBox="1"/>
          <p:nvPr/>
        </p:nvSpPr>
        <p:spPr>
          <a:xfrm>
            <a:off x="7951089" y="2910032"/>
            <a:ext cx="395903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R10</a:t>
            </a:r>
            <a:r>
              <a:rPr kumimoji="1" lang="ko-KR" altLang="en-US" sz="1400" dirty="0"/>
              <a:t>과</a:t>
            </a:r>
            <a:r>
              <a:rPr kumimoji="1" lang="en-US" altLang="ko-KR" sz="1400" dirty="0"/>
              <a:t> R12</a:t>
            </a:r>
            <a:r>
              <a:rPr kumimoji="1" lang="ko-KR" altLang="en-US" sz="1400" dirty="0"/>
              <a:t>로 인해 </a:t>
            </a:r>
            <a:r>
              <a:rPr kumimoji="1" lang="en-US" altLang="ko-KR" sz="1400" dirty="0"/>
              <a:t>PB2</a:t>
            </a:r>
            <a:r>
              <a:rPr kumimoji="1" lang="ko-KR" altLang="en-US" sz="1400" dirty="0"/>
              <a:t>로 </a:t>
            </a:r>
            <a:r>
              <a:rPr kumimoji="1" lang="en-US" altLang="ko-KR" sz="1400" b="1" dirty="0"/>
              <a:t>LOW</a:t>
            </a:r>
            <a:r>
              <a:rPr kumimoji="1" lang="ko-KR" altLang="en-US" sz="1400" b="1" dirty="0"/>
              <a:t>신호를</a:t>
            </a:r>
            <a:br>
              <a:rPr kumimoji="1" lang="en-US" altLang="ko-KR" sz="1400" b="1" dirty="0"/>
            </a:br>
            <a:r>
              <a:rPr kumimoji="1" lang="ko-KR" altLang="en-US" sz="1400" b="1" dirty="0"/>
              <a:t>인가해도</a:t>
            </a:r>
            <a:r>
              <a:rPr kumimoji="1" lang="ko-KR" altLang="en-US" sz="1400" dirty="0"/>
              <a:t> 전압이 분배되어 </a:t>
            </a:r>
            <a:r>
              <a:rPr kumimoji="1" lang="ko-KR" altLang="en-US" sz="1400" b="1" dirty="0"/>
              <a:t>리셋 되지 않는다</a:t>
            </a:r>
            <a:r>
              <a:rPr kumimoji="1" lang="en-US" altLang="ko-KR" sz="1400" b="1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따라서 후술할 </a:t>
            </a:r>
            <a:r>
              <a:rPr kumimoji="1" lang="en-US" altLang="ko-KR" sz="1400" b="1" dirty="0"/>
              <a:t>AT</a:t>
            </a:r>
            <a:r>
              <a:rPr kumimoji="1" lang="ko-KR" altLang="en-US" sz="1400" b="1" dirty="0"/>
              <a:t> 명령어를 통한 소프트웨어</a:t>
            </a:r>
            <a:br>
              <a:rPr kumimoji="1" lang="en-US" altLang="ko-KR" sz="1400" b="1" dirty="0"/>
            </a:br>
            <a:r>
              <a:rPr kumimoji="1" lang="ko-KR" altLang="en-US" sz="1400" b="1" dirty="0"/>
              <a:t>방식으로 리셋 </a:t>
            </a:r>
            <a:r>
              <a:rPr kumimoji="1" lang="ko-KR" altLang="en-US" sz="1400" b="1" dirty="0" err="1"/>
              <a:t>해야한다</a:t>
            </a:r>
            <a:r>
              <a:rPr kumimoji="1" lang="en-US" altLang="ko-KR" sz="1400" b="1" dirty="0"/>
              <a:t>.</a:t>
            </a:r>
            <a:endParaRPr kumimoji="1"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681717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3EC2F-ADB8-2623-0360-E25DF7263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0B49B7-C747-0D31-328D-EC45BEE0A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ESP12F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-5</a:t>
            </a:r>
            <a:r>
              <a:rPr lang="ko-KR" altLang="en-US" sz="2800" dirty="0"/>
              <a:t> </a:t>
            </a:r>
            <a:r>
              <a:rPr lang="en-US" altLang="ko-KR" sz="2800" dirty="0"/>
              <a:t>STM32</a:t>
            </a:r>
            <a:r>
              <a:rPr lang="ko-KR" altLang="en-US" sz="2800" dirty="0"/>
              <a:t>에서 사용하는 방법 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DAEA3-DE38-0D70-46F2-EB62FF1B70BA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7E17FA1-5942-51DA-7576-DDAC0A91B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829" y="3566746"/>
            <a:ext cx="4381500" cy="1447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79E5FD-D295-9BA5-6B93-70AAC7E46A25}"/>
              </a:ext>
            </a:extLst>
          </p:cNvPr>
          <p:cNvSpPr txBox="1"/>
          <p:nvPr/>
        </p:nvSpPr>
        <p:spPr>
          <a:xfrm>
            <a:off x="7197262" y="5092115"/>
            <a:ext cx="287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ATC </a:t>
            </a:r>
            <a:r>
              <a:rPr kumimoji="1" lang="ko-KR" altLang="en-US" dirty="0"/>
              <a:t>라이브러리 사용 버전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113FD7-E441-49D7-F6E9-94BA91D22F5C}"/>
              </a:ext>
            </a:extLst>
          </p:cNvPr>
          <p:cNvSpPr txBox="1"/>
          <p:nvPr/>
        </p:nvSpPr>
        <p:spPr>
          <a:xfrm>
            <a:off x="5357229" y="2506812"/>
            <a:ext cx="63371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ATC </a:t>
            </a:r>
            <a:r>
              <a:rPr kumimoji="1" lang="ko-KR" altLang="en-US" dirty="0"/>
              <a:t>라이브러리를 사용해도 결국 커맨드를 입력해야 하기</a:t>
            </a:r>
            <a:br>
              <a:rPr kumimoji="1" lang="en-US" altLang="ko-KR" dirty="0"/>
            </a:br>
            <a:r>
              <a:rPr kumimoji="1" lang="ko-KR" altLang="en-US" dirty="0"/>
              <a:t>때문에</a:t>
            </a:r>
            <a:r>
              <a:rPr kumimoji="1" lang="en-US" altLang="ko-KR" dirty="0"/>
              <a:t> ATC API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사용한 상위 라이브러리를 설계</a:t>
            </a:r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44136F-497C-280A-570E-95B0CDB8A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52" y="2506812"/>
            <a:ext cx="3735277" cy="38398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605E9A-7C5C-4C8F-680E-79C84A433BA5}"/>
              </a:ext>
            </a:extLst>
          </p:cNvPr>
          <p:cNvSpPr txBox="1"/>
          <p:nvPr/>
        </p:nvSpPr>
        <p:spPr>
          <a:xfrm>
            <a:off x="914873" y="6346653"/>
            <a:ext cx="279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API </a:t>
            </a:r>
            <a:r>
              <a:rPr kumimoji="1" lang="ko-KR" altLang="en-US" dirty="0"/>
              <a:t>라이브러리 사용 버전</a:t>
            </a:r>
          </a:p>
        </p:txBody>
      </p:sp>
    </p:spTree>
    <p:extLst>
      <p:ext uri="{BB962C8B-B14F-4D97-AF65-F5344CB8AC3E}">
        <p14:creationId xmlns:p14="http://schemas.microsoft.com/office/powerpoint/2010/main" val="1564627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E8AA8-73AB-9F66-BD4F-D480AB11C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41839-D1B0-52E8-8AF5-204DE0D0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ESP12F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-1 FW Update</a:t>
            </a:r>
            <a:r>
              <a:rPr lang="ko-KR" altLang="en-US" sz="2800" dirty="0"/>
              <a:t> </a:t>
            </a:r>
            <a:r>
              <a:rPr lang="en-US" altLang="ko-KR" sz="2800" dirty="0"/>
              <a:t>#1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49CEB7-A908-F7DF-F02B-210A23E2DAC2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A1822F-784F-B7FE-8918-71C059C6CD7F}"/>
              </a:ext>
            </a:extLst>
          </p:cNvPr>
          <p:cNvSpPr txBox="1"/>
          <p:nvPr/>
        </p:nvSpPr>
        <p:spPr>
          <a:xfrm>
            <a:off x="5919176" y="2802310"/>
            <a:ext cx="6210354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기존 펌웨어는 </a:t>
            </a:r>
            <a:r>
              <a:rPr kumimoji="1" lang="en-US" altLang="ko-KR" sz="1400" dirty="0"/>
              <a:t>2016</a:t>
            </a:r>
            <a:r>
              <a:rPr kumimoji="1" lang="ko-KR" altLang="en-US" sz="1400" dirty="0"/>
              <a:t>년에 </a:t>
            </a:r>
            <a:r>
              <a:rPr kumimoji="1" lang="ko-KR" altLang="en-US" sz="1400" dirty="0" err="1"/>
              <a:t>컴파일된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non OS</a:t>
            </a:r>
            <a:r>
              <a:rPr kumimoji="1" lang="ko-KR" altLang="en-US" sz="1400" dirty="0"/>
              <a:t> 기반 </a:t>
            </a:r>
            <a:r>
              <a:rPr kumimoji="1" lang="en-US" altLang="ko-KR" sz="1400" dirty="0"/>
              <a:t>SDK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 err="1"/>
              <a:t>FreeRTOS</a:t>
            </a:r>
            <a:r>
              <a:rPr kumimoji="1" lang="ko-KR" altLang="en-US" sz="1400" dirty="0"/>
              <a:t>가 적용된 </a:t>
            </a:r>
            <a:r>
              <a:rPr kumimoji="1" lang="en-US" altLang="ko-KR" sz="1400" dirty="0"/>
              <a:t>2.2.2.0(2025/5/25 </a:t>
            </a:r>
            <a:r>
              <a:rPr kumimoji="1" lang="ko-KR" altLang="en-US" sz="1400" dirty="0"/>
              <a:t>컴파일</a:t>
            </a:r>
            <a:r>
              <a:rPr kumimoji="1" lang="en-US" altLang="ko-KR" sz="1400" dirty="0"/>
              <a:t>)</a:t>
            </a:r>
            <a:r>
              <a:rPr kumimoji="1" lang="ko-KR" altLang="en-US" sz="1400" dirty="0"/>
              <a:t>버전으로 업데이트 필요</a:t>
            </a:r>
            <a:endParaRPr kumimoji="1"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본 세미나에서는 하드웨어 종속석이 없는 </a:t>
            </a:r>
            <a:r>
              <a:rPr kumimoji="1" lang="en-US" altLang="ko-KR" sz="1400" dirty="0"/>
              <a:t>web </a:t>
            </a:r>
            <a:r>
              <a:rPr kumimoji="1" lang="ko-KR" altLang="en-US" sz="1400" dirty="0"/>
              <a:t>환경에서 업데이트를 진행</a:t>
            </a:r>
            <a:endParaRPr kumimoji="1"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b="1" dirty="0"/>
              <a:t>(</a:t>
            </a:r>
            <a:r>
              <a:rPr kumimoji="1" lang="ko-KR" altLang="en-US" sz="1400" b="1" dirty="0"/>
              <a:t>중요</a:t>
            </a:r>
            <a:r>
              <a:rPr kumimoji="1" lang="en-US" altLang="ko-KR" sz="1400" b="1" dirty="0"/>
              <a:t>)</a:t>
            </a:r>
            <a:r>
              <a:rPr kumimoji="1" lang="ko-KR" altLang="en-US" sz="1400" b="1" dirty="0"/>
              <a:t> 이때 </a:t>
            </a:r>
            <a:r>
              <a:rPr kumimoji="1" lang="en-US" altLang="ko-KR" sz="1400" b="1" dirty="0"/>
              <a:t>ESP12F</a:t>
            </a:r>
            <a:r>
              <a:rPr kumimoji="1" lang="ko-KR" altLang="en-US" sz="1400" b="1" dirty="0"/>
              <a:t>는 펌웨어 업데이트 모드에 진입해 </a:t>
            </a:r>
            <a:r>
              <a:rPr kumimoji="1" lang="ko-KR" altLang="en-US" sz="1400" b="1" dirty="0" err="1"/>
              <a:t>있어야함</a:t>
            </a:r>
            <a:endParaRPr kumimoji="1" lang="ko-KR" altLang="en-US" sz="1400" b="1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E417E2A-FCB1-60F8-7A86-C198C2467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516253"/>
            <a:ext cx="4195776" cy="42874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90A074-F249-783A-0ED9-C9300E22E893}"/>
              </a:ext>
            </a:extLst>
          </p:cNvPr>
          <p:cNvSpPr txBox="1"/>
          <p:nvPr/>
        </p:nvSpPr>
        <p:spPr>
          <a:xfrm>
            <a:off x="6096000" y="6029866"/>
            <a:ext cx="4078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hlinkClick r:id="rId3"/>
              </a:rPr>
              <a:t>https://</a:t>
            </a:r>
            <a:r>
              <a:rPr kumimoji="1" lang="en-US" altLang="ko-KR" dirty="0" err="1">
                <a:hlinkClick r:id="rId3"/>
              </a:rPr>
              <a:t>espressif.github.io</a:t>
            </a:r>
            <a:r>
              <a:rPr kumimoji="1" lang="en-US" altLang="ko-KR" dirty="0">
                <a:hlinkClick r:id="rId3"/>
              </a:rPr>
              <a:t>/</a:t>
            </a:r>
            <a:r>
              <a:rPr kumimoji="1" lang="en-US" altLang="ko-KR" dirty="0" err="1">
                <a:hlinkClick r:id="rId3"/>
              </a:rPr>
              <a:t>esptool-js</a:t>
            </a:r>
            <a:r>
              <a:rPr kumimoji="1" lang="en-US" altLang="ko-KR" dirty="0">
                <a:hlinkClick r:id="rId3"/>
              </a:rPr>
              <a:t>/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44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F68C9-08DE-4BFC-76F0-CDB2F5927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E6F14-C0FC-23B8-8A71-5325712F0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ESP12F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-1 FW Update</a:t>
            </a:r>
            <a:r>
              <a:rPr lang="ko-KR" altLang="en-US" sz="2800" dirty="0"/>
              <a:t> 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626630-147B-1851-C1B0-E028B4EEE02D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34504E-B955-A4FA-B0F7-730F813FF800}"/>
              </a:ext>
            </a:extLst>
          </p:cNvPr>
          <p:cNvSpPr txBox="1"/>
          <p:nvPr/>
        </p:nvSpPr>
        <p:spPr>
          <a:xfrm>
            <a:off x="8378035" y="2609753"/>
            <a:ext cx="36150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ko-KR" altLang="en-US" sz="1400" dirty="0" err="1"/>
              <a:t>보레이트를</a:t>
            </a:r>
            <a:r>
              <a:rPr kumimoji="1" lang="ko-KR" altLang="en-US" sz="1400" dirty="0"/>
              <a:t> 기본 </a:t>
            </a:r>
            <a:r>
              <a:rPr kumimoji="1" lang="en-US" altLang="ko-KR" sz="1400" dirty="0"/>
              <a:t>115200</a:t>
            </a:r>
            <a:r>
              <a:rPr kumimoji="1" lang="ko-KR" altLang="en-US" sz="1400" dirty="0" err="1"/>
              <a:t>으로</a:t>
            </a:r>
            <a:r>
              <a:rPr kumimoji="1" lang="ko-KR" altLang="en-US" sz="1400" dirty="0"/>
              <a:t> 설정</a:t>
            </a:r>
            <a:endParaRPr kumimoji="1" lang="en-US" altLang="ko-KR" sz="1400" dirty="0"/>
          </a:p>
          <a:p>
            <a:pPr marL="342900" indent="-342900">
              <a:buFont typeface="+mj-lt"/>
              <a:buAutoNum type="arabicPeriod"/>
            </a:pPr>
            <a:r>
              <a:rPr kumimoji="1" lang="ko-KR" altLang="en-US" sz="1400" dirty="0" err="1"/>
              <a:t>커넥트</a:t>
            </a:r>
            <a:r>
              <a:rPr kumimoji="1" lang="en-US" altLang="ko-KR" sz="1400" dirty="0"/>
              <a:t>(Connect)</a:t>
            </a:r>
            <a:r>
              <a:rPr kumimoji="1" lang="ko-KR" altLang="en-US" sz="1400" dirty="0"/>
              <a:t> 버튼 클릭</a:t>
            </a:r>
            <a:endParaRPr kumimoji="1" lang="en-US" altLang="ko-KR" sz="1400" dirty="0"/>
          </a:p>
          <a:p>
            <a:pPr marL="342900" indent="-342900">
              <a:buFont typeface="+mj-lt"/>
              <a:buAutoNum type="arabicPeriod"/>
            </a:pPr>
            <a:r>
              <a:rPr kumimoji="1" lang="en-US" altLang="ko-KR" sz="1400" dirty="0"/>
              <a:t>ARM</a:t>
            </a:r>
            <a:r>
              <a:rPr kumimoji="1" lang="ko-KR" altLang="en-US" sz="1400" dirty="0"/>
              <a:t>세미나 보드에 할당된 </a:t>
            </a:r>
            <a:r>
              <a:rPr kumimoji="1" lang="ko-KR" altLang="en-US" sz="1400" dirty="0" err="1"/>
              <a:t>컴포트</a:t>
            </a:r>
            <a:r>
              <a:rPr kumimoji="1" lang="ko-KR" altLang="en-US" sz="1400" dirty="0"/>
              <a:t> 클릭</a:t>
            </a:r>
            <a:endParaRPr kumimoji="1" lang="en-US" altLang="ko-KR" sz="1400" dirty="0"/>
          </a:p>
          <a:p>
            <a:pPr marL="342900" indent="-342900">
              <a:buFont typeface="+mj-lt"/>
              <a:buAutoNum type="arabicPeriod"/>
            </a:pPr>
            <a:r>
              <a:rPr kumimoji="1" lang="ko-KR" altLang="en-US" sz="1400" dirty="0"/>
              <a:t>연결 버튼 클릭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B649096-7809-3ED0-A4D7-2DD0FF8CD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73" y="2800627"/>
            <a:ext cx="4263925" cy="371870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26E6C0E-6631-EA5B-D37B-BE8AC99F8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2800" y="2880946"/>
            <a:ext cx="29464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8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2FCE1-665F-0E57-3CFD-8D4888CAB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C5786A-3931-4169-F438-F7E81E5DE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ESP12F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-1 FW Update</a:t>
            </a:r>
            <a:r>
              <a:rPr lang="ko-KR" altLang="en-US" sz="2800" dirty="0"/>
              <a:t> </a:t>
            </a:r>
            <a:r>
              <a:rPr lang="en-US" altLang="ko-KR" sz="2800" dirty="0"/>
              <a:t>#3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7364E5-6F56-AADF-D8B3-8DA5BA5C09DD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E7609D2-B19D-5343-D0FE-9AF1321F7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609753"/>
            <a:ext cx="5354728" cy="37112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B9C9BB7-1D5C-CDA2-7101-B727DDA72005}"/>
              </a:ext>
            </a:extLst>
          </p:cNvPr>
          <p:cNvSpPr txBox="1"/>
          <p:nvPr/>
        </p:nvSpPr>
        <p:spPr>
          <a:xfrm>
            <a:off x="6164206" y="2736806"/>
            <a:ext cx="518959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5.</a:t>
            </a:r>
            <a:r>
              <a:rPr kumimoji="1" lang="ko-KR" altLang="en-US" sz="1400" dirty="0"/>
              <a:t> 파일 선택 버튼 클릭 후 </a:t>
            </a:r>
            <a:r>
              <a:rPr kumimoji="1" lang="en-US" altLang="ko-KR" sz="1400" dirty="0" err="1"/>
              <a:t>github</a:t>
            </a:r>
            <a:r>
              <a:rPr kumimoji="1" lang="ko-KR" altLang="en-US" sz="1400" dirty="0" err="1"/>
              <a:t>에</a:t>
            </a:r>
            <a:r>
              <a:rPr kumimoji="1" lang="ko-KR" altLang="en-US" sz="1400" dirty="0"/>
              <a:t> 공유된 </a:t>
            </a:r>
            <a:r>
              <a:rPr kumimoji="1" lang="en-US" altLang="ko-KR" sz="1400" dirty="0"/>
              <a:t>.bin </a:t>
            </a:r>
            <a:r>
              <a:rPr kumimoji="1" lang="ko-KR" altLang="en-US" sz="1400" dirty="0"/>
              <a:t>파일 선택</a:t>
            </a:r>
            <a:endParaRPr kumimoji="1" lang="en-US" altLang="ko-KR" sz="1400" dirty="0"/>
          </a:p>
          <a:p>
            <a:r>
              <a:rPr kumimoji="1" lang="en-US" altLang="ko-KR" sz="1400" dirty="0"/>
              <a:t>6.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Flash Mode: </a:t>
            </a:r>
            <a:r>
              <a:rPr kumimoji="1" lang="en-US" altLang="ko-KR" sz="1400" dirty="0" err="1"/>
              <a:t>qio</a:t>
            </a:r>
            <a:r>
              <a:rPr kumimoji="1" lang="en-US" altLang="ko-KR" sz="1400" dirty="0"/>
              <a:t> | Frequency: 80m | Size 4MB </a:t>
            </a:r>
            <a:r>
              <a:rPr kumimoji="1" lang="ko-KR" altLang="en-US" sz="1400" dirty="0"/>
              <a:t>선택</a:t>
            </a:r>
            <a:r>
              <a:rPr kumimoji="1" lang="en-US" altLang="ko-KR" sz="1400" dirty="0"/>
              <a:t>(c1 </a:t>
            </a:r>
            <a:r>
              <a:rPr kumimoji="1" lang="ko-KR" altLang="en-US" sz="1400" dirty="0"/>
              <a:t>아님</a:t>
            </a:r>
            <a:r>
              <a:rPr kumimoji="1" lang="en-US" altLang="ko-KR" sz="1400" dirty="0"/>
              <a:t>)</a:t>
            </a:r>
          </a:p>
          <a:p>
            <a:r>
              <a:rPr kumimoji="1" lang="en-US" altLang="ko-KR" sz="1400" dirty="0"/>
              <a:t>7.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Flash Address</a:t>
            </a:r>
            <a:r>
              <a:rPr kumimoji="1" lang="ko-KR" altLang="en-US" sz="1400" dirty="0" err="1"/>
              <a:t>를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0x0</a:t>
            </a:r>
            <a:r>
              <a:rPr kumimoji="1" lang="ko-KR" altLang="en-US" sz="1400" dirty="0" err="1"/>
              <a:t>으로</a:t>
            </a:r>
            <a:r>
              <a:rPr kumimoji="1" lang="ko-KR" altLang="en-US" sz="1400" dirty="0"/>
              <a:t> 변경</a:t>
            </a:r>
            <a:endParaRPr kumimoji="1" lang="en-US" altLang="ko-KR" sz="1400" dirty="0"/>
          </a:p>
          <a:p>
            <a:r>
              <a:rPr kumimoji="1" lang="en-US" altLang="ko-KR" sz="1400" dirty="0"/>
              <a:t>8.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Program </a:t>
            </a:r>
            <a:r>
              <a:rPr kumimoji="1" lang="ko-KR" altLang="en-US" sz="1400" dirty="0"/>
              <a:t>버튼 클릭</a:t>
            </a:r>
            <a:endParaRPr kumimoji="1" lang="en-US" altLang="ko-KR" sz="1400" dirty="0"/>
          </a:p>
          <a:p>
            <a:endParaRPr kumimoji="1" lang="en-US" altLang="ko-KR" sz="1400" dirty="0"/>
          </a:p>
          <a:p>
            <a:r>
              <a:rPr kumimoji="1" lang="en-US" altLang="ko-KR" sz="1400" b="1" dirty="0"/>
              <a:t>(</a:t>
            </a:r>
            <a:r>
              <a:rPr kumimoji="1" lang="ko-KR" altLang="en-US" sz="1400" b="1" dirty="0"/>
              <a:t>중요</a:t>
            </a:r>
            <a:r>
              <a:rPr kumimoji="1" lang="en-US" altLang="ko-KR" sz="1400" b="1" dirty="0"/>
              <a:t>)</a:t>
            </a:r>
            <a:r>
              <a:rPr kumimoji="1" lang="ko-KR" altLang="en-US" sz="1400" b="1" dirty="0"/>
              <a:t> 이후 </a:t>
            </a:r>
            <a:r>
              <a:rPr kumimoji="1" lang="en-US" altLang="ko-KR" sz="1400" b="1" dirty="0"/>
              <a:t>ESP12F</a:t>
            </a:r>
            <a:r>
              <a:rPr kumimoji="1" lang="ko-KR" altLang="en-US" sz="1400" b="1" dirty="0"/>
              <a:t>가 </a:t>
            </a:r>
            <a:r>
              <a:rPr kumimoji="1" lang="en-US" altLang="ko-KR" sz="1400" b="1" dirty="0"/>
              <a:t>AT</a:t>
            </a:r>
            <a:r>
              <a:rPr kumimoji="1" lang="ko-KR" altLang="en-US" sz="1400" b="1" dirty="0"/>
              <a:t> 명령어로 동작하려면 </a:t>
            </a:r>
            <a:r>
              <a:rPr kumimoji="1" lang="en-US" altLang="ko-KR" sz="1400" b="1" dirty="0"/>
              <a:t>GPIO0</a:t>
            </a:r>
            <a:r>
              <a:rPr kumimoji="1" lang="ko-KR" altLang="en-US" sz="1400" b="1" dirty="0"/>
              <a:t>번에 </a:t>
            </a:r>
            <a:r>
              <a:rPr kumimoji="1" lang="en-US" altLang="ko-KR" sz="1400" b="1" dirty="0"/>
              <a:t>HIGH</a:t>
            </a:r>
            <a:r>
              <a:rPr kumimoji="1" lang="ko-KR" altLang="en-US" sz="1400" b="1" dirty="0"/>
              <a:t>신호가 들어간 상태에서 </a:t>
            </a:r>
            <a:r>
              <a:rPr kumimoji="1" lang="en-US" altLang="ko-KR" sz="1400" b="1" dirty="0"/>
              <a:t>Reset</a:t>
            </a:r>
            <a:r>
              <a:rPr kumimoji="1" lang="ko-KR" altLang="en-US" sz="1400" b="1" dirty="0"/>
              <a:t> </a:t>
            </a:r>
            <a:r>
              <a:rPr kumimoji="1" lang="ko-KR" altLang="en-US" sz="1400" b="1" dirty="0" err="1"/>
              <a:t>되어야함</a:t>
            </a:r>
            <a:endParaRPr kumimoji="1"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530276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EAC4-289B-26D2-EF2B-3699479FA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3119F-6E50-0C71-34B9-E195BCE4A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ESP12F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-2</a:t>
            </a:r>
            <a:r>
              <a:rPr lang="ko-KR" altLang="en-US" sz="2800" dirty="0"/>
              <a:t> </a:t>
            </a:r>
            <a:r>
              <a:rPr lang="en-US" altLang="ko-KR" sz="2800" dirty="0"/>
              <a:t>AT Command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060C7-66A1-CE41-5457-DE32362ECB99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70E3ED-F35B-F8E7-E7CC-B0D6F89DDF9C}"/>
              </a:ext>
            </a:extLst>
          </p:cNvPr>
          <p:cNvSpPr txBox="1"/>
          <p:nvPr/>
        </p:nvSpPr>
        <p:spPr>
          <a:xfrm>
            <a:off x="1130388" y="6338986"/>
            <a:ext cx="4313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ESP12F</a:t>
            </a:r>
            <a:r>
              <a:rPr kumimoji="1" lang="ko-KR" altLang="en-US" sz="1400" dirty="0"/>
              <a:t>는 </a:t>
            </a:r>
            <a:r>
              <a:rPr kumimoji="1" lang="en-US" altLang="ko-KR" sz="1400" dirty="0"/>
              <a:t>AT </a:t>
            </a:r>
            <a:r>
              <a:rPr kumimoji="1" lang="ko-KR" altLang="en-US" sz="1400" dirty="0"/>
              <a:t>명령어를 사용하여 </a:t>
            </a:r>
            <a:r>
              <a:rPr kumimoji="1" lang="en-US" altLang="ko-KR" sz="1400" dirty="0"/>
              <a:t>AP</a:t>
            </a:r>
            <a:r>
              <a:rPr kumimoji="1" lang="ko-KR" altLang="en-US" sz="1400" dirty="0"/>
              <a:t>와 통신한다</a:t>
            </a:r>
            <a:r>
              <a:rPr kumimoji="1" lang="en-US" altLang="ko-KR" sz="1400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5958322-8735-91ED-322D-813E84FB0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388" y="2757588"/>
            <a:ext cx="4399196" cy="335531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E4572D2-563B-98EA-5A5C-79C5216C59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122" y="2757588"/>
            <a:ext cx="4183252" cy="343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D4CBFF-D680-16AC-A9B4-BFAD7248F0A8}"/>
              </a:ext>
            </a:extLst>
          </p:cNvPr>
          <p:cNvSpPr txBox="1"/>
          <p:nvPr/>
        </p:nvSpPr>
        <p:spPr>
          <a:xfrm>
            <a:off x="6748382" y="6338985"/>
            <a:ext cx="38137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커맨드는 </a:t>
            </a:r>
            <a:r>
              <a:rPr kumimoji="1" lang="en-US" altLang="ko-KR" sz="1400" dirty="0"/>
              <a:t>”AT+</a:t>
            </a:r>
            <a:r>
              <a:rPr kumimoji="1" lang="ko-KR" altLang="en-US" sz="1400" dirty="0"/>
              <a:t>명령어</a:t>
            </a:r>
            <a:r>
              <a:rPr kumimoji="1" lang="en-US" altLang="ko-KR" sz="1400" dirty="0"/>
              <a:t>”</a:t>
            </a:r>
            <a:r>
              <a:rPr kumimoji="1" lang="ko-KR" altLang="en-US" sz="1400" dirty="0"/>
              <a:t> 조합으로 사용된다</a:t>
            </a:r>
            <a:r>
              <a:rPr kumimoji="1" lang="en-US" altLang="ko-KR" sz="1400" dirty="0"/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8DD640-C144-0411-57B0-E1A8CA5F7E2D}"/>
              </a:ext>
            </a:extLst>
          </p:cNvPr>
          <p:cNvSpPr txBox="1"/>
          <p:nvPr/>
        </p:nvSpPr>
        <p:spPr>
          <a:xfrm>
            <a:off x="8655250" y="2385704"/>
            <a:ext cx="2116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hlinkClick r:id="rId4"/>
              </a:rPr>
              <a:t>공식 </a:t>
            </a:r>
            <a:r>
              <a:rPr kumimoji="1" lang="en-US" altLang="ko-KR" dirty="0">
                <a:hlinkClick r:id="rId4"/>
              </a:rPr>
              <a:t>AT </a:t>
            </a:r>
            <a:r>
              <a:rPr kumimoji="1" lang="ko-KR" altLang="en-US" dirty="0">
                <a:hlinkClick r:id="rId4"/>
              </a:rPr>
              <a:t>명령어 </a:t>
            </a:r>
            <a:r>
              <a:rPr kumimoji="1" lang="en-US" altLang="ko-KR" dirty="0">
                <a:hlinkClick r:id="rId4"/>
              </a:rPr>
              <a:t>Set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8387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D2CA1-8166-3DA4-36FE-5359069B4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F336-42E9-CF1E-5CEC-8994D0786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ESP12F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-3</a:t>
            </a:r>
            <a:r>
              <a:rPr lang="ko-KR" altLang="en-US" sz="2800" dirty="0"/>
              <a:t> </a:t>
            </a:r>
            <a:r>
              <a:rPr lang="en-US" altLang="ko-KR" sz="2800" dirty="0"/>
              <a:t>AT Command </a:t>
            </a:r>
            <a:r>
              <a:rPr lang="ko-KR" altLang="en-US" sz="2800" dirty="0"/>
              <a:t>사용 예시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2403D-7511-EC38-5498-3023E8308842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A4E0F0-5CF5-FF3B-8AE7-B222846BA724}"/>
              </a:ext>
            </a:extLst>
          </p:cNvPr>
          <p:cNvSpPr txBox="1"/>
          <p:nvPr/>
        </p:nvSpPr>
        <p:spPr>
          <a:xfrm>
            <a:off x="484552" y="2366440"/>
            <a:ext cx="4621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AT+UART_CUR(</a:t>
            </a:r>
            <a:r>
              <a:rPr lang="ko-KR" altLang="en-US" dirty="0"/>
              <a:t>임시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AT+UART_DEF(</a:t>
            </a:r>
            <a:r>
              <a:rPr lang="ko-KR" altLang="en-US" dirty="0"/>
              <a:t>영구</a:t>
            </a:r>
            <a:r>
              <a:rPr lang="en-US" altLang="ko-KR" dirty="0"/>
              <a:t>)</a:t>
            </a:r>
            <a:endParaRPr kumimoji="1"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AA01FF1-DD9D-DC6F-245A-049C2F448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3605098"/>
            <a:ext cx="11007436" cy="210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36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299D7-5B02-2858-3D0B-9779D1625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E49F6-E9ED-5E9A-1D34-C963E225E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ESP12F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-4</a:t>
            </a:r>
            <a:r>
              <a:rPr lang="ko-KR" altLang="en-US" sz="2800" dirty="0"/>
              <a:t> </a:t>
            </a:r>
            <a:r>
              <a:rPr lang="en-US" altLang="ko-KR" sz="2800" dirty="0"/>
              <a:t>STM32</a:t>
            </a:r>
            <a:r>
              <a:rPr lang="ko-KR" altLang="en-US" sz="2800" dirty="0"/>
              <a:t>에서 사용하는 방법 </a:t>
            </a:r>
            <a:r>
              <a:rPr lang="en-US" altLang="ko-KR" sz="2800" dirty="0"/>
              <a:t>#1</a:t>
            </a:r>
            <a:r>
              <a:rPr lang="ko-KR" altLang="en-US" sz="2800" dirty="0"/>
              <a:t> </a:t>
            </a:r>
            <a:r>
              <a:rPr lang="en-US" altLang="ko-KR" sz="2800" dirty="0"/>
              <a:t>ATC </a:t>
            </a:r>
            <a:r>
              <a:rPr lang="ko-KR" altLang="en-US" sz="2800" dirty="0"/>
              <a:t>라이브러리 사용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D76FFF-2F80-D7E3-C2B3-D63DCE08DD90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BE2B9AF-A1D3-F523-6A54-B88806EA0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506812"/>
            <a:ext cx="3810000" cy="393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339950C-878A-3F73-A2C6-DE67420BD4A2}"/>
              </a:ext>
            </a:extLst>
          </p:cNvPr>
          <p:cNvSpPr txBox="1"/>
          <p:nvPr/>
        </p:nvSpPr>
        <p:spPr>
          <a:xfrm>
            <a:off x="1200765" y="6443812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라이브러리 없는 버전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1D263E5-2F78-87AC-EEBA-0A4EA7131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829" y="3566746"/>
            <a:ext cx="4381500" cy="1447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30F505-1F1D-2453-E405-B524E3451D63}"/>
              </a:ext>
            </a:extLst>
          </p:cNvPr>
          <p:cNvSpPr txBox="1"/>
          <p:nvPr/>
        </p:nvSpPr>
        <p:spPr>
          <a:xfrm>
            <a:off x="7197262" y="5092115"/>
            <a:ext cx="28746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ATC </a:t>
            </a:r>
            <a:r>
              <a:rPr kumimoji="1" lang="ko-KR" altLang="en-US" dirty="0"/>
              <a:t>라이브러리 사용 버전</a:t>
            </a:r>
          </a:p>
          <a:p>
            <a:endParaRPr kumimoji="1"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D5027F-BD2C-12DB-57BA-C57491A2FBCE}"/>
              </a:ext>
            </a:extLst>
          </p:cNvPr>
          <p:cNvSpPr txBox="1"/>
          <p:nvPr/>
        </p:nvSpPr>
        <p:spPr>
          <a:xfrm>
            <a:off x="5357229" y="2506812"/>
            <a:ext cx="54681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dirty="0"/>
              <a:t>만약</a:t>
            </a:r>
            <a:r>
              <a:rPr kumimoji="1" lang="en-US" altLang="ko-KR" dirty="0"/>
              <a:t> </a:t>
            </a:r>
            <a:r>
              <a:rPr kumimoji="1" lang="ko-KR" altLang="en-US" dirty="0"/>
              <a:t>통신속도를</a:t>
            </a:r>
            <a:r>
              <a:rPr lang="ko-KR" altLang="en-US" dirty="0"/>
              <a:t> </a:t>
            </a:r>
            <a:r>
              <a:rPr lang="en-US" altLang="ko-KR" dirty="0"/>
              <a:t>921600</a:t>
            </a:r>
            <a:r>
              <a:rPr lang="ko-KR" altLang="en-US" dirty="0" err="1"/>
              <a:t>으로</a:t>
            </a:r>
            <a:r>
              <a:rPr lang="ko-KR" altLang="en-US" dirty="0"/>
              <a:t> 영구 변경하고</a:t>
            </a:r>
            <a:r>
              <a:rPr lang="en-US" altLang="ko-KR" dirty="0"/>
              <a:t>,</a:t>
            </a:r>
          </a:p>
          <a:p>
            <a:r>
              <a:rPr kumimoji="1" lang="en-US" altLang="ko-KR" dirty="0" err="1"/>
              <a:t>SSID:”test</a:t>
            </a:r>
            <a:r>
              <a:rPr kumimoji="1" lang="en-US" altLang="ko-KR" dirty="0"/>
              <a:t>” | PW: “q1w2e3” </a:t>
            </a:r>
            <a:r>
              <a:rPr kumimoji="1" lang="en-US" altLang="ko-KR" dirty="0" err="1"/>
              <a:t>wifi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연결해야 한다면</a:t>
            </a:r>
            <a:r>
              <a:rPr kumimoji="1" lang="en-US" altLang="ko-KR" dirty="0"/>
              <a:t>?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59764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1DF24-AD1C-55E4-89F5-E448BBB14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45BA3-0526-E4B1-2E51-22B3D09C4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ESP12F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</a:t>
            </a:r>
            <a:r>
              <a:rPr lang="en-US" altLang="ko-KR" sz="2800" dirty="0"/>
              <a:t>-5</a:t>
            </a:r>
            <a:r>
              <a:rPr lang="ko-KR" altLang="en-US" sz="2800" dirty="0"/>
              <a:t> </a:t>
            </a:r>
            <a:r>
              <a:rPr lang="en-US" altLang="ko-KR" sz="2800" dirty="0"/>
              <a:t>STM32</a:t>
            </a:r>
            <a:r>
              <a:rPr lang="ko-KR" altLang="en-US" sz="2800" dirty="0"/>
              <a:t>에서 사용하는 방법 </a:t>
            </a:r>
            <a:r>
              <a:rPr lang="en-US" altLang="ko-KR" sz="2800" dirty="0"/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1F019-D8D6-12C1-ABB0-94BB715BE36F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22E9978-5B10-9ECF-7851-16640C304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829" y="3566746"/>
            <a:ext cx="4381500" cy="1447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5657D7-A25D-1734-C49C-DEBF8DCAE5E0}"/>
              </a:ext>
            </a:extLst>
          </p:cNvPr>
          <p:cNvSpPr txBox="1"/>
          <p:nvPr/>
        </p:nvSpPr>
        <p:spPr>
          <a:xfrm>
            <a:off x="7197262" y="5092115"/>
            <a:ext cx="287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ATC </a:t>
            </a:r>
            <a:r>
              <a:rPr kumimoji="1" lang="ko-KR" altLang="en-US" dirty="0"/>
              <a:t>라이브러리 사용 버전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B95DEE-786B-8C26-1F54-5D687770AEA2}"/>
              </a:ext>
            </a:extLst>
          </p:cNvPr>
          <p:cNvSpPr txBox="1"/>
          <p:nvPr/>
        </p:nvSpPr>
        <p:spPr>
          <a:xfrm>
            <a:off x="5357229" y="2506812"/>
            <a:ext cx="63371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dirty="0"/>
              <a:t>ATC </a:t>
            </a:r>
            <a:r>
              <a:rPr kumimoji="1" lang="ko-KR" altLang="en-US" dirty="0"/>
              <a:t>라이브러리를 사용해도 결국 커맨드를 입력해야 하기</a:t>
            </a:r>
            <a:br>
              <a:rPr kumimoji="1" lang="en-US" altLang="ko-KR" dirty="0"/>
            </a:br>
            <a:r>
              <a:rPr kumimoji="1" lang="ko-KR" altLang="en-US" dirty="0"/>
              <a:t>때문에</a:t>
            </a:r>
            <a:r>
              <a:rPr kumimoji="1" lang="en-US" altLang="ko-KR" dirty="0"/>
              <a:t> ATC API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사용한 상위 라이브러리를 설계</a:t>
            </a:r>
            <a:endParaRPr kumimoji="1"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3639112-8B38-A7F4-AAAC-BEA5D605B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52" y="2506812"/>
            <a:ext cx="3735277" cy="383984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AFFA09-4629-F5B3-73E6-DB9D9B6AFAA8}"/>
              </a:ext>
            </a:extLst>
          </p:cNvPr>
          <p:cNvSpPr txBox="1"/>
          <p:nvPr/>
        </p:nvSpPr>
        <p:spPr>
          <a:xfrm>
            <a:off x="914873" y="6346653"/>
            <a:ext cx="2791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API </a:t>
            </a:r>
            <a:r>
              <a:rPr kumimoji="1" lang="ko-KR" altLang="en-US" dirty="0"/>
              <a:t>라이브러리 사용 버전</a:t>
            </a:r>
          </a:p>
        </p:txBody>
      </p:sp>
    </p:spTree>
    <p:extLst>
      <p:ext uri="{BB962C8B-B14F-4D97-AF65-F5344CB8AC3E}">
        <p14:creationId xmlns:p14="http://schemas.microsoft.com/office/powerpoint/2010/main" val="65014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EC933-D8F1-D76C-915A-9E28BDC4B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BDA61B-24D4-E643-9053-45045526F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3-1 PIN </a:t>
            </a:r>
            <a:r>
              <a:rPr lang="ko-KR" altLang="en-US" sz="2800" dirty="0">
                <a:latin typeface="+mn-lt"/>
              </a:rPr>
              <a:t>설정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BF0030-355B-9981-0CA0-E7D6247A04A3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1186AEC-97D0-2EA8-82B4-E27681B17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469487"/>
            <a:ext cx="7023900" cy="41651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E774F67-873A-33E6-B967-5A8E576BBDD9}"/>
              </a:ext>
            </a:extLst>
          </p:cNvPr>
          <p:cNvSpPr txBox="1"/>
          <p:nvPr/>
        </p:nvSpPr>
        <p:spPr>
          <a:xfrm>
            <a:off x="7639322" y="2469487"/>
            <a:ext cx="371447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UART4_Tx: PA0</a:t>
            </a:r>
          </a:p>
          <a:p>
            <a:r>
              <a:rPr kumimoji="1" lang="en-US" altLang="ko-KR" dirty="0"/>
              <a:t>UART4_Rx: PA1</a:t>
            </a:r>
          </a:p>
          <a:p>
            <a:br>
              <a:rPr kumimoji="1" lang="en-US" altLang="ko-KR" dirty="0"/>
            </a:br>
            <a:r>
              <a:rPr kumimoji="1" lang="en-US" altLang="ko-KR" dirty="0"/>
              <a:t>ESP12F_GPIO0: PB0</a:t>
            </a:r>
          </a:p>
          <a:p>
            <a:r>
              <a:rPr kumimoji="1" lang="en-US" altLang="ko-KR" b="1" dirty="0"/>
              <a:t>ESP12F_GPIO15: PB1(</a:t>
            </a:r>
            <a:r>
              <a:rPr kumimoji="1" lang="ko-KR" altLang="en-US" b="1" dirty="0"/>
              <a:t>사용금지</a:t>
            </a:r>
            <a:r>
              <a:rPr kumimoji="1" lang="en-US" altLang="ko-KR" b="1" dirty="0"/>
              <a:t>)</a:t>
            </a:r>
          </a:p>
          <a:p>
            <a:r>
              <a:rPr kumimoji="1" lang="en-US" altLang="ko-KR" b="1" dirty="0"/>
              <a:t>ESP12F_RST: PB2(</a:t>
            </a:r>
            <a:r>
              <a:rPr kumimoji="1" lang="ko-KR" altLang="en-US" b="1" dirty="0"/>
              <a:t>사용금지</a:t>
            </a:r>
            <a:r>
              <a:rPr kumimoji="1" lang="en-US" altLang="ko-KR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0229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1D8E8-4103-5FD9-9471-9A9653984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E4AAF-2911-6E60-286F-DBDF3EE75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3-2 UART </a:t>
            </a:r>
            <a:r>
              <a:rPr lang="ko-KR" altLang="en-US" sz="2800" dirty="0">
                <a:latin typeface="+mn-lt"/>
              </a:rPr>
              <a:t>설정 </a:t>
            </a:r>
            <a:r>
              <a:rPr lang="en-US" altLang="ko-KR" sz="2800" dirty="0">
                <a:latin typeface="+mn-lt"/>
              </a:rPr>
              <a:t>#</a:t>
            </a:r>
            <a:r>
              <a:rPr lang="en-US" altLang="ko-KR" sz="2800" dirty="0" err="1">
                <a:latin typeface="+mn-lt"/>
              </a:rPr>
              <a:t>Baudrate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4EDE5B-7B3F-7AFD-F2DD-FAD0B365FB70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15A258-2BB9-1A37-C301-0A7A677AB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580612"/>
            <a:ext cx="4282456" cy="39122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E123C4-A663-9E10-8212-B6FDDF864D54}"/>
              </a:ext>
            </a:extLst>
          </p:cNvPr>
          <p:cNvSpPr txBox="1"/>
          <p:nvPr/>
        </p:nvSpPr>
        <p:spPr>
          <a:xfrm>
            <a:off x="7110580" y="2654153"/>
            <a:ext cx="37914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비동기 모드로 </a:t>
            </a:r>
            <a:r>
              <a:rPr kumimoji="1" lang="ko-KR" altLang="en-US" sz="1400" dirty="0" err="1"/>
              <a:t>보레이트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921600</a:t>
            </a:r>
            <a:r>
              <a:rPr kumimoji="1" lang="ko-KR" altLang="en-US" sz="1400" dirty="0" err="1"/>
              <a:t>으로</a:t>
            </a:r>
            <a:r>
              <a:rPr kumimoji="1" lang="ko-KR" altLang="en-US" sz="1400" dirty="0"/>
              <a:t> 설정</a:t>
            </a:r>
          </a:p>
        </p:txBody>
      </p:sp>
    </p:spTree>
    <p:extLst>
      <p:ext uri="{BB962C8B-B14F-4D97-AF65-F5344CB8AC3E}">
        <p14:creationId xmlns:p14="http://schemas.microsoft.com/office/powerpoint/2010/main" val="2590955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44304-0F4E-8216-747E-1D8A751CE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A1B39-15AD-0106-F6FB-6810920C1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3-2 UART </a:t>
            </a:r>
            <a:r>
              <a:rPr lang="ko-KR" altLang="en-US" sz="2800" dirty="0">
                <a:latin typeface="+mn-lt"/>
              </a:rPr>
              <a:t>설정</a:t>
            </a:r>
            <a:r>
              <a:rPr lang="en-US" altLang="ko-KR" sz="2800" dirty="0">
                <a:latin typeface="+mn-lt"/>
              </a:rPr>
              <a:t> #DMA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6BBB1F-6CA7-0354-9C97-0B0AACBDA028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E13B14-B304-5544-3ADC-BB86C32D9666}"/>
              </a:ext>
            </a:extLst>
          </p:cNvPr>
          <p:cNvSpPr txBox="1"/>
          <p:nvPr/>
        </p:nvSpPr>
        <p:spPr>
          <a:xfrm>
            <a:off x="6828115" y="2767162"/>
            <a:ext cx="49886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 err="1"/>
              <a:t>WiFi</a:t>
            </a:r>
            <a:r>
              <a:rPr kumimoji="1" lang="en-US" altLang="ko-KR" sz="1400" dirty="0"/>
              <a:t> Data</a:t>
            </a:r>
            <a:r>
              <a:rPr kumimoji="1" lang="ko-KR" altLang="en-US" sz="1400" dirty="0"/>
              <a:t>가 커서 </a:t>
            </a:r>
            <a:r>
              <a:rPr kumimoji="1" lang="ko-KR" altLang="en-US" sz="1400" dirty="0" err="1"/>
              <a:t>폴링</a:t>
            </a:r>
            <a:r>
              <a:rPr kumimoji="1" lang="ko-KR" altLang="en-US" sz="1400" dirty="0"/>
              <a:t> 방식으로 </a:t>
            </a:r>
            <a:r>
              <a:rPr kumimoji="1" lang="ko-KR" altLang="en-US" sz="1400" dirty="0" err="1"/>
              <a:t>할경우</a:t>
            </a:r>
            <a:r>
              <a:rPr kumimoji="1" lang="ko-KR" altLang="en-US" sz="1400" dirty="0"/>
              <a:t> 패킷 로스가 심해</a:t>
            </a:r>
            <a:br>
              <a:rPr kumimoji="1" lang="en-US" altLang="ko-KR" sz="1400" dirty="0"/>
            </a:br>
            <a:r>
              <a:rPr kumimoji="1" lang="en-US" altLang="ko-KR" sz="1400" dirty="0"/>
              <a:t>DMA</a:t>
            </a:r>
            <a:r>
              <a:rPr kumimoji="1" lang="ko-KR" altLang="en-US" sz="1400" dirty="0"/>
              <a:t> 방식으로 설정</a:t>
            </a:r>
            <a:r>
              <a:rPr kumimoji="1" lang="en-US" altLang="ko-KR" sz="1400" dirty="0"/>
              <a:t>(Rx</a:t>
            </a:r>
            <a:r>
              <a:rPr kumimoji="1" lang="ko-KR" altLang="en-US" sz="1400" dirty="0"/>
              <a:t> 중요도</a:t>
            </a:r>
            <a:r>
              <a:rPr kumimoji="1" lang="en-US" altLang="ko-KR" sz="1400" dirty="0"/>
              <a:t> High</a:t>
            </a:r>
            <a:r>
              <a:rPr kumimoji="1" lang="ko-KR" altLang="en-US" sz="1400" dirty="0"/>
              <a:t>로 설정</a:t>
            </a:r>
            <a:r>
              <a:rPr kumimoji="1" lang="en-US" altLang="ko-KR" sz="1400" dirty="0"/>
              <a:t>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774D045-6E63-5CEE-D808-07A2EE211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15" y="2767162"/>
            <a:ext cx="6413500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066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57D33-48B4-937D-403A-66EAD8FAB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AEECB4-614A-3286-24E0-38177F3D2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3-2 UART </a:t>
            </a:r>
            <a:r>
              <a:rPr lang="ko-KR" altLang="en-US" sz="2800" dirty="0">
                <a:latin typeface="+mn-lt"/>
              </a:rPr>
              <a:t>설정</a:t>
            </a:r>
            <a:r>
              <a:rPr lang="en-US" altLang="ko-KR" sz="2800" dirty="0">
                <a:latin typeface="+mn-lt"/>
              </a:rPr>
              <a:t> #NVIC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F9CDB-8798-60EA-995B-E063F42AAECE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76B326-0200-1E8C-F0DE-4F4FC86DC05C}"/>
              </a:ext>
            </a:extLst>
          </p:cNvPr>
          <p:cNvSpPr txBox="1"/>
          <p:nvPr/>
        </p:nvSpPr>
        <p:spPr>
          <a:xfrm>
            <a:off x="6828115" y="2767162"/>
            <a:ext cx="37758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UART4 </a:t>
            </a:r>
            <a:r>
              <a:rPr kumimoji="1" lang="ko-KR" altLang="en-US" sz="1400" dirty="0"/>
              <a:t>글로벌 인터럽트를 활성화 해준다</a:t>
            </a:r>
            <a:r>
              <a:rPr kumimoji="1" lang="en-US" altLang="ko-KR" sz="14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0DA5808-048F-640F-A200-14655846BF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15" y="3907836"/>
            <a:ext cx="65532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58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C9989-ABAC-D6DB-42EF-2DBAC64E4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07186-F975-5BD7-7E2E-A5CE3BF07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3-3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ATC</a:t>
            </a:r>
            <a:r>
              <a:rPr lang="ko-KR" altLang="en-US" sz="2800" dirty="0">
                <a:latin typeface="+mn-lt"/>
              </a:rPr>
              <a:t> 라이브러리 사용법 </a:t>
            </a:r>
            <a:r>
              <a:rPr lang="en-US" altLang="ko-KR" sz="2800" dirty="0">
                <a:latin typeface="+mn-lt"/>
              </a:rPr>
              <a:t>#1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D7306-8359-15AB-6C69-4BE7314F15DB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CBF2F9-7A2C-1F55-1A90-DCAB2922F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18" y="2671912"/>
            <a:ext cx="5016500" cy="3606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1090BC-B7EC-8C12-2E73-2A41BFE295BA}"/>
              </a:ext>
            </a:extLst>
          </p:cNvPr>
          <p:cNvSpPr txBox="1"/>
          <p:nvPr/>
        </p:nvSpPr>
        <p:spPr>
          <a:xfrm>
            <a:off x="5919176" y="2671912"/>
            <a:ext cx="5029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ATC_Loop</a:t>
            </a:r>
            <a:r>
              <a:rPr kumimoji="1" lang="en-US" altLang="ko-KR" dirty="0"/>
              <a:t>() </a:t>
            </a:r>
            <a:r>
              <a:rPr kumimoji="1" lang="ko-KR" altLang="en-US" dirty="0"/>
              <a:t>함수가 </a:t>
            </a:r>
            <a:r>
              <a:rPr kumimoji="1" lang="en-US" altLang="ko-KR" dirty="0"/>
              <a:t>while</a:t>
            </a:r>
            <a:r>
              <a:rPr kumimoji="1" lang="ko-KR" altLang="en-US" dirty="0"/>
              <a:t> 문에서 지속 호출되어</a:t>
            </a:r>
            <a:br>
              <a:rPr kumimoji="1" lang="en-US" altLang="ko-KR" dirty="0"/>
            </a:br>
            <a:r>
              <a:rPr kumimoji="1" lang="ko-KR" altLang="en-US" dirty="0"/>
              <a:t>이벤트를 감지한다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5218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E8470-84B2-ABD0-53F6-2982E7491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FD5EE3-441A-6A20-CB57-291D69F99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3-3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ATC</a:t>
            </a:r>
            <a:r>
              <a:rPr lang="ko-KR" altLang="en-US" sz="2800" dirty="0">
                <a:latin typeface="+mn-lt"/>
              </a:rPr>
              <a:t> 라이브러리 사용법 </a:t>
            </a:r>
            <a:r>
              <a:rPr lang="en-US" altLang="ko-KR" sz="2800" dirty="0">
                <a:latin typeface="+mn-lt"/>
              </a:rPr>
              <a:t>#2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5ECE1B-1F71-BEEC-A378-5EA07E9856E5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0125CF-A545-CFA2-B54D-296874466828}"/>
              </a:ext>
            </a:extLst>
          </p:cNvPr>
          <p:cNvSpPr txBox="1"/>
          <p:nvPr/>
        </p:nvSpPr>
        <p:spPr>
          <a:xfrm>
            <a:off x="484552" y="5268041"/>
            <a:ext cx="7159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ESP12F</a:t>
            </a:r>
            <a:r>
              <a:rPr kumimoji="1" lang="ko-KR" altLang="en-US" dirty="0"/>
              <a:t>로부터 가변 데이터가 들어오므로 인터럽트 </a:t>
            </a:r>
            <a:r>
              <a:rPr kumimoji="1" lang="ko-KR" altLang="en-US" dirty="0" err="1"/>
              <a:t>콜백</a:t>
            </a:r>
            <a:r>
              <a:rPr kumimoji="1" lang="ko-KR" altLang="en-US" dirty="0"/>
              <a:t> 함수가 아닌</a:t>
            </a:r>
            <a:br>
              <a:rPr kumimoji="1" lang="en-US" altLang="ko-KR" dirty="0"/>
            </a:br>
            <a:r>
              <a:rPr kumimoji="1" lang="en-US" altLang="ko-KR" dirty="0"/>
              <a:t>Rx</a:t>
            </a:r>
            <a:r>
              <a:rPr kumimoji="1" lang="ko-KR" altLang="en-US" dirty="0"/>
              <a:t> 이벤트 </a:t>
            </a:r>
            <a:r>
              <a:rPr kumimoji="1" lang="ko-KR" altLang="en-US" dirty="0" err="1"/>
              <a:t>콜백</a:t>
            </a:r>
            <a:r>
              <a:rPr kumimoji="1" lang="ko-KR" altLang="en-US" dirty="0"/>
              <a:t> 함수를 사용하여 </a:t>
            </a:r>
            <a:r>
              <a:rPr kumimoji="1" lang="en-US" altLang="ko-KR" dirty="0"/>
              <a:t>Size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받아와 </a:t>
            </a:r>
            <a:r>
              <a:rPr kumimoji="1" lang="en-US" altLang="ko-KR" dirty="0"/>
              <a:t>ATC</a:t>
            </a:r>
            <a:r>
              <a:rPr kumimoji="1" lang="ko-KR" altLang="en-US" dirty="0"/>
              <a:t>로 전달해 준다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CE38541-C1E1-715A-F137-C8E30D60B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3095350"/>
            <a:ext cx="7772400" cy="1564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838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A1E2-4843-3453-9C3B-0DD866E7C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6" descr="회로판">
            <a:extLst>
              <a:ext uri="{FF2B5EF4-FFF2-40B4-BE49-F238E27FC236}">
                <a16:creationId xmlns:a16="http://schemas.microsoft.com/office/drawing/2014/main" id="{3D66C316-4A15-0C2C-ECA8-87D92DD79B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EAFD4EDB-36E0-FA4B-35C0-29693390714A}"/>
              </a:ext>
            </a:extLst>
          </p:cNvPr>
          <p:cNvSpPr/>
          <p:nvPr/>
        </p:nvSpPr>
        <p:spPr>
          <a:xfrm>
            <a:off x="0" y="0"/>
            <a:ext cx="12192000" cy="2295592"/>
          </a:xfrm>
          <a:prstGeom prst="rect">
            <a:avLst/>
          </a:prstGeom>
          <a:solidFill>
            <a:srgbClr val="46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9F8BA0-8C47-7567-C109-749388124145}"/>
              </a:ext>
            </a:extLst>
          </p:cNvPr>
          <p:cNvSpPr txBox="1"/>
          <p:nvPr/>
        </p:nvSpPr>
        <p:spPr>
          <a:xfrm>
            <a:off x="5494308" y="240075"/>
            <a:ext cx="1203383" cy="1815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ko-KR" alt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실습</a:t>
            </a:r>
          </a:p>
        </p:txBody>
      </p:sp>
    </p:spTree>
    <p:extLst>
      <p:ext uri="{BB962C8B-B14F-4D97-AF65-F5344CB8AC3E}">
        <p14:creationId xmlns:p14="http://schemas.microsoft.com/office/powerpoint/2010/main" val="1261341934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4729</TotalTime>
  <Words>700</Words>
  <Application>Microsoft Macintosh PowerPoint</Application>
  <PresentationFormat>와이드스크린</PresentationFormat>
  <Paragraphs>95</Paragraphs>
  <Slides>23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맑은 고딕</vt:lpstr>
      <vt:lpstr>Arial</vt:lpstr>
      <vt:lpstr>Avenir Next LT Pro</vt:lpstr>
      <vt:lpstr>Bahnschrift</vt:lpstr>
      <vt:lpstr>MatrixVTI</vt:lpstr>
      <vt:lpstr>ARM Processor </vt:lpstr>
      <vt:lpstr>응용문제 </vt:lpstr>
      <vt:lpstr>ARM Processor Seminar Roadmap</vt:lpstr>
      <vt:lpstr>PowerPoint 프레젠테이션</vt:lpstr>
      <vt:lpstr>1. WiFi Module 1-1 STM32에서 WiFi를 사용하는 방법</vt:lpstr>
      <vt:lpstr>1. WiFi Module 1-2 ESP8266 vs ESP32</vt:lpstr>
      <vt:lpstr>1. WiFi Module 1-3 ESP-12F 사양</vt:lpstr>
      <vt:lpstr>1. WiFi Module 1-4 *ARM Training Kit v2.0 HW Issue</vt:lpstr>
      <vt:lpstr>2. ESP12F 2-5 STM32에서 사용하는 방법 #2</vt:lpstr>
      <vt:lpstr>2. ESP12F 2-1 FW Update #1</vt:lpstr>
      <vt:lpstr>2. ESP12F 2-1 FW Update #2</vt:lpstr>
      <vt:lpstr>2. ESP12F 2-1 FW Update #3</vt:lpstr>
      <vt:lpstr>2. ESP12F 2-2 AT Command</vt:lpstr>
      <vt:lpstr>2. ESP12F 2-3 AT Command 사용 예시</vt:lpstr>
      <vt:lpstr>2. ESP12F 2-4 STM32에서 사용하는 방법 #1 ATC 라이브러리 사용</vt:lpstr>
      <vt:lpstr>2. ESP12F 2-5 STM32에서 사용하는 방법 #2</vt:lpstr>
      <vt:lpstr>3. STM32CubeMX 3-1 PIN 설정</vt:lpstr>
      <vt:lpstr>3. STM32CubeMX 3-2 UART 설정 #Baudrate</vt:lpstr>
      <vt:lpstr>3. STM32CubeMX 3-2 UART 설정 #DMA</vt:lpstr>
      <vt:lpstr>3. STM32CubeMX 3-2 UART 설정 #NVIC</vt:lpstr>
      <vt:lpstr>3. STM32CubeMX 3-3 ATC 라이브러리 사용법 #1</vt:lpstr>
      <vt:lpstr>3. STM32CubeMX 3-3 ATC 라이브러리 사용법 #2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Processor 세미나</dc:title>
  <dc:creator>mta</dc:creator>
  <cp:lastModifiedBy>mta</cp:lastModifiedBy>
  <cp:revision>1456</cp:revision>
  <dcterms:created xsi:type="dcterms:W3CDTF">2023-04-01T05:56:39Z</dcterms:created>
  <dcterms:modified xsi:type="dcterms:W3CDTF">2026-01-14T20:01:34Z</dcterms:modified>
</cp:coreProperties>
</file>