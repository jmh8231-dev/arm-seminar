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27"/>
  </p:notesMasterIdLst>
  <p:sldIdLst>
    <p:sldId id="256" r:id="rId2"/>
    <p:sldId id="405" r:id="rId3"/>
    <p:sldId id="258" r:id="rId4"/>
    <p:sldId id="464" r:id="rId5"/>
    <p:sldId id="495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503" r:id="rId14"/>
    <p:sldId id="504" r:id="rId15"/>
    <p:sldId id="505" r:id="rId16"/>
    <p:sldId id="507" r:id="rId17"/>
    <p:sldId id="506" r:id="rId18"/>
    <p:sldId id="463" r:id="rId19"/>
    <p:sldId id="508" r:id="rId20"/>
    <p:sldId id="509" r:id="rId21"/>
    <p:sldId id="510" r:id="rId22"/>
    <p:sldId id="511" r:id="rId23"/>
    <p:sldId id="512" r:id="rId24"/>
    <p:sldId id="494" r:id="rId25"/>
    <p:sldId id="513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AECD4F-9523-4815-827E-2B8DD5C14A03}">
          <p14:sldIdLst>
            <p14:sldId id="256"/>
            <p14:sldId id="405"/>
            <p14:sldId id="258"/>
            <p14:sldId id="46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7"/>
            <p14:sldId id="506"/>
            <p14:sldId id="463"/>
            <p14:sldId id="508"/>
            <p14:sldId id="509"/>
            <p14:sldId id="510"/>
            <p14:sldId id="511"/>
            <p14:sldId id="512"/>
            <p14:sldId id="494"/>
            <p14:sldId id="5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4661"/>
  </p:normalViewPr>
  <p:slideViewPr>
    <p:cSldViewPr snapToGrid="0">
      <p:cViewPr varScale="1">
        <p:scale>
          <a:sx n="199" d="100"/>
          <a:sy n="199" d="100"/>
        </p:scale>
        <p:origin x="2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4T11:27:31.7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1029 24575,'0'-4'0,"0"-6"0,4-6 0,0-8 0,4-6 0,0 1 0,1-3 0,-3 4 0,1 2 0,-4 4 0,4 3 0,-4 3 0,3 2 0,0 3 0,-4-1 0,4 2 0,-2-8 0,0-1 0,5-9 0,-2-1 0,3-10 0,0 2 0,-2-6 0,2 0 0,-2 2 0,-2 2 0,0 0 0,-2 6 0,2 2 0,-3 5 0,2 7 0,-4 5 0,0 4 0,-1 4 0,2-4 0,0-2 0,2-7 0,0-7 0,0-3 0,1 0 0,-1 1 0,0 5 0,-2 4 0,0 7 0,-2 8 0,0 4 0,1 2 0,2 6 0,2 4 0,2 8 0,1 8 0,2 8 0,2 7 0,4 16 0,2 2 0,0 7 0,2-4 0,-2-9 0,1-3 0,-3-15 0,-4-6 0,-4-10 0,-2-5 0,-2-3 0,0 1 0,2 2 0,0 6 0,2-1 0,0 4 0,0-2 0,-2 5 0,0-5 0,0 2 0,-2-6 0,2-1 0,-4-4 0,2-2 0,-2 0 0,1-2 0,-2 0 0,1-2 0,-1 2 0,0-3 0,1 0 0,0-3 0,1 2 0,-2 0 0,1 4 0,-1-1 0,0-1 0,-1-3 0,2-2 0,-1 0 0,0 0 0,-1-1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4T11:27:47.1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1 656 24575,'0'-4'0,"0"-3"0,0 2 0,3-12 0,0 1 0,4-10 0,-2 3 0,2-3 0,-2 5 0,6-11 0,0 4 0,5-10 0,-4 7 0,0-5 0,-2 1 0,-2 1 0,2 4 0,-2 5 0,-1 5 0,0 0 0,-1-3 0,2-1 0,-1-1 0,-1 0 0,-2 6 0,0 2 0,-2 4 0,1 1 0,-2 2 0,1 3 0,-2 1 0,0 6 0,1 2 0,0 4 0,2 6 0,0 6 0,3 6 0,0 11 0,4-2 0,0 8 0,0-4 0,-2 5 0,0-4 0,0 2 0,2 0 0,-1-4 0,0-3 0,-4-9 0,2-3 0,-2-4 0,-1-2 0,1 2 0,-2 0 0,2 1 0,-1 0 0,1 0 0,-1-3 0,-2 2 0,1-4 0,-2-3 0,1-1 0,-1-6 0,0 1 0,1-4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4T11:27:49.8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1 875 24575,'0'-4'0,"0"-6"0,0 1 0,0-3 0,0 2 0,0 0 0,1 3 0,2-6 0,3-5 0,2-13 0,2-9 0,2-3 0,-2 6 0,-2 3 0,-2 10 0,-2 3 0,-2 4 0,2-5 0,0 1 0,0-5 0,6-1 0,-3 0 0,2 1 0,1-1 0,-1 3 0,2-5 0,0-2 0,-1-5 0,3-2 0,0 1 0,-2 7 0,0 3 0,-5 5 0,0 5 0,0 1 0,-4 6 0,0 1 0,0 5 0,-2 1 0,2-3 0,0-1 0,-2-1 0,4 4 0,-4 4 0,2 2 0,-2 2 0,0 0 0,2 9 0,2 4 0,4 18 0,4 8 0,1 14 0,-1 2 0,-1 5 0,1-3 0,4 1 0,3-2 0,1-3 0,-2 1 0,-2-15 0,-5-5 0,-4-16 0,-3-12 0,-2-3 0,0-4 0,-2 2 0,2 5 0,2 5 0,-1 1 0,2 0 0,-4-5 0,0-4 0,-1-3 0,0 0 0,2-2 0,-1 2 0,0-4 0,-1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A3A56-EDB2-4B73-A1CB-5609952E432E}" type="datetimeFigureOut">
              <a:rPr lang="ko-KR" altLang="en-US" smtClean="0"/>
              <a:t>2026. 1. 5.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DC4E7-C879-4C34-B87B-3BCA38CC4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9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864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B486B-6536-44F1-182C-29DDC76C4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33D80B-6AC2-416A-FAB1-FBA3CC94A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BE05B7-D559-139A-C33C-D85485921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E569D4-8C69-D68B-7EFE-9A2F7A159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461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3FDC5-B1F5-74BC-2030-E8A4E500B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903D75-FF9D-4E43-922A-60B56E86B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8E1266-1BE3-1C90-A17E-E9C80BA11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0DFFBA-9291-C26B-0A1D-0A9C3E49F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380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B20B9-C665-5F09-B760-4B6820F99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ACBDB9-1C35-6F60-D6E3-CD928D0F7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BD2319-F2FD-D492-57E9-4765C3929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05CE55-28A3-E2D3-27E6-B1D17AFB7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742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9E44F-E47C-5CA3-CCFC-09CD7DB5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4E0FD4-EEB1-9123-AE11-A04994515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9DF74F-8CF6-1517-F5F0-1E6A5BE02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AA7405-BAFD-4B31-DCCC-9413E0DF5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152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9CC0F-1C28-4875-2963-A1FF594EA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16908A-5A33-D401-6A88-E3ACADD39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8F72C5-D42E-31E1-A9DA-2CECCD349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39571C-D6B1-C400-83F5-BE2CE9613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32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7309C-822B-4F3B-DA7E-8F5ADD17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30F6A9-9E04-B544-C7AB-C1E42F056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B96219-7533-822C-CF35-9C0B06D37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12E875-157B-5B19-8F8D-0D23BBD8D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744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DD645-D351-31F9-1E11-9AA91DE95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9F88E4-B7F8-9D79-2F5D-310BE36ED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ED1F72-F764-F380-1894-FADA106DC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28DC4B-9AC9-E5A4-0CB3-22B5F4D5A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864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AC41B-63AB-B6E1-27FB-BCB45C224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B38C06-BA0A-AF04-C82F-6D15DED75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2F6955-2ACF-7661-C97E-8879EEFAA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58AC0F-C1BC-31D8-E5A2-04B4CBF79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530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6148D-BDDD-E9AB-047D-3BC96762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26FB8B-B845-08F3-CDD1-FA7CCADF3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3BD018-69C7-2C4F-7098-F48F81ECA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232E20-ECAF-D480-495D-426564ED7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68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C362-520C-5C62-DA38-D301D1C8E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DA10A5-8DA0-3C6C-AB5E-47C13C0AF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49B7D9-95AD-2A56-B26D-315DFC3B8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CD7787-B49E-CD09-10DD-5914EC9C3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107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92199-6DF2-624E-A893-17288A376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4DC8FB-7048-CC07-C0B9-C814391EB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CA5C3A-AC77-42B8-BEA6-B254C58E0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44C938-76FD-DF71-1593-3CBA87ECA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394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791D9-FE31-EE00-90F7-C6DFED5C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98DF12-1049-4176-C74F-979389B96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37DA9B-630C-DDAA-8050-538B3D6BB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303BD2-465E-EFC4-8A54-44DEBEB52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246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7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 userDrawn="1"/>
        </p:nvGrpSpPr>
        <p:grpSpPr>
          <a:xfrm>
            <a:off x="0" y="1207336"/>
            <a:ext cx="12192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D6C00-E83E-4187-903F-A0A515BA9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38" y="2079876"/>
            <a:ext cx="3052087" cy="147559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STYLE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63" y="3587769"/>
            <a:ext cx="1726129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20XX-20XX</a:t>
            </a:r>
            <a:endParaRPr lang="ru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3" y="3927199"/>
            <a:ext cx="1726129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3 Years Plan</a:t>
            </a:r>
            <a:endParaRPr lang="ru-RU" dirty="0"/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61963" y="5725379"/>
            <a:ext cx="950912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ru-RU"/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65129" y="863644"/>
            <a:ext cx="1044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968" y="84398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8435" y="436306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BAC82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78434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9136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2681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81BF3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2680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03304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55391" y="43779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2CA05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390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7472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6873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1B866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06872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05088" y="1917406"/>
            <a:ext cx="1044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472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05170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0C6D8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5169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304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55390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403474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55389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59136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20978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571B6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0977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968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1198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6F0066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1197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88092" y="3979528"/>
            <a:ext cx="1044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4968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5657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75656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59136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23464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3463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3304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59849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E8611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59848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7472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07656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07655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93432" y="4973439"/>
            <a:ext cx="1044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E081-530B-464A-B47C-C858A60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5888" y="550858"/>
            <a:ext cx="2743200" cy="176716"/>
          </a:xfrm>
          <a:prstGeom prst="rect">
            <a:avLst/>
          </a:prstGeom>
        </p:spPr>
        <p:txBody>
          <a:bodyPr/>
          <a:lstStyle/>
          <a:p>
            <a:fld id="{F0BF70C0-85C8-4782-A2DC-740B0F58DBF8}" type="datetime1">
              <a:rPr lang="ru-RU" smtClean="0"/>
              <a:t>05.01.2026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F57F-FEA7-4D09-AA29-F32AA55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428B-5ACF-4E79-A091-05E2328DA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8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03" r:id="rId6"/>
    <p:sldLayoutId id="2147483899" r:id="rId7"/>
    <p:sldLayoutId id="2147483900" r:id="rId8"/>
    <p:sldLayoutId id="2147483901" r:id="rId9"/>
    <p:sldLayoutId id="2147483902" r:id="rId10"/>
    <p:sldLayoutId id="2147483904" r:id="rId11"/>
    <p:sldLayoutId id="2147483918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EB309-3929-FF0E-BDEF-07DD4701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439" y="1673361"/>
            <a:ext cx="5230446" cy="1227221"/>
          </a:xfrm>
        </p:spPr>
        <p:txBody>
          <a:bodyPr anchor="ctr">
            <a:normAutofit fontScale="90000"/>
          </a:bodyPr>
          <a:lstStyle/>
          <a:p>
            <a:r>
              <a:rPr lang="en-US" altLang="ko-KR" dirty="0"/>
              <a:t>ARM Processor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1026" name="Picture 2" descr="Cortex-M4">
            <a:extLst>
              <a:ext uri="{FF2B5EF4-FFF2-40B4-BE49-F238E27FC236}">
                <a16:creationId xmlns:a16="http://schemas.microsoft.com/office/drawing/2014/main" id="{1F1D1580-B74F-5C60-C967-772F8BEE3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" r="10734" b="-4"/>
          <a:stretch/>
        </p:blipFill>
        <p:spPr bwMode="auto">
          <a:xfrm>
            <a:off x="6095998" y="0"/>
            <a:ext cx="609600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D9FB2-EF99-4CCA-9CDB-EB444E8BDB51}"/>
              </a:ext>
            </a:extLst>
          </p:cNvPr>
          <p:cNvSpPr txBox="1"/>
          <p:nvPr/>
        </p:nvSpPr>
        <p:spPr>
          <a:xfrm>
            <a:off x="1048811" y="6398251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/>
              <a:t>Robotics </a:t>
            </a:r>
            <a:r>
              <a:rPr lang="ko-KR" altLang="en-US" b="1" dirty="0"/>
              <a:t>정명훈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83F3-D723-6F86-C98E-DCC005282A53}"/>
              </a:ext>
            </a:extLst>
          </p:cNvPr>
          <p:cNvSpPr txBox="1"/>
          <p:nvPr/>
        </p:nvSpPr>
        <p:spPr>
          <a:xfrm>
            <a:off x="3850105" y="2346585"/>
            <a:ext cx="270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세미나 </a:t>
            </a:r>
            <a:r>
              <a:rPr lang="en-US" altLang="ko-KR" dirty="0">
                <a:solidFill>
                  <a:schemeClr val="bg1"/>
                </a:solidFill>
              </a:rPr>
              <a:t>10</a:t>
            </a:r>
            <a:r>
              <a:rPr lang="ko-KR" altLang="en-US" dirty="0">
                <a:solidFill>
                  <a:schemeClr val="bg1"/>
                </a:solidFill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26700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CB4C-B5E1-4756-815D-BC6EC8E7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189332"/>
            <a:ext cx="11534862" cy="686113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ARM Processor Seminar Roadmap</a:t>
            </a:r>
            <a:endParaRPr lang="ru-RU" sz="4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06A44-50E7-4C10-ABF1-71CE55A094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8041" y="2905510"/>
            <a:ext cx="1044000" cy="1044000"/>
          </a:xfrm>
        </p:spPr>
        <p:txBody>
          <a:bodyPr/>
          <a:lstStyle/>
          <a:p>
            <a:r>
              <a:rPr lang="en-US" dirty="0"/>
              <a:t>10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5D376EC-609C-46F1-A4A6-22B3BCBA977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036976" y="4067055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CAN</a:t>
            </a:r>
            <a:endParaRPr lang="ru-RU" b="1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BD9AA2-DFE1-412D-BB95-7989BA1E60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9113" y="2930232"/>
            <a:ext cx="1044000" cy="1044000"/>
          </a:xfrm>
        </p:spPr>
        <p:txBody>
          <a:bodyPr/>
          <a:lstStyle/>
          <a:p>
            <a:r>
              <a:rPr lang="en-US" altLang="ko-KR" b="1" dirty="0"/>
              <a:t>11</a:t>
            </a:r>
            <a:r>
              <a:rPr lang="ko-KR" altLang="en-US" b="1" dirty="0"/>
              <a:t>주</a:t>
            </a:r>
            <a:endParaRPr lang="ru-RU" b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B5D9C5D-1FCA-4D88-ADCB-481D203B846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098047" y="252824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 err="1"/>
              <a:t>FreeRTOS</a:t>
            </a:r>
            <a:endParaRPr lang="ru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DFF132-912B-4B2B-B3E5-D1AB199B5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32758" y="2924536"/>
            <a:ext cx="1044000" cy="1044000"/>
          </a:xfrm>
        </p:spPr>
        <p:txBody>
          <a:bodyPr/>
          <a:lstStyle/>
          <a:p>
            <a:r>
              <a:rPr lang="en-US" altLang="ko-KR" dirty="0"/>
              <a:t>12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7AEBAB8-BDEB-4E4A-B443-829D3C340CA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191693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IOT </a:t>
            </a:r>
            <a:r>
              <a:rPr lang="ko-KR" altLang="en-US" dirty="0"/>
              <a:t>개발환경 구축 및</a:t>
            </a:r>
            <a:endParaRPr lang="en-US" altLang="ko-K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950DBC3-6438-47ED-BA7E-BBD7E08290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888" y="2902597"/>
            <a:ext cx="1044000" cy="1044000"/>
          </a:xfrm>
        </p:spPr>
        <p:txBody>
          <a:bodyPr/>
          <a:lstStyle/>
          <a:p>
            <a:r>
              <a:rPr lang="en-US" altLang="ko-KR" dirty="0"/>
              <a:t>13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1435C51-CB8E-41E5-8C00-34ADCC273A3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367823" y="2528249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 err="1"/>
              <a:t>WiFi</a:t>
            </a:r>
            <a:r>
              <a:rPr lang="en-US" altLang="ko-KR" dirty="0"/>
              <a:t> Module </a:t>
            </a:r>
            <a:r>
              <a:rPr lang="ko-KR" altLang="en-US" dirty="0"/>
              <a:t>사용법</a:t>
            </a:r>
            <a:endParaRPr lang="ru-RU" altLang="ko-KR" dirty="0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7C0ECD94-A4CB-4FB7-A7F7-AA32C0ED85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altLang="ko-KR" dirty="0"/>
              <a:t>14</a:t>
            </a:r>
            <a:r>
              <a:rPr lang="ko-KR" altLang="en-US" dirty="0"/>
              <a:t>주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0624EF-8210-444B-9BC7-2C144038C2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08888" y="4965034"/>
            <a:ext cx="1044000" cy="1044000"/>
          </a:xfrm>
        </p:spPr>
        <p:txBody>
          <a:bodyPr/>
          <a:lstStyle/>
          <a:p>
            <a:r>
              <a:rPr lang="en-US" altLang="ko-KR" dirty="0"/>
              <a:t>15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F4A9D67-1B01-4CF8-AC0D-C7E518691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67823" y="4556509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/>
              <a:t>전원관리기법</a:t>
            </a:r>
            <a:endParaRPr lang="ru-RU" altLang="ko-KR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073D15E-3E59-4781-BA50-8D741A373A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74000" y="4975694"/>
            <a:ext cx="1044000" cy="1044000"/>
          </a:xfrm>
        </p:spPr>
        <p:txBody>
          <a:bodyPr/>
          <a:lstStyle/>
          <a:p>
            <a:r>
              <a:rPr lang="en-US" altLang="ko-KR" dirty="0"/>
              <a:t>16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183E534-6B6A-4814-BF59-57A6E38C5B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32935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dirty="0"/>
              <a:t>DFU Bootloader</a:t>
            </a:r>
            <a:endParaRPr lang="ru-RU" altLang="ko-KR" dirty="0"/>
          </a:p>
          <a:p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ACEF7EF-E8CB-4008-A749-3586789460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88170" y="4965034"/>
            <a:ext cx="1044000" cy="1044000"/>
          </a:xfrm>
        </p:spPr>
        <p:txBody>
          <a:bodyPr/>
          <a:lstStyle/>
          <a:p>
            <a:r>
              <a:rPr lang="en-US" altLang="ko-KR" dirty="0"/>
              <a:t>17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6FA5D30-6CB0-4EEA-AB74-670C4C1A6E0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098048" y="4603665"/>
            <a:ext cx="1726129" cy="294537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OTA</a:t>
            </a:r>
            <a:endParaRPr lang="ru-RU" altLang="ko-KR" dirty="0">
              <a:solidFill>
                <a:schemeClr val="accent1"/>
              </a:solidFill>
            </a:endParaRP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15ADFC7-484C-4FB9-A3C1-CDAA545F73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8040" y="4970360"/>
            <a:ext cx="1044000" cy="1044000"/>
          </a:xfrm>
        </p:spPr>
        <p:txBody>
          <a:bodyPr>
            <a:normAutofit/>
          </a:bodyPr>
          <a:lstStyle/>
          <a:p>
            <a:r>
              <a:rPr lang="en-US" altLang="ko-KR" dirty="0"/>
              <a:t>18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2CF05B5-E92D-4FD2-A21C-956D8E8321A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36976" y="6121335"/>
            <a:ext cx="1726129" cy="659592"/>
          </a:xfrm>
        </p:spPr>
        <p:txBody>
          <a:bodyPr>
            <a:normAutofit/>
          </a:bodyPr>
          <a:lstStyle/>
          <a:p>
            <a:r>
              <a:rPr lang="ko-KR" altLang="en-US" dirty="0"/>
              <a:t>최종 작품 만들기</a:t>
            </a:r>
            <a:endParaRPr lang="ru-RU" altLang="ko-KR" dirty="0"/>
          </a:p>
        </p:txBody>
      </p:sp>
      <p:sp>
        <p:nvSpPr>
          <p:cNvPr id="97" name="Text Placeholder 32">
            <a:extLst>
              <a:ext uri="{FF2B5EF4-FFF2-40B4-BE49-F238E27FC236}">
                <a16:creationId xmlns:a16="http://schemas.microsoft.com/office/drawing/2014/main" id="{258CED2E-C5E4-5EE0-63E5-C9113E4295E9}"/>
              </a:ext>
            </a:extLst>
          </p:cNvPr>
          <p:cNvSpPr txBox="1">
            <a:spLocks/>
          </p:cNvSpPr>
          <p:nvPr/>
        </p:nvSpPr>
        <p:spPr>
          <a:xfrm>
            <a:off x="671413" y="4399390"/>
            <a:ext cx="1380948" cy="204276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571B6D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Sensors </a:t>
            </a:r>
            <a:r>
              <a:rPr lang="ko-KR" altLang="en-US" dirty="0"/>
              <a:t>값 전송</a:t>
            </a:r>
            <a:endParaRPr lang="ru-RU" altLang="ko-KR" dirty="0"/>
          </a:p>
          <a:p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57717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번호, 스크린샷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ED45D8-3899-0050-A6F0-C1797435F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680" y="0"/>
            <a:ext cx="6335702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BB31C44-31E4-68F2-5A5B-2780DCE514E0}"/>
              </a:ext>
            </a:extLst>
          </p:cNvPr>
          <p:cNvSpPr/>
          <p:nvPr/>
        </p:nvSpPr>
        <p:spPr>
          <a:xfrm>
            <a:off x="8985" y="0"/>
            <a:ext cx="276430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25FA6-C969-F6F7-C840-477882525D7E}"/>
              </a:ext>
            </a:extLst>
          </p:cNvPr>
          <p:cNvSpPr txBox="1"/>
          <p:nvPr/>
        </p:nvSpPr>
        <p:spPr>
          <a:xfrm>
            <a:off x="201818" y="998384"/>
            <a:ext cx="237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세미나 로드맵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상세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r>
              <a:rPr lang="en-US" altLang="ko-KR" sz="1600" dirty="0">
                <a:solidFill>
                  <a:schemeClr val="bg1"/>
                </a:solidFill>
              </a:rPr>
              <a:t>   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A67160-6AFB-A3C4-BE10-2EBDA448F4BD}"/>
              </a:ext>
            </a:extLst>
          </p:cNvPr>
          <p:cNvSpPr/>
          <p:nvPr/>
        </p:nvSpPr>
        <p:spPr>
          <a:xfrm>
            <a:off x="4154506" y="4814986"/>
            <a:ext cx="6182050" cy="28774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394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DAF03-ECC6-41B6-67F5-4AFAB91A6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D0839D-1118-C2A4-042D-330C1F110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1-1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CAN </a:t>
            </a:r>
            <a:r>
              <a:rPr lang="ko-KR" altLang="en-US" sz="2800" dirty="0">
                <a:latin typeface="+mn-lt"/>
              </a:rPr>
              <a:t>통신 프로토콜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개요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AE990-6B56-1860-8920-63862A9E9D7E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9C7769-09C4-C941-7264-B6F258F4C3C7}"/>
              </a:ext>
            </a:extLst>
          </p:cNvPr>
          <p:cNvSpPr txBox="1"/>
          <p:nvPr/>
        </p:nvSpPr>
        <p:spPr>
          <a:xfrm>
            <a:off x="971039" y="3044151"/>
            <a:ext cx="1024992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CAN</a:t>
            </a:r>
            <a:r>
              <a:rPr lang="en-US" altLang="ko-KR" dirty="0"/>
              <a:t>(Controller Area Network)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Bosch</a:t>
            </a:r>
            <a:r>
              <a:rPr lang="ko-KR" altLang="en-US" dirty="0" err="1"/>
              <a:t>에</a:t>
            </a:r>
            <a:r>
              <a:rPr lang="ko-KR" altLang="en-US" dirty="0"/>
              <a:t> 의해 발표된 차량용 통신 규격으로 전기적 잡음</a:t>
            </a:r>
            <a:r>
              <a:rPr lang="en-US" altLang="ko-KR" dirty="0"/>
              <a:t>(Noise)</a:t>
            </a:r>
            <a:r>
              <a:rPr lang="ko-KR" altLang="en-US" dirty="0"/>
              <a:t>이 심한 환경에서 </a:t>
            </a:r>
            <a:br>
              <a:rPr lang="en-US" altLang="ko-KR" dirty="0"/>
            </a:br>
            <a:r>
              <a:rPr lang="ko-KR" altLang="en-US" dirty="0"/>
              <a:t>높은 신뢰성을 확보하고 배선을 최소화하기 위한 목적으로 설계되었다</a:t>
            </a:r>
            <a:r>
              <a:rPr kumimoji="1" lang="en-US" altLang="ko-KR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Clock</a:t>
            </a:r>
            <a:r>
              <a:rPr lang="ko-KR" altLang="en-US" dirty="0"/>
              <a:t>을 사용하지 않는 비동기 통신방식으로써 두 신호선의 전위차를 이용하는 </a:t>
            </a:r>
            <a:br>
              <a:rPr lang="en-US" altLang="ko-KR" dirty="0"/>
            </a:br>
            <a:r>
              <a:rPr lang="ko-KR" altLang="en-US" dirty="0" err="1"/>
              <a:t>차동</a:t>
            </a:r>
            <a:r>
              <a:rPr lang="ko-KR" altLang="en-US" dirty="0"/>
              <a:t> 신호</a:t>
            </a:r>
            <a:r>
              <a:rPr lang="en-US" altLang="ko-KR" dirty="0"/>
              <a:t>(Differential Signaling) </a:t>
            </a:r>
            <a:r>
              <a:rPr lang="ko-KR" altLang="en-US" dirty="0"/>
              <a:t>방식을 사용한다</a:t>
            </a:r>
            <a:r>
              <a:rPr lang="en-US" altLang="ko-KR" dirty="0"/>
              <a:t>.</a:t>
            </a:r>
          </a:p>
          <a:p>
            <a:pPr marL="800100" lvl="1" indent="-342900">
              <a:buAutoNum type="arabicPeriod"/>
            </a:pPr>
            <a:r>
              <a:rPr lang="ko-KR" altLang="en-US" dirty="0"/>
              <a:t>별도의 주</a:t>
            </a:r>
            <a:r>
              <a:rPr lang="en-US" altLang="ko-KR" dirty="0"/>
              <a:t>/</a:t>
            </a:r>
            <a:r>
              <a:rPr lang="ko-KR" altLang="en-US" dirty="0"/>
              <a:t>종 관계없이 모든 노드가 버스에 데이터를 전송할 수 있는 </a:t>
            </a:r>
            <a:r>
              <a:rPr lang="en-US" altLang="ko-KR" dirty="0"/>
              <a:t>Multi-Master </a:t>
            </a:r>
            <a:r>
              <a:rPr lang="ko-KR" altLang="en-US" dirty="0"/>
              <a:t>구조이다</a:t>
            </a:r>
            <a:r>
              <a:rPr lang="en-US" altLang="ko-KR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Half</a:t>
            </a:r>
            <a:r>
              <a:rPr kumimoji="1" lang="en-US" altLang="ko-KR" dirty="0"/>
              <a:t> Duplex</a:t>
            </a:r>
            <a:r>
              <a:rPr kumimoji="1" lang="ko-KR" altLang="en-US" dirty="0"/>
              <a:t> 통신이 가능하다</a:t>
            </a:r>
            <a:r>
              <a:rPr kumimoji="1" lang="en-US" altLang="ko-KR" dirty="0"/>
              <a:t>.</a:t>
            </a:r>
          </a:p>
          <a:p>
            <a:pPr marL="800100" lvl="1" indent="-342900">
              <a:buFontTx/>
              <a:buAutoNum type="arabicPeriod"/>
            </a:pPr>
            <a:r>
              <a:rPr kumimoji="1" lang="ko-KR" altLang="en-US" dirty="0"/>
              <a:t>사용 되는 신호선은 다음과 같다</a:t>
            </a:r>
            <a:r>
              <a:rPr kumimoji="1" lang="en-US" altLang="ko-KR" dirty="0"/>
              <a:t>(only 2wire).</a:t>
            </a:r>
            <a:br>
              <a:rPr kumimoji="1" lang="en-US" altLang="ko-KR" dirty="0"/>
            </a:br>
            <a:r>
              <a:rPr kumimoji="1" lang="en-US" altLang="ko-KR" dirty="0"/>
              <a:t>CAN_H(CAN High) – </a:t>
            </a:r>
            <a:r>
              <a:rPr kumimoji="1" lang="ko-KR" altLang="en-US" dirty="0" err="1"/>
              <a:t>차동</a:t>
            </a:r>
            <a:r>
              <a:rPr kumimoji="1" lang="ko-KR" altLang="en-US" dirty="0"/>
              <a:t> 신호의 </a:t>
            </a:r>
            <a:r>
              <a:rPr kumimoji="1" lang="en-US" altLang="ko-KR" dirty="0"/>
              <a:t>High</a:t>
            </a:r>
            <a:r>
              <a:rPr kumimoji="1" lang="ko-KR" altLang="en-US" dirty="0"/>
              <a:t> 측 신호선</a:t>
            </a:r>
            <a:br>
              <a:rPr kumimoji="1" lang="en-US" altLang="ko-KR" dirty="0"/>
            </a:br>
            <a:r>
              <a:rPr kumimoji="1" lang="en-US" altLang="ko-KR" dirty="0"/>
              <a:t>CAN_L(CAN Low) – </a:t>
            </a:r>
            <a:r>
              <a:rPr kumimoji="1" lang="ko-KR" altLang="en-US" dirty="0" err="1"/>
              <a:t>차동</a:t>
            </a:r>
            <a:r>
              <a:rPr kumimoji="1" lang="ko-KR" altLang="en-US" dirty="0"/>
              <a:t> 신호의 </a:t>
            </a:r>
            <a:r>
              <a:rPr kumimoji="1" lang="en-US" altLang="ko-KR" dirty="0"/>
              <a:t>Low</a:t>
            </a:r>
            <a:r>
              <a:rPr kumimoji="1" lang="ko-KR" altLang="en-US" dirty="0"/>
              <a:t> 측 신호선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8578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A7E40-78F9-0D9C-3B11-EB0632B0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FF880-94BC-515B-76B5-1B1AF0D68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1-2</a:t>
            </a:r>
            <a:r>
              <a:rPr lang="ko-KR" altLang="en-US" sz="2800" dirty="0">
                <a:latin typeface="+mn-lt"/>
              </a:rPr>
              <a:t> 등장 배경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127E7-6029-A0E5-A951-0077C8F978F9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FCA7C6-8535-92CB-9F96-F539AAFEA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884" y="2798912"/>
            <a:ext cx="3644900" cy="3352800"/>
          </a:xfrm>
          <a:prstGeom prst="rect">
            <a:avLst/>
          </a:prstGeom>
        </p:spPr>
      </p:pic>
      <p:pic>
        <p:nvPicPr>
          <p:cNvPr id="8" name="그림 7" descr="텍스트, 스크린샷, 상징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D7049A-395C-9C28-5EBE-7021D8880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673" y="2798912"/>
            <a:ext cx="4493443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30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74C5E-9814-B233-8CF2-905D38F78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7E636-3558-D7E2-0CD2-53B8EDF46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1-3</a:t>
            </a:r>
            <a:r>
              <a:rPr lang="ko-KR" altLang="en-US" sz="2800" dirty="0">
                <a:latin typeface="+mn-lt"/>
              </a:rPr>
              <a:t> 통신 버스 구조 </a:t>
            </a:r>
            <a:r>
              <a:rPr lang="en-US" altLang="ko-KR" sz="2800" dirty="0">
                <a:latin typeface="+mn-lt"/>
              </a:rPr>
              <a:t>#</a:t>
            </a:r>
            <a:r>
              <a:rPr lang="ko-KR" altLang="en-US" sz="2800" dirty="0">
                <a:latin typeface="+mn-lt"/>
              </a:rPr>
              <a:t>파형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CF1EE-FBE5-FFFE-F6E8-920264DD416E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0FECBB-B5A2-D7A8-0E72-3AA098669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22" y="2982425"/>
            <a:ext cx="5655408" cy="29857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88E3C1-ED37-A762-A196-7B039D051B3D}"/>
              </a:ext>
            </a:extLst>
          </p:cNvPr>
          <p:cNvSpPr txBox="1"/>
          <p:nvPr/>
        </p:nvSpPr>
        <p:spPr>
          <a:xfrm>
            <a:off x="6656575" y="3813592"/>
            <a:ext cx="527291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600" dirty="0"/>
              <a:t>CAN</a:t>
            </a:r>
            <a:r>
              <a:rPr kumimoji="1" lang="ko-KR" altLang="en-US" sz="1600" dirty="0"/>
              <a:t> 통신은 </a:t>
            </a:r>
            <a:r>
              <a:rPr kumimoji="1" lang="ko-KR" altLang="en-US" sz="1600" dirty="0" err="1"/>
              <a:t>차동</a:t>
            </a:r>
            <a:r>
              <a:rPr kumimoji="1" lang="ko-KR" altLang="en-US" sz="1600" dirty="0"/>
              <a:t> 신호를 사용하여 데이터를 전송</a:t>
            </a:r>
            <a:br>
              <a:rPr kumimoji="1" lang="en-US" altLang="ko-KR" sz="1600" dirty="0"/>
            </a:br>
            <a:r>
              <a:rPr kumimoji="1" lang="ko-KR" altLang="en-US" sz="1600" dirty="0"/>
              <a:t>한다</a:t>
            </a:r>
            <a:r>
              <a:rPr kumimoji="1"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600" dirty="0"/>
              <a:t>CAN_H</a:t>
            </a:r>
            <a:r>
              <a:rPr kumimoji="1" lang="ko-KR" altLang="en-US" sz="1600" dirty="0"/>
              <a:t>와 </a:t>
            </a:r>
            <a:r>
              <a:rPr kumimoji="1" lang="en-US" altLang="ko-KR" sz="1600" dirty="0"/>
              <a:t>CAN_L</a:t>
            </a:r>
            <a:r>
              <a:rPr kumimoji="1" lang="ko-KR" altLang="en-US" sz="1600" dirty="0"/>
              <a:t>의 전위차가 임계 값 이상 차이가</a:t>
            </a:r>
            <a:br>
              <a:rPr kumimoji="1" lang="en-US" altLang="ko-KR" sz="1600" dirty="0"/>
            </a:br>
            <a:r>
              <a:rPr kumimoji="1" lang="ko-KR" altLang="en-US" sz="1600" dirty="0"/>
              <a:t>나는 경우 </a:t>
            </a:r>
            <a:r>
              <a:rPr kumimoji="1" lang="en-US" altLang="ko-KR" sz="1600" dirty="0"/>
              <a:t>0</a:t>
            </a:r>
            <a:r>
              <a:rPr kumimoji="1" lang="ko-KR" altLang="en-US" sz="1600" dirty="0" err="1"/>
              <a:t>으로</a:t>
            </a:r>
            <a:r>
              <a:rPr kumimoji="1" lang="ko-KR" altLang="en-US" sz="1600" dirty="0"/>
              <a:t> 인식하며</a:t>
            </a:r>
            <a:r>
              <a:rPr kumimoji="1" lang="en-US" altLang="ko-KR" sz="1600" dirty="0"/>
              <a:t>,</a:t>
            </a:r>
            <a:r>
              <a:rPr kumimoji="1" lang="ko-KR" altLang="en-US" sz="1600" dirty="0"/>
              <a:t> 반대의 경우 </a:t>
            </a:r>
            <a:r>
              <a:rPr kumimoji="1" lang="en-US" altLang="ko-KR" sz="1600" dirty="0"/>
              <a:t>1</a:t>
            </a:r>
            <a:r>
              <a:rPr kumimoji="1" lang="ko-KR" altLang="en-US" sz="1600" dirty="0"/>
              <a:t>로 인식한다</a:t>
            </a:r>
            <a:r>
              <a:rPr kumimoji="1" lang="en-US" altLang="ko-KR" sz="1600" dirty="0"/>
              <a:t>.</a:t>
            </a:r>
            <a:endParaRPr kumimoji="1"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6203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81374-BDB7-3F07-27F7-944BFFD0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B1EF00-D29D-DF1E-FE28-A96642F3A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1-4</a:t>
            </a:r>
            <a:r>
              <a:rPr lang="ko-KR" altLang="en-US" sz="2800" dirty="0">
                <a:latin typeface="+mn-lt"/>
              </a:rPr>
              <a:t> 통신 버스 구조 </a:t>
            </a:r>
            <a:r>
              <a:rPr lang="en-US" altLang="ko-KR" sz="2800" dirty="0">
                <a:latin typeface="+mn-lt"/>
              </a:rPr>
              <a:t>#</a:t>
            </a:r>
            <a:r>
              <a:rPr lang="ko-KR" altLang="en-US" sz="2800" dirty="0">
                <a:latin typeface="+mn-lt"/>
              </a:rPr>
              <a:t>배선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E23BC-A87D-D8EC-E02E-33EBB55233B5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32B44-6B55-AED7-424D-82F23ABA4501}"/>
              </a:ext>
            </a:extLst>
          </p:cNvPr>
          <p:cNvSpPr txBox="1"/>
          <p:nvPr/>
        </p:nvSpPr>
        <p:spPr>
          <a:xfrm>
            <a:off x="6096000" y="3873574"/>
            <a:ext cx="53951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600" dirty="0"/>
              <a:t>CAN </a:t>
            </a:r>
            <a:r>
              <a:rPr kumimoji="1" lang="ko-KR" altLang="en-US" sz="1600" dirty="0"/>
              <a:t>통신의 경우 버스 양 끝단에 </a:t>
            </a:r>
            <a:r>
              <a:rPr kumimoji="1" lang="en-US" altLang="ko-KR" sz="1600" dirty="0"/>
              <a:t>120ohm </a:t>
            </a:r>
            <a:r>
              <a:rPr kumimoji="1" lang="ko-KR" altLang="en-US" sz="1600" dirty="0"/>
              <a:t>종단 저항이</a:t>
            </a:r>
            <a:br>
              <a:rPr kumimoji="1" lang="en-US" altLang="ko-KR" sz="1600" dirty="0"/>
            </a:br>
            <a:r>
              <a:rPr kumimoji="1" lang="ko-KR" altLang="en-US" sz="1600" dirty="0"/>
              <a:t>필수이다</a:t>
            </a:r>
            <a:r>
              <a:rPr kumimoji="1" lang="en-US" altLang="ko-KR" sz="1600" dirty="0"/>
              <a:t>.</a:t>
            </a:r>
            <a:endParaRPr kumimoji="1" lang="ko-KR" altLang="en-US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D0153E-FC3F-615D-3CBB-27B5D173E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83" y="3429000"/>
            <a:ext cx="5468417" cy="205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06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9A2FF-B6AD-87FB-5B76-9195D3B94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9083-CC43-80B1-7CEF-BE108DD78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1-5</a:t>
            </a:r>
            <a:r>
              <a:rPr lang="ko-KR" altLang="en-US" sz="2800" dirty="0">
                <a:latin typeface="+mn-lt"/>
              </a:rPr>
              <a:t> </a:t>
            </a:r>
            <a:r>
              <a:rPr lang="ko-KR" altLang="en-US" sz="2800" dirty="0" err="1">
                <a:latin typeface="+mn-lt"/>
              </a:rPr>
              <a:t>차동</a:t>
            </a:r>
            <a:r>
              <a:rPr lang="ko-KR" altLang="en-US" sz="2800" dirty="0">
                <a:latin typeface="+mn-lt"/>
              </a:rPr>
              <a:t> </a:t>
            </a:r>
            <a:r>
              <a:rPr lang="ko-KR" altLang="en-US" sz="2800" dirty="0" err="1">
                <a:latin typeface="+mn-lt"/>
              </a:rPr>
              <a:t>신호란</a:t>
            </a:r>
            <a:r>
              <a:rPr lang="en-US" altLang="ko-KR" sz="2800" dirty="0">
                <a:latin typeface="+mn-lt"/>
              </a:rPr>
              <a:t>?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EF9C3-D1DB-FEA1-2667-049CA3168F19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D21151-1EAC-922F-8E1D-CEE9D252F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83" y="3554057"/>
            <a:ext cx="4617057" cy="17581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BD595B3-C8A5-1BD6-5902-5F5CEE5AD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814" y="3554057"/>
            <a:ext cx="4617057" cy="17581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CE3BBF-84C6-8A8E-7347-3EF227145D2A}"/>
              </a:ext>
            </a:extLst>
          </p:cNvPr>
          <p:cNvSpPr txBox="1"/>
          <p:nvPr/>
        </p:nvSpPr>
        <p:spPr>
          <a:xfrm>
            <a:off x="1613381" y="5537555"/>
            <a:ext cx="2743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&lt;</a:t>
            </a:r>
            <a:r>
              <a:rPr kumimoji="1" lang="ko-KR" altLang="en-US" dirty="0"/>
              <a:t>단일 종단 신호의 파형</a:t>
            </a:r>
            <a:r>
              <a:rPr kumimoji="1" lang="en-US" altLang="ko-KR" dirty="0"/>
              <a:t>&gt;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DAE70-BE8B-E885-58E3-1B81228CE2F0}"/>
              </a:ext>
            </a:extLst>
          </p:cNvPr>
          <p:cNvSpPr txBox="1"/>
          <p:nvPr/>
        </p:nvSpPr>
        <p:spPr>
          <a:xfrm>
            <a:off x="8156602" y="5537555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&lt;</a:t>
            </a:r>
            <a:r>
              <a:rPr kumimoji="1" lang="ko-KR" altLang="en-US" dirty="0" err="1"/>
              <a:t>차동</a:t>
            </a:r>
            <a:r>
              <a:rPr kumimoji="1" lang="ko-KR" altLang="en-US" dirty="0"/>
              <a:t> 신호의 파형</a:t>
            </a:r>
            <a:r>
              <a:rPr kumimoji="1" lang="en-US" altLang="ko-KR" dirty="0"/>
              <a:t>&gt;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5686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D905C-865F-0180-89FE-44B9BC7FD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32D9A-F922-B6FA-BC9F-EF51222C7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1-6</a:t>
            </a:r>
            <a:r>
              <a:rPr lang="ko-KR" altLang="en-US" sz="2800" dirty="0">
                <a:latin typeface="+mn-lt"/>
              </a:rPr>
              <a:t> </a:t>
            </a:r>
            <a:r>
              <a:rPr lang="ko-KR" altLang="en-US" sz="2800" dirty="0" err="1">
                <a:latin typeface="+mn-lt"/>
              </a:rPr>
              <a:t>차동</a:t>
            </a:r>
            <a:r>
              <a:rPr lang="ko-KR" altLang="en-US" sz="2800" dirty="0">
                <a:latin typeface="+mn-lt"/>
              </a:rPr>
              <a:t> 신호가 노이즈에 더 강한 이유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BA72D-D427-C12C-4B94-348464CE2CA5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2CBCEB-7895-1884-4116-DB6C802AB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83" y="3554057"/>
            <a:ext cx="4617057" cy="17581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C221289-3504-E189-4484-60464FA8F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814" y="3554057"/>
            <a:ext cx="4617057" cy="17581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D6D3BE4-D644-35BA-BB21-ABD6ABAC5E0D}"/>
                  </a:ext>
                </a:extLst>
              </p14:cNvPr>
              <p14:cNvContentPartPr/>
              <p14:nvPr/>
            </p14:nvContentPartPr>
            <p14:xfrm>
              <a:off x="1149858" y="4513043"/>
              <a:ext cx="185760" cy="37044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D6D3BE4-D644-35BA-BB21-ABD6ABAC5E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3738" y="4506923"/>
                <a:ext cx="19800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593A6E94-2A76-5E0A-E300-8BDB1EA6D3AA}"/>
                  </a:ext>
                </a:extLst>
              </p14:cNvPr>
              <p14:cNvContentPartPr/>
              <p14:nvPr/>
            </p14:nvContentPartPr>
            <p14:xfrm>
              <a:off x="7073298" y="4614203"/>
              <a:ext cx="124920" cy="24264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593A6E94-2A76-5E0A-E300-8BDB1EA6D3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67178" y="4608083"/>
                <a:ext cx="1371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7AFBBFA6-6200-D587-ABB0-B2FC4485A1D9}"/>
                  </a:ext>
                </a:extLst>
              </p14:cNvPr>
              <p14:cNvContentPartPr/>
              <p14:nvPr/>
            </p14:nvContentPartPr>
            <p14:xfrm>
              <a:off x="7058178" y="3423323"/>
              <a:ext cx="162720" cy="3150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7AFBBFA6-6200-D587-ABB0-B2FC4485A1D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52058" y="3417203"/>
                <a:ext cx="174960" cy="32724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2650D8F-C659-BD47-0F73-D6D6EB062A19}"/>
              </a:ext>
            </a:extLst>
          </p:cNvPr>
          <p:cNvSpPr txBox="1"/>
          <p:nvPr/>
        </p:nvSpPr>
        <p:spPr>
          <a:xfrm>
            <a:off x="1790975" y="5846544"/>
            <a:ext cx="8610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노이즈가 두 신호선에 동일하게 인가되어 두 신호선의 전위차가 유지되기 때문에</a:t>
            </a:r>
            <a:br>
              <a:rPr kumimoji="1" lang="en-US" altLang="ko-KR" dirty="0"/>
            </a:br>
            <a:r>
              <a:rPr kumimoji="1" lang="ko-KR" altLang="en-US" dirty="0"/>
              <a:t>데이터가 왜곡되지 않는다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8855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9B6C-1768-E0ED-59E0-912264C5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71913-A59D-78EF-F6B5-1B9F5A1A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1-7</a:t>
            </a:r>
            <a:r>
              <a:rPr lang="ko-KR" altLang="en-US" sz="2800" dirty="0">
                <a:latin typeface="+mn-lt"/>
              </a:rPr>
              <a:t> 종단 저항이란</a:t>
            </a:r>
            <a:r>
              <a:rPr lang="en-US" altLang="ko-KR" sz="2800" dirty="0">
                <a:latin typeface="+mn-lt"/>
              </a:rPr>
              <a:t>?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53C43-5031-1541-5D94-3A6D7505643D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30F80DE-5869-AC75-21C7-6747F36279CF}"/>
              </a:ext>
            </a:extLst>
          </p:cNvPr>
          <p:cNvGrpSpPr/>
          <p:nvPr/>
        </p:nvGrpSpPr>
        <p:grpSpPr>
          <a:xfrm>
            <a:off x="484552" y="3713412"/>
            <a:ext cx="4475153" cy="1684763"/>
            <a:chOff x="595611" y="3707018"/>
            <a:chExt cx="4475153" cy="16847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F0FA076-0191-FCB3-95E4-0B2380BB3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611" y="3707018"/>
              <a:ext cx="4475153" cy="1684763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E2F9628-A4AB-F805-AA2F-9888C62453AB}"/>
                </a:ext>
              </a:extLst>
            </p:cNvPr>
            <p:cNvSpPr/>
            <p:nvPr/>
          </p:nvSpPr>
          <p:spPr>
            <a:xfrm>
              <a:off x="595611" y="4475312"/>
              <a:ext cx="747214" cy="653001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62B9FC1-9B05-A7D4-A6F0-C733F3C9989B}"/>
                </a:ext>
              </a:extLst>
            </p:cNvPr>
            <p:cNvSpPr/>
            <p:nvPr/>
          </p:nvSpPr>
          <p:spPr>
            <a:xfrm>
              <a:off x="4323550" y="4475311"/>
              <a:ext cx="747214" cy="653001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D92B45D-7A7E-7431-48A0-0FF8A1B839F6}"/>
              </a:ext>
            </a:extLst>
          </p:cNvPr>
          <p:cNvSpPr txBox="1"/>
          <p:nvPr/>
        </p:nvSpPr>
        <p:spPr>
          <a:xfrm>
            <a:off x="5812411" y="3450653"/>
            <a:ext cx="554138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임피던스 매칭</a:t>
            </a:r>
            <a:br>
              <a:rPr kumimoji="1" lang="en-US" altLang="ko-KR" dirty="0"/>
            </a:br>
            <a:r>
              <a:rPr kumimoji="1" lang="ko-KR" altLang="en-US" sz="1400" dirty="0"/>
              <a:t>만약 종단 저항이 </a:t>
            </a:r>
            <a:r>
              <a:rPr kumimoji="1" lang="ko-KR" altLang="en-US" sz="1400" dirty="0" err="1"/>
              <a:t>없을경우</a:t>
            </a:r>
            <a:r>
              <a:rPr kumimoji="1" lang="ko-KR" altLang="en-US" sz="1400" dirty="0"/>
              <a:t> 신호가 선로 끝에 도달할 경우</a:t>
            </a:r>
            <a:br>
              <a:rPr kumimoji="1" lang="en-US" altLang="ko-KR" sz="1400" dirty="0"/>
            </a:br>
            <a:r>
              <a:rPr kumimoji="1" lang="ko-KR" altLang="en-US" sz="1400" dirty="0"/>
              <a:t>소비될 부하가 </a:t>
            </a:r>
            <a:r>
              <a:rPr kumimoji="1" lang="ko-KR" altLang="en-US" sz="1400" dirty="0" err="1"/>
              <a:t>없기때문에</a:t>
            </a:r>
            <a:r>
              <a:rPr kumimoji="1" lang="ko-KR" altLang="en-US" sz="1400" dirty="0"/>
              <a:t> 신호가 반사되게 된다</a:t>
            </a:r>
            <a:r>
              <a:rPr kumimoji="1" lang="en-US" altLang="ko-KR" sz="1400" dirty="0"/>
              <a:t>.</a:t>
            </a: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기생 </a:t>
            </a:r>
            <a:r>
              <a:rPr kumimoji="1" lang="ko-KR" altLang="en-US" dirty="0" err="1"/>
              <a:t>커패시턴스</a:t>
            </a:r>
            <a:r>
              <a:rPr kumimoji="1" lang="ko-KR" altLang="en-US" dirty="0"/>
              <a:t> 방전</a:t>
            </a:r>
            <a:br>
              <a:rPr kumimoji="1" lang="en-US" altLang="ko-KR" dirty="0"/>
            </a:br>
            <a:r>
              <a:rPr kumimoji="1" lang="ko-KR" altLang="en-US" sz="1400" dirty="0"/>
              <a:t>만약 데이터 </a:t>
            </a:r>
            <a:r>
              <a:rPr kumimoji="1" lang="en-US" altLang="ko-KR" sz="1400" dirty="0"/>
              <a:t>‘1’</a:t>
            </a:r>
            <a:r>
              <a:rPr kumimoji="1" lang="ko-KR" altLang="en-US" sz="1400" dirty="0"/>
              <a:t>을 보내야 할 경우 두 신호간 전위차를 </a:t>
            </a:r>
            <a:r>
              <a:rPr kumimoji="1" lang="en-US" altLang="ko-KR" sz="1400" dirty="0"/>
              <a:t>0</a:t>
            </a:r>
            <a:r>
              <a:rPr kumimoji="1" lang="ko-KR" altLang="en-US" sz="1400" dirty="0" err="1"/>
              <a:t>으로</a:t>
            </a:r>
            <a:br>
              <a:rPr kumimoji="1" lang="en-US" altLang="ko-KR" sz="1400" dirty="0"/>
            </a:br>
            <a:r>
              <a:rPr kumimoji="1" lang="ko-KR" altLang="en-US" sz="1400" dirty="0"/>
              <a:t>만들어야 하는데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이때 종단 저항이 두 선을 전기적으로 연결하여</a:t>
            </a:r>
            <a:br>
              <a:rPr kumimoji="1" lang="en-US" altLang="ko-KR" sz="1400" dirty="0"/>
            </a:br>
            <a:r>
              <a:rPr kumimoji="1" lang="ko-KR" altLang="en-US" sz="1400" dirty="0"/>
              <a:t>빠르게 동전위로 돌아오게 만들어준다</a:t>
            </a:r>
            <a:r>
              <a:rPr kumimoji="1" lang="en-US" altLang="ko-KR" sz="1400" dirty="0"/>
              <a:t>.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10543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B2DFF-0F6E-B9A3-4E87-9CFF3F03A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0E092-FD1A-D832-CD7B-E91BF6CE2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1-8</a:t>
            </a:r>
            <a:r>
              <a:rPr lang="ko-KR" altLang="en-US" sz="2800" dirty="0">
                <a:latin typeface="+mn-lt"/>
              </a:rPr>
              <a:t> 전송 케이블 구조</a:t>
            </a:r>
            <a:r>
              <a:rPr lang="en-US" altLang="ko-KR" sz="2800" dirty="0">
                <a:latin typeface="+mn-lt"/>
              </a:rPr>
              <a:t>(</a:t>
            </a:r>
            <a:r>
              <a:rPr lang="ko-KR" altLang="en-US" sz="2800" dirty="0">
                <a:latin typeface="+mn-lt"/>
              </a:rPr>
              <a:t>트위스트 페어</a:t>
            </a:r>
            <a:r>
              <a:rPr lang="en-US" altLang="ko-KR" sz="2800" dirty="0">
                <a:latin typeface="+mn-lt"/>
              </a:rPr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6CD57-48E7-6D20-3B36-70414C6B9D48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423C00-1BE1-9DBD-BFFB-294DEC9A8E11}"/>
              </a:ext>
            </a:extLst>
          </p:cNvPr>
          <p:cNvSpPr txBox="1"/>
          <p:nvPr/>
        </p:nvSpPr>
        <p:spPr>
          <a:xfrm>
            <a:off x="5307253" y="3367316"/>
            <a:ext cx="621836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방사 노이즈 감소</a:t>
            </a:r>
            <a:br>
              <a:rPr kumimoji="1" lang="en-US" altLang="ko-KR" dirty="0"/>
            </a:br>
            <a:r>
              <a:rPr kumimoji="1" lang="ko-KR" altLang="en-US" sz="1400" dirty="0"/>
              <a:t>통신시 발생되는 자기장의 방향이 서로 정반대가 되어 서로를 상쇄</a:t>
            </a:r>
            <a:br>
              <a:rPr kumimoji="1" lang="en-US" altLang="ko-KR" sz="1400" dirty="0"/>
            </a:br>
            <a:r>
              <a:rPr kumimoji="1" lang="ko-KR" altLang="en-US" sz="1400" dirty="0"/>
              <a:t>시켜 방사되는 노이즈를 감소시켜준다</a:t>
            </a:r>
            <a:r>
              <a:rPr kumimoji="1"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유도 노이즈 억제</a:t>
            </a:r>
            <a:br>
              <a:rPr kumimoji="1" lang="en-US" altLang="ko-KR" dirty="0"/>
            </a:br>
            <a:r>
              <a:rPr kumimoji="1" lang="ko-KR" altLang="en-US" sz="1400" dirty="0"/>
              <a:t>만약 도선이 직선일 경우 노이즈 소스에 가까울수록 노이즈가 강해지지만</a:t>
            </a:r>
            <a:r>
              <a:rPr kumimoji="1" lang="en-US" altLang="ko-KR" sz="1400" dirty="0"/>
              <a:t>,</a:t>
            </a:r>
            <a:br>
              <a:rPr kumimoji="1" lang="en-US" altLang="ko-KR" sz="1400" dirty="0"/>
            </a:br>
            <a:r>
              <a:rPr kumimoji="1" lang="ko-KR" altLang="en-US" sz="1400" dirty="0"/>
              <a:t>서로 꼬여 있다면 두 선 모두 평균적으로 동일한 양의 노이즈를 받는다</a:t>
            </a:r>
            <a:r>
              <a:rPr kumimoji="1" lang="en-US" altLang="ko-KR" sz="1400" dirty="0"/>
              <a:t>.</a:t>
            </a:r>
            <a:br>
              <a:rPr kumimoji="1" lang="en-US" altLang="ko-KR" sz="1400" dirty="0"/>
            </a:br>
            <a:r>
              <a:rPr kumimoji="1" lang="ko-KR" altLang="en-US" sz="1400" dirty="0"/>
              <a:t>하지만 이때 </a:t>
            </a:r>
            <a:r>
              <a:rPr kumimoji="1" lang="en-US" altLang="ko-KR" sz="1400" dirty="0"/>
              <a:t>CAN</a:t>
            </a:r>
            <a:r>
              <a:rPr kumimoji="1" lang="ko-KR" altLang="en-US" sz="1400" dirty="0"/>
              <a:t>은 </a:t>
            </a:r>
            <a:r>
              <a:rPr kumimoji="1" lang="ko-KR" altLang="en-US" sz="1400" dirty="0" err="1"/>
              <a:t>차동신호</a:t>
            </a:r>
            <a:r>
              <a:rPr kumimoji="1" lang="ko-KR" altLang="en-US" sz="1400" dirty="0"/>
              <a:t> 이기 때문에 동일한 노이즈는 무시된다</a:t>
            </a:r>
            <a:r>
              <a:rPr kumimoji="1" lang="en-US" altLang="ko-KR" sz="1400" dirty="0"/>
              <a:t>.</a:t>
            </a:r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9E1BA3-8D98-30A0-C35C-98E635AC6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057" y="2937230"/>
            <a:ext cx="3531135" cy="270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69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602D4-D86F-AD1A-E659-060D6EDA9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03DF2-C257-FC24-90C6-EF0EC489F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latin typeface="+mn-lt"/>
              </a:rPr>
              <a:t>통신 구조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2-1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CAN </a:t>
            </a:r>
            <a:r>
              <a:rPr lang="ko-KR" altLang="en-US" sz="2800" dirty="0">
                <a:latin typeface="+mn-lt"/>
              </a:rPr>
              <a:t>통신의 프레임 구조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906DA-43F1-3049-6F1E-C05CD1C253D2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A4D17B-3585-171A-814D-2C304CF13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4264"/>
            <a:ext cx="7377201" cy="2336105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C761078-4D34-0378-3FEE-E7ABE8840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834108"/>
              </p:ext>
            </p:extLst>
          </p:nvPr>
        </p:nvGraphicFramePr>
        <p:xfrm>
          <a:off x="7198680" y="2450364"/>
          <a:ext cx="4796518" cy="4267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8259">
                  <a:extLst>
                    <a:ext uri="{9D8B030D-6E8A-4147-A177-3AD203B41FA5}">
                      <a16:colId xmlns:a16="http://schemas.microsoft.com/office/drawing/2014/main" val="671540244"/>
                    </a:ext>
                  </a:extLst>
                </a:gridCol>
                <a:gridCol w="2398259">
                  <a:extLst>
                    <a:ext uri="{9D8B030D-6E8A-4147-A177-3AD203B41FA5}">
                      <a16:colId xmlns:a16="http://schemas.microsoft.com/office/drawing/2014/main" val="649886309"/>
                    </a:ext>
                  </a:extLst>
                </a:gridCol>
              </a:tblGrid>
              <a:tr h="364166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b="1" dirty="0">
                          <a:effectLst/>
                          <a:latin typeface="inherit"/>
                        </a:rPr>
                        <a:t>구성 요소</a:t>
                      </a:r>
                      <a:endParaRPr lang="ko-KR" alt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b="1" dirty="0">
                          <a:effectLst/>
                          <a:latin typeface="inherit"/>
                        </a:rPr>
                        <a:t>설명</a:t>
                      </a:r>
                      <a:endParaRPr lang="ko-KR" alt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288941379"/>
                  </a:ext>
                </a:extLst>
              </a:tr>
              <a:tr h="364166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400" b="1" dirty="0">
                          <a:effectLst/>
                          <a:latin typeface="inherit"/>
                        </a:rPr>
                        <a:t>SOF (Start of Frame)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>
                          <a:effectLst/>
                          <a:latin typeface="se-nanumgothic"/>
                        </a:rPr>
                        <a:t>메시지의 시작을 알림</a:t>
                      </a:r>
                      <a:endParaRPr lang="ko-KR" altLang="en-US" sz="14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697691342"/>
                  </a:ext>
                </a:extLst>
              </a:tr>
              <a:tr h="941334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400" b="1">
                          <a:effectLst/>
                          <a:latin typeface="inherit"/>
                        </a:rPr>
                        <a:t>Identifier (ID)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dirty="0">
                          <a:effectLst/>
                          <a:latin typeface="se-nanumgothic"/>
                        </a:rPr>
                        <a:t>메시지 식별자 </a:t>
                      </a:r>
                      <a:r>
                        <a:rPr lang="en-US" altLang="ko-KR" sz="1400" dirty="0">
                          <a:effectLst/>
                          <a:latin typeface="se-nanumgothic"/>
                        </a:rPr>
                        <a:t>/ </a:t>
                      </a:r>
                      <a:r>
                        <a:rPr lang="ko-KR" altLang="en-US" sz="1400" dirty="0">
                          <a:effectLst/>
                          <a:latin typeface="se-nanumgothic"/>
                        </a:rPr>
                        <a:t>우선순위 부여</a:t>
                      </a:r>
                      <a:endParaRPr lang="ko-KR" altLang="en-US" sz="1400" dirty="0">
                        <a:effectLst/>
                        <a:latin typeface="inherit"/>
                      </a:endParaRPr>
                    </a:p>
                    <a:p>
                      <a:pPr algn="ctr" fontAlgn="base">
                        <a:buNone/>
                      </a:pPr>
                      <a:r>
                        <a:rPr lang="ko-KR" alt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*표준 </a:t>
                      </a:r>
                      <a:r>
                        <a:rPr 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CAN: 11</a:t>
                      </a:r>
                      <a:r>
                        <a:rPr lang="ko-KR" alt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비트 </a:t>
                      </a:r>
                      <a:r>
                        <a:rPr 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ID / </a:t>
                      </a:r>
                      <a:r>
                        <a:rPr lang="ko-KR" alt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확장 </a:t>
                      </a:r>
                      <a:r>
                        <a:rPr 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CAN: 29</a:t>
                      </a:r>
                      <a:r>
                        <a:rPr lang="ko-KR" alt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비트 </a:t>
                      </a:r>
                      <a:r>
                        <a:rPr 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ID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439608024"/>
                  </a:ext>
                </a:extLst>
              </a:tr>
              <a:tr h="535975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400" b="1">
                          <a:effectLst/>
                          <a:latin typeface="inherit"/>
                        </a:rPr>
                        <a:t>Control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dirty="0">
                          <a:effectLst/>
                          <a:latin typeface="se-nanumgothic"/>
                        </a:rPr>
                        <a:t>데이터 길이 정보 </a:t>
                      </a:r>
                      <a:r>
                        <a:rPr lang="en-US" altLang="ko-KR" sz="1400" dirty="0">
                          <a:effectLst/>
                          <a:latin typeface="se-nanumgothic"/>
                        </a:rPr>
                        <a:t>(</a:t>
                      </a:r>
                      <a:r>
                        <a:rPr lang="en-US" sz="1400" dirty="0">
                          <a:effectLst/>
                          <a:latin typeface="se-nanumgothic"/>
                        </a:rPr>
                        <a:t>DLC)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16029002"/>
                  </a:ext>
                </a:extLst>
              </a:tr>
              <a:tr h="364166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400" b="1">
                          <a:effectLst/>
                          <a:latin typeface="inherit"/>
                        </a:rPr>
                        <a:t>Data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dirty="0">
                          <a:effectLst/>
                          <a:latin typeface="se-nanumgothic"/>
                        </a:rPr>
                        <a:t>실제 전송할 데이터</a:t>
                      </a:r>
                      <a:endParaRPr lang="ko-KR" alt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017631997"/>
                  </a:ext>
                </a:extLst>
              </a:tr>
              <a:tr h="535975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400" b="1">
                          <a:effectLst/>
                          <a:latin typeface="inherit"/>
                        </a:rPr>
                        <a:t>CRC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dirty="0">
                          <a:effectLst/>
                          <a:latin typeface="se-nanumgothic"/>
                        </a:rPr>
                        <a:t>오류 검출을 위한 체크 값</a:t>
                      </a:r>
                      <a:endParaRPr lang="ko-KR" alt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881622571"/>
                  </a:ext>
                </a:extLst>
              </a:tr>
              <a:tr h="535975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400" b="1">
                          <a:effectLst/>
                          <a:latin typeface="inherit"/>
                        </a:rPr>
                        <a:t>ACK(Acknowledgement)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dirty="0">
                          <a:effectLst/>
                          <a:latin typeface="se-nanumgothic"/>
                        </a:rPr>
                        <a:t>수신 확인용 응답</a:t>
                      </a:r>
                      <a:endParaRPr lang="ko-KR" alt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047035688"/>
                  </a:ext>
                </a:extLst>
              </a:tr>
              <a:tr h="364166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400" b="1">
                          <a:effectLst/>
                          <a:latin typeface="inherit"/>
                        </a:rPr>
                        <a:t>EOF(End of Frame)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dirty="0">
                          <a:effectLst/>
                          <a:latin typeface="se-nanumgothic"/>
                        </a:rPr>
                        <a:t>프레임 종료를 알림</a:t>
                      </a:r>
                      <a:endParaRPr lang="ko-KR" alt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944903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252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1D863-2556-1FE7-4EA2-B545093F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A7309-FF08-6239-49D4-FA36D7DBD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latin typeface="+mn-lt"/>
              </a:rPr>
              <a:t>통신 구조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2-2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CAN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2.0 A, B </a:t>
            </a:r>
            <a:r>
              <a:rPr lang="ko-KR" altLang="en-US" sz="2800" dirty="0">
                <a:latin typeface="+mn-lt"/>
              </a:rPr>
              <a:t>버전별 차이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A4DE79-662E-4B52-BB70-954B7503CCD2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171DAB-2667-F149-25FD-CE9537BBA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02" y="2450364"/>
            <a:ext cx="7772400" cy="41907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0BA897-BAA0-D785-01C5-D068AA1070AB}"/>
              </a:ext>
            </a:extLst>
          </p:cNvPr>
          <p:cNvSpPr txBox="1"/>
          <p:nvPr/>
        </p:nvSpPr>
        <p:spPr>
          <a:xfrm>
            <a:off x="3421122" y="4028475"/>
            <a:ext cx="1323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&lt;CAN 2.0 A&gt;</a:t>
            </a:r>
            <a:endParaRPr kumimoji="1" lang="ko-KR" altLang="en-US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403443-B81C-8E1F-E51F-04013DC587CB}"/>
              </a:ext>
            </a:extLst>
          </p:cNvPr>
          <p:cNvSpPr txBox="1"/>
          <p:nvPr/>
        </p:nvSpPr>
        <p:spPr>
          <a:xfrm>
            <a:off x="3421122" y="6506086"/>
            <a:ext cx="1314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&lt;CAN 2.0 B&gt;</a:t>
            </a:r>
            <a:endParaRPr kumimoji="1" lang="ko-KR" altLang="en-US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47085B-F990-7DC7-2F78-7FCF164B1E3B}"/>
              </a:ext>
            </a:extLst>
          </p:cNvPr>
          <p:cNvSpPr txBox="1"/>
          <p:nvPr/>
        </p:nvSpPr>
        <p:spPr>
          <a:xfrm>
            <a:off x="7969202" y="2450364"/>
            <a:ext cx="400929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ID</a:t>
            </a:r>
            <a:br>
              <a:rPr kumimoji="1" lang="en-US" altLang="ko-KR" dirty="0"/>
            </a:br>
            <a:r>
              <a:rPr kumimoji="1" lang="en-US" altLang="ko-KR" sz="1400" dirty="0"/>
              <a:t>A: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11bit</a:t>
            </a:r>
            <a:r>
              <a:rPr kumimoji="1" lang="ko-KR" altLang="en-US" sz="1400" dirty="0"/>
              <a:t>의 </a:t>
            </a:r>
            <a:r>
              <a:rPr kumimoji="1" lang="en-US" altLang="ko-KR" sz="1400" dirty="0"/>
              <a:t>Base ID</a:t>
            </a:r>
            <a:r>
              <a:rPr kumimoji="1" lang="ko-KR" altLang="en-US" sz="1400" dirty="0"/>
              <a:t>로 구성됨</a:t>
            </a:r>
            <a:br>
              <a:rPr kumimoji="1" lang="en-US" altLang="ko-KR" sz="1400" dirty="0"/>
            </a:br>
            <a:r>
              <a:rPr kumimoji="1" lang="en-US" altLang="ko-KR" sz="1400" dirty="0"/>
              <a:t>B: 18bit</a:t>
            </a:r>
            <a:r>
              <a:rPr kumimoji="1" lang="ko-KR" altLang="en-US" sz="1400" dirty="0"/>
              <a:t>의 확장 </a:t>
            </a:r>
            <a:r>
              <a:rPr kumimoji="1" lang="en-US" altLang="ko-KR" sz="1400" dirty="0"/>
              <a:t>ID</a:t>
            </a:r>
            <a:r>
              <a:rPr kumimoji="1" lang="ko-KR" altLang="en-US" sz="1400" dirty="0"/>
              <a:t>가 있어 총 </a:t>
            </a:r>
            <a:r>
              <a:rPr kumimoji="1" lang="en-US" altLang="ko-KR" sz="1400" dirty="0"/>
              <a:t>29bit</a:t>
            </a:r>
            <a:r>
              <a:rPr kumimoji="1" lang="ko-KR" altLang="en-US" sz="1400" dirty="0"/>
              <a:t>로 구성됨</a:t>
            </a:r>
            <a:r>
              <a:rPr kumimoji="1" lang="en-US" altLang="ko-KR" sz="1400" dirty="0"/>
              <a:t>(11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+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18)</a:t>
            </a: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Data</a:t>
            </a:r>
            <a:br>
              <a:rPr kumimoji="1" lang="en-US" altLang="ko-KR" dirty="0"/>
            </a:br>
            <a:r>
              <a:rPr kumimoji="1" lang="en-US" altLang="ko-KR" sz="1400" dirty="0"/>
              <a:t>A, B </a:t>
            </a:r>
            <a:r>
              <a:rPr kumimoji="1" lang="ko-KR" altLang="en-US" sz="1400" dirty="0"/>
              <a:t>관계없이 </a:t>
            </a:r>
            <a:r>
              <a:rPr kumimoji="1" lang="en-US" altLang="ko-KR" sz="1400" dirty="0"/>
              <a:t>0~8</a:t>
            </a:r>
            <a:r>
              <a:rPr kumimoji="1" lang="ko-KR" altLang="en-US" sz="1400" dirty="0"/>
              <a:t> 바이트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6283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0CC12-FEEB-A1CD-4E38-76BFE80D2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B1423-847C-654B-2E19-AA4BC7E5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latin typeface="+mn-lt"/>
              </a:rPr>
              <a:t>통신 구조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2-3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CAN ID Filter </a:t>
            </a:r>
            <a:r>
              <a:rPr lang="ko-KR" altLang="en-US" sz="2800" dirty="0">
                <a:latin typeface="+mn-lt"/>
              </a:rPr>
              <a:t>설정 방법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BD148-1CEB-0933-1689-AE5F91B89A20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A50907-8AA1-7253-E370-89CF9ABD936F}"/>
              </a:ext>
            </a:extLst>
          </p:cNvPr>
          <p:cNvSpPr txBox="1"/>
          <p:nvPr/>
        </p:nvSpPr>
        <p:spPr>
          <a:xfrm>
            <a:off x="6976068" y="2832411"/>
            <a:ext cx="4900701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Filter Mode</a:t>
            </a:r>
            <a:r>
              <a:rPr kumimoji="1" lang="ko-KR" altLang="en-US" dirty="0"/>
              <a:t>는 두가지가 존재한다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sz="1400" b="1" dirty="0"/>
              <a:t>1. ID List Mode:</a:t>
            </a:r>
            <a:br>
              <a:rPr kumimoji="1" lang="en-US" altLang="ko-KR" sz="1400" dirty="0"/>
            </a:br>
            <a:r>
              <a:rPr kumimoji="1" lang="en-US" altLang="ko-KR" sz="1400" dirty="0"/>
              <a:t>  Filter ID</a:t>
            </a:r>
            <a:r>
              <a:rPr kumimoji="1" lang="ko-KR" altLang="en-US" sz="1400" dirty="0"/>
              <a:t>와 일치하는 </a:t>
            </a:r>
            <a:r>
              <a:rPr kumimoji="1" lang="en-US" altLang="ko-KR" sz="1400" dirty="0"/>
              <a:t>ID</a:t>
            </a:r>
            <a:r>
              <a:rPr kumimoji="1" lang="ko-KR" altLang="en-US" sz="1400" dirty="0"/>
              <a:t>의 메시지만 수신</a:t>
            </a:r>
            <a:br>
              <a:rPr kumimoji="1" lang="en-US" altLang="ko-KR" sz="1400" dirty="0"/>
            </a:br>
            <a:br>
              <a:rPr kumimoji="1" lang="en-US" altLang="ko-KR" sz="1400" dirty="0"/>
            </a:br>
            <a:r>
              <a:rPr kumimoji="1" lang="en-US" altLang="ko-KR" sz="1400" b="1" dirty="0"/>
              <a:t>2. ID Mask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Mode:</a:t>
            </a:r>
            <a:br>
              <a:rPr kumimoji="1" lang="en-US" altLang="ko-KR" sz="1400" dirty="0"/>
            </a:br>
            <a:r>
              <a:rPr kumimoji="1" lang="ko-KR" altLang="en-US" sz="1400" dirty="0"/>
              <a:t>  </a:t>
            </a:r>
            <a:r>
              <a:rPr kumimoji="1" lang="en-US" altLang="ko-KR" sz="1400" dirty="0"/>
              <a:t>ID</a:t>
            </a:r>
            <a:r>
              <a:rPr kumimoji="1" lang="ko-KR" altLang="en-US" sz="1400" dirty="0"/>
              <a:t>와 </a:t>
            </a:r>
            <a:r>
              <a:rPr kumimoji="1" lang="en-US" altLang="ko-KR" sz="1400" dirty="0"/>
              <a:t>Mask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비교하여 수신 가능한 </a:t>
            </a:r>
            <a:r>
              <a:rPr kumimoji="1" lang="en-US" altLang="ko-KR" sz="1400" dirty="0"/>
              <a:t>ID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계산하는 방식</a:t>
            </a:r>
            <a:endParaRPr kumimoji="1" lang="en-US" altLang="ko-KR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18A2F4-83FB-43B3-A525-EFDC765B7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81" y="2832411"/>
            <a:ext cx="6877042" cy="31847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00B579-7A19-C264-F104-5F3B793DE10C}"/>
              </a:ext>
            </a:extLst>
          </p:cNvPr>
          <p:cNvSpPr txBox="1"/>
          <p:nvPr/>
        </p:nvSpPr>
        <p:spPr>
          <a:xfrm>
            <a:off x="2810107" y="6234545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&lt;ID Mask </a:t>
            </a:r>
            <a:r>
              <a:rPr kumimoji="1" lang="ko-KR" altLang="en-US" dirty="0"/>
              <a:t>방식</a:t>
            </a:r>
            <a:r>
              <a:rPr kumimoji="1" lang="en-US" altLang="ko-KR" dirty="0"/>
              <a:t>&gt;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466BCC-2C10-3705-CCD5-AF49727FCD84}"/>
              </a:ext>
            </a:extLst>
          </p:cNvPr>
          <p:cNvSpPr txBox="1"/>
          <p:nvPr/>
        </p:nvSpPr>
        <p:spPr>
          <a:xfrm>
            <a:off x="5066254" y="6017136"/>
            <a:ext cx="21082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b="1" dirty="0"/>
              <a:t>*</a:t>
            </a:r>
            <a:r>
              <a:rPr kumimoji="1" lang="en-US" altLang="ko-KR" sz="1100" b="1" dirty="0"/>
              <a:t>11bit Standard ID</a:t>
            </a:r>
            <a:r>
              <a:rPr kumimoji="1" lang="ko-KR" altLang="en-US" sz="1100" b="1" dirty="0"/>
              <a:t> 방식 기준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68FD00-2537-7F3F-40CA-75F707695812}"/>
              </a:ext>
            </a:extLst>
          </p:cNvPr>
          <p:cNvSpPr txBox="1"/>
          <p:nvPr/>
        </p:nvSpPr>
        <p:spPr>
          <a:xfrm>
            <a:off x="1630575" y="2895932"/>
            <a:ext cx="785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0x3AA</a:t>
            </a:r>
            <a:endParaRPr kumimoji="1" lang="ko-KR" altLang="en-US" sz="1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697833-9D17-F9A1-F230-9053B5671220}"/>
              </a:ext>
            </a:extLst>
          </p:cNvPr>
          <p:cNvSpPr txBox="1"/>
          <p:nvPr/>
        </p:nvSpPr>
        <p:spPr>
          <a:xfrm>
            <a:off x="807650" y="3476352"/>
            <a:ext cx="753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0x538</a:t>
            </a:r>
            <a:endParaRPr kumimoji="1"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DB325A-71DB-3C7D-498D-178C877729D9}"/>
              </a:ext>
            </a:extLst>
          </p:cNvPr>
          <p:cNvSpPr txBox="1"/>
          <p:nvPr/>
        </p:nvSpPr>
        <p:spPr>
          <a:xfrm>
            <a:off x="574880" y="4537552"/>
            <a:ext cx="750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0x1EB</a:t>
            </a:r>
            <a:endParaRPr kumimoji="1"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6FA8E3-E692-2C77-22DC-D547EFFED127}"/>
              </a:ext>
            </a:extLst>
          </p:cNvPr>
          <p:cNvSpPr txBox="1"/>
          <p:nvPr/>
        </p:nvSpPr>
        <p:spPr>
          <a:xfrm>
            <a:off x="5946285" y="4537552"/>
            <a:ext cx="793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0x6AD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56465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60FFA-1931-C31B-5D1E-115BF5EA5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2A2DA-D2FA-40CF-C54E-9425EA83D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latin typeface="+mn-lt"/>
              </a:rPr>
              <a:t>통신 구조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2-4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CAN </a:t>
            </a:r>
            <a:r>
              <a:rPr lang="ko-KR" altLang="en-US" sz="2800" dirty="0">
                <a:latin typeface="+mn-lt"/>
              </a:rPr>
              <a:t>통신속도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설정 방법 </a:t>
            </a:r>
            <a:r>
              <a:rPr lang="en-US" altLang="ko-KR" sz="2800" dirty="0">
                <a:latin typeface="+mn-lt"/>
              </a:rPr>
              <a:t>#1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8F3B0-4DA3-D828-6FAB-1BD6140B2CD5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3C44C-1A7B-ED9A-4844-E81ACD09C425}"/>
              </a:ext>
            </a:extLst>
          </p:cNvPr>
          <p:cNvSpPr txBox="1"/>
          <p:nvPr/>
        </p:nvSpPr>
        <p:spPr>
          <a:xfrm>
            <a:off x="6554265" y="2736495"/>
            <a:ext cx="574869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타임 </a:t>
            </a:r>
            <a:r>
              <a:rPr kumimoji="1" lang="ko-KR" altLang="en-US" dirty="0" err="1"/>
              <a:t>퀀텀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tq</a:t>
            </a:r>
            <a:r>
              <a:rPr kumimoji="1" lang="en-US" altLang="ko-KR" dirty="0"/>
              <a:t>) </a:t>
            </a:r>
            <a:r>
              <a:rPr kumimoji="1" lang="ko-KR" altLang="en-US" dirty="0"/>
              <a:t>생성</a:t>
            </a:r>
            <a:r>
              <a:rPr kumimoji="1" lang="en-US" altLang="ko-KR" dirty="0"/>
              <a:t>: </a:t>
            </a:r>
            <a:br>
              <a:rPr kumimoji="1" lang="en-US" altLang="ko-KR" dirty="0"/>
            </a:br>
            <a:r>
              <a:rPr kumimoji="1" lang="en-US" altLang="ko-KR" sz="1400" dirty="0"/>
              <a:t>APB </a:t>
            </a:r>
            <a:r>
              <a:rPr kumimoji="1" lang="ko-KR" altLang="en-US" sz="1400" dirty="0"/>
              <a:t>클럭을 </a:t>
            </a:r>
            <a:r>
              <a:rPr kumimoji="1" lang="ko-KR" altLang="en-US" sz="1400" dirty="0" err="1"/>
              <a:t>프리스케일러</a:t>
            </a:r>
            <a:r>
              <a:rPr kumimoji="1" lang="en-US" altLang="ko-KR" sz="1400" dirty="0"/>
              <a:t>(</a:t>
            </a:r>
            <a:r>
              <a:rPr kumimoji="1" lang="en-US" altLang="ko-KR" sz="1400" dirty="0" err="1"/>
              <a:t>Prescaler</a:t>
            </a:r>
            <a:r>
              <a:rPr kumimoji="1" lang="en-US" altLang="ko-KR" sz="1400" dirty="0"/>
              <a:t>)</a:t>
            </a:r>
            <a:r>
              <a:rPr kumimoji="1" lang="ko-KR" altLang="en-US" sz="1400" dirty="0"/>
              <a:t>로 분주하여</a:t>
            </a:r>
            <a:r>
              <a:rPr kumimoji="1" lang="en-US" altLang="ko-KR" sz="1400" dirty="0"/>
              <a:t>, </a:t>
            </a:r>
            <a:br>
              <a:rPr kumimoji="1" lang="en-US" altLang="ko-KR" sz="1400" dirty="0"/>
            </a:br>
            <a:r>
              <a:rPr kumimoji="1" lang="ko-KR" altLang="en-US" sz="1400" dirty="0"/>
              <a:t>비트를 구성하는 최소 시간 단위</a:t>
            </a:r>
            <a:r>
              <a:rPr kumimoji="1" lang="en-US" altLang="ko-KR" sz="1400" dirty="0"/>
              <a:t>(</a:t>
            </a:r>
            <a:r>
              <a:rPr kumimoji="1" lang="en-US" altLang="ko-KR" sz="1400" dirty="0" err="1"/>
              <a:t>tq</a:t>
            </a:r>
            <a:r>
              <a:rPr kumimoji="1" lang="en-US" altLang="ko-KR" sz="1400" dirty="0"/>
              <a:t>)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결정한다</a:t>
            </a:r>
            <a:r>
              <a:rPr kumimoji="1" lang="en-US" altLang="ko-KR" sz="1400" dirty="0"/>
              <a:t>.</a:t>
            </a:r>
            <a:br>
              <a:rPr kumimoji="1" lang="en-US" altLang="ko-KR" sz="1400" dirty="0"/>
            </a:br>
            <a:br>
              <a:rPr kumimoji="1" lang="en-US" altLang="ko-KR" dirty="0"/>
            </a:br>
            <a:r>
              <a:rPr kumimoji="1" lang="en-US" altLang="ko-KR" dirty="0"/>
              <a:t>2.</a:t>
            </a:r>
            <a:r>
              <a:rPr kumimoji="1" lang="ko-KR" altLang="en-US" dirty="0"/>
              <a:t> 비트 세그먼트 구성</a:t>
            </a:r>
            <a:r>
              <a:rPr kumimoji="1" lang="en-US" altLang="ko-KR" dirty="0"/>
              <a:t>: </a:t>
            </a:r>
            <a:br>
              <a:rPr kumimoji="1" lang="en-US" altLang="ko-KR" dirty="0"/>
            </a:br>
            <a:r>
              <a:rPr kumimoji="1" lang="en-US" altLang="ko-KR" sz="1400" dirty="0"/>
              <a:t>1 Bit</a:t>
            </a:r>
            <a:r>
              <a:rPr kumimoji="1" lang="ko-KR" altLang="en-US" sz="1400" dirty="0"/>
              <a:t>의 시간을 </a:t>
            </a:r>
            <a:r>
              <a:rPr kumimoji="1" lang="en-US" altLang="ko-KR" sz="1400" dirty="0"/>
              <a:t>SYNC_SEG(1 </a:t>
            </a:r>
            <a:r>
              <a:rPr kumimoji="1" lang="ko-KR" altLang="en-US" sz="1400" dirty="0"/>
              <a:t>고정</a:t>
            </a:r>
            <a:r>
              <a:rPr kumimoji="1" lang="en-US" altLang="ko-KR" sz="1400" dirty="0"/>
              <a:t>), BS1, BS2</a:t>
            </a:r>
            <a:r>
              <a:rPr kumimoji="1" lang="ko-KR" altLang="en-US" sz="1400" dirty="0"/>
              <a:t>의 세 구간으로 나누어</a:t>
            </a:r>
            <a:br>
              <a:rPr kumimoji="1" lang="en-US" altLang="ko-KR" sz="1400" dirty="0"/>
            </a:br>
            <a:r>
              <a:rPr kumimoji="1" lang="en-US" altLang="ko-KR" sz="1400" dirty="0" err="1"/>
              <a:t>tq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개수를 계산한다</a:t>
            </a:r>
            <a:r>
              <a:rPr kumimoji="1" lang="en-US" altLang="ko-KR" sz="1400" dirty="0"/>
              <a:t>.</a:t>
            </a:r>
            <a:br>
              <a:rPr kumimoji="1" lang="en-US" altLang="ko-KR" sz="1400" dirty="0"/>
            </a:br>
            <a:br>
              <a:rPr kumimoji="1" lang="en-US" altLang="ko-KR" dirty="0"/>
            </a:br>
            <a:r>
              <a:rPr kumimoji="1" lang="en-US" altLang="ko-KR" dirty="0"/>
              <a:t>3.</a:t>
            </a:r>
            <a:r>
              <a:rPr kumimoji="1" lang="ko-KR" altLang="en-US" dirty="0"/>
              <a:t> 샘플링 포인트 최적화</a:t>
            </a:r>
            <a:r>
              <a:rPr kumimoji="1" lang="en-US" altLang="ko-KR" dirty="0"/>
              <a:t>: </a:t>
            </a:r>
            <a:br>
              <a:rPr kumimoji="1" lang="en-US" altLang="ko-KR" dirty="0"/>
            </a:br>
            <a:r>
              <a:rPr kumimoji="1" lang="ko-KR" altLang="en-US" sz="1400" dirty="0"/>
              <a:t>데이터 수신 신뢰성을 위해 전체 비트 길이의 약 </a:t>
            </a:r>
            <a:r>
              <a:rPr kumimoji="1" lang="en-US" altLang="ko-KR" sz="1400" dirty="0"/>
              <a:t>75%~87.5% </a:t>
            </a:r>
            <a:r>
              <a:rPr kumimoji="1" lang="ko-KR" altLang="en-US" sz="1400" dirty="0"/>
              <a:t>지점에서 </a:t>
            </a:r>
            <a:br>
              <a:rPr kumimoji="1" lang="en-US" altLang="ko-KR" sz="1400" dirty="0"/>
            </a:br>
            <a:r>
              <a:rPr kumimoji="1" lang="ko-KR" altLang="en-US" sz="1400" dirty="0"/>
              <a:t>샘플링이 이루어지도록 </a:t>
            </a:r>
            <a:r>
              <a:rPr kumimoji="1" lang="en-US" altLang="ko-KR" sz="1400" dirty="0"/>
              <a:t>BS1</a:t>
            </a:r>
            <a:r>
              <a:rPr kumimoji="1" lang="ko-KR" altLang="en-US" sz="1400" dirty="0"/>
              <a:t>과 </a:t>
            </a:r>
            <a:r>
              <a:rPr kumimoji="1" lang="en-US" altLang="ko-KR" sz="1400" dirty="0"/>
              <a:t>BS2</a:t>
            </a:r>
            <a:r>
              <a:rPr kumimoji="1" lang="ko-KR" altLang="en-US" sz="1400" dirty="0"/>
              <a:t>의 비율을 조정한다</a:t>
            </a:r>
            <a:r>
              <a:rPr kumimoji="1" lang="en-US" altLang="ko-KR" sz="1400" dirty="0"/>
              <a:t>.</a:t>
            </a:r>
            <a:br>
              <a:rPr kumimoji="1" lang="en-US" altLang="ko-KR" sz="1400" dirty="0"/>
            </a:br>
            <a:br>
              <a:rPr kumimoji="1" lang="en-US" altLang="ko-KR" sz="1400" dirty="0"/>
            </a:br>
            <a:r>
              <a:rPr kumimoji="1" lang="en-US" altLang="ko-KR" dirty="0"/>
              <a:t>4.</a:t>
            </a:r>
            <a:r>
              <a:rPr kumimoji="1" lang="ko-KR" altLang="en-US" dirty="0"/>
              <a:t> 최종 통신 속도 확정</a:t>
            </a:r>
            <a:r>
              <a:rPr kumimoji="1" lang="en-US" altLang="ko-KR" dirty="0"/>
              <a:t>: </a:t>
            </a:r>
            <a:br>
              <a:rPr kumimoji="1" lang="en-US" altLang="ko-KR" dirty="0"/>
            </a:br>
            <a:r>
              <a:rPr kumimoji="1" lang="en-US" altLang="ko-KR" sz="1400" dirty="0"/>
              <a:t>1 Bit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구성하는 총 </a:t>
            </a:r>
            <a:r>
              <a:rPr kumimoji="1" lang="en-US" altLang="ko-KR" sz="1400" dirty="0" err="1"/>
              <a:t>tq</a:t>
            </a:r>
            <a:r>
              <a:rPr kumimoji="1" lang="ko-KR" altLang="en-US" sz="1400" dirty="0"/>
              <a:t>개수와 하나의 </a:t>
            </a:r>
            <a:r>
              <a:rPr kumimoji="1" lang="en-US" altLang="ko-KR" sz="1400" dirty="0" err="1"/>
              <a:t>tq</a:t>
            </a:r>
            <a:r>
              <a:rPr kumimoji="1" lang="ko-KR" altLang="en-US" sz="1400" dirty="0"/>
              <a:t>당 시간을 곱하여 </a:t>
            </a:r>
            <a:br>
              <a:rPr kumimoji="1" lang="en-US" altLang="ko-KR" sz="1400" dirty="0"/>
            </a:br>
            <a:r>
              <a:rPr kumimoji="1" lang="ko-KR" altLang="en-US" sz="1400" dirty="0"/>
              <a:t>최종 전송 속도를 산출한다</a:t>
            </a:r>
            <a:r>
              <a:rPr kumimoji="1" lang="en-US" altLang="ko-KR" sz="1400" dirty="0"/>
              <a:t>.</a:t>
            </a:r>
            <a:r>
              <a:rPr kumimoji="1" lang="ko-KR" altLang="en-US" sz="1400" dirty="0"/>
              <a:t> </a:t>
            </a:r>
            <a:br>
              <a:rPr kumimoji="1" lang="en-US" altLang="ko-KR" sz="1400" dirty="0"/>
            </a:br>
            <a:r>
              <a:rPr kumimoji="1" lang="ko-KR" altLang="en-US" sz="1400" dirty="0"/>
              <a:t>결국 </a:t>
            </a:r>
            <a:r>
              <a:rPr kumimoji="1" lang="en-US" altLang="ko-KR" sz="1400" dirty="0"/>
              <a:t>1bit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Time</a:t>
            </a:r>
            <a:r>
              <a:rPr kumimoji="1" lang="ko-KR" altLang="en-US" sz="1400" dirty="0"/>
              <a:t>의 </a:t>
            </a:r>
            <a:r>
              <a:rPr kumimoji="1" lang="ko-KR" altLang="en-US" sz="1400" dirty="0" err="1"/>
              <a:t>역수값이</a:t>
            </a:r>
            <a:r>
              <a:rPr kumimoji="1" lang="ko-KR" altLang="en-US" sz="1400" dirty="0"/>
              <a:t> 통신 속도가 된다</a:t>
            </a:r>
            <a:r>
              <a:rPr kumimoji="1" lang="en-US" altLang="ko-KR" sz="1400" dirty="0"/>
              <a:t>.</a:t>
            </a:r>
            <a:endParaRPr kumimoji="1"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C94316-DD8D-4523-EA33-433E65501D63}"/>
              </a:ext>
            </a:extLst>
          </p:cNvPr>
          <p:cNvSpPr txBox="1"/>
          <p:nvPr/>
        </p:nvSpPr>
        <p:spPr>
          <a:xfrm>
            <a:off x="2251484" y="6436680"/>
            <a:ext cx="43027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/>
              <a:t>*이때 최대 통신속도는 </a:t>
            </a:r>
            <a:r>
              <a:rPr kumimoji="1" lang="en-US" altLang="ko-KR" sz="1400" b="1" dirty="0"/>
              <a:t>1Mbps</a:t>
            </a:r>
            <a:r>
              <a:rPr kumimoji="1" lang="ko-KR" altLang="en-US" sz="1400" b="1" dirty="0"/>
              <a:t> 까지 사용할 수 있다</a:t>
            </a:r>
            <a:r>
              <a:rPr kumimoji="1" lang="en-US" altLang="ko-KR" sz="1400" b="1" dirty="0"/>
              <a:t>.</a:t>
            </a:r>
            <a:endParaRPr kumimoji="1" lang="ko-KR" altLang="en-US" sz="1400" b="1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845B2B-0E7D-DC60-BA7D-B38D3F2F64D5}"/>
              </a:ext>
            </a:extLst>
          </p:cNvPr>
          <p:cNvGrpSpPr/>
          <p:nvPr/>
        </p:nvGrpSpPr>
        <p:grpSpPr>
          <a:xfrm>
            <a:off x="484552" y="2590968"/>
            <a:ext cx="6122023" cy="3768687"/>
            <a:chOff x="484552" y="2590968"/>
            <a:chExt cx="6122023" cy="376868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B510648-F913-D5D5-115C-75F7440CF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4552" y="2590968"/>
              <a:ext cx="6122023" cy="376868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48F2FC-81A3-CFFC-EC66-40D36E981755}"/>
                </a:ext>
              </a:extLst>
            </p:cNvPr>
            <p:cNvSpPr txBox="1"/>
            <p:nvPr/>
          </p:nvSpPr>
          <p:spPr>
            <a:xfrm>
              <a:off x="3485990" y="4820609"/>
              <a:ext cx="26100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b="1" dirty="0"/>
                <a:t>BS1</a:t>
              </a:r>
              <a:r>
                <a:rPr kumimoji="1" lang="ko-KR" altLang="en-US" sz="1200" b="1" dirty="0"/>
                <a:t>은 </a:t>
              </a:r>
              <a:r>
                <a:rPr kumimoji="1" lang="en-US" altLang="ko-KR" sz="1200" b="1" dirty="0"/>
                <a:t>1~16</a:t>
              </a:r>
              <a:r>
                <a:rPr kumimoji="1" lang="ko-KR" altLang="en-US" sz="1200" b="1" dirty="0"/>
                <a:t>개의 타임 </a:t>
              </a:r>
              <a:r>
                <a:rPr kumimoji="1" lang="ko-KR" altLang="en-US" sz="1200" b="1" dirty="0" err="1"/>
                <a:t>퀀텀</a:t>
              </a:r>
              <a:r>
                <a:rPr kumimoji="1" lang="ko-KR" altLang="en-US" sz="1200" b="1" dirty="0"/>
                <a:t> 중 선택</a:t>
              </a:r>
              <a:endParaRPr kumimoji="1" lang="en-US" altLang="ko-KR" sz="1200" b="1" dirty="0"/>
            </a:p>
            <a:p>
              <a:r>
                <a:rPr kumimoji="1" lang="en-US" altLang="ko-KR" sz="1200" b="1" dirty="0"/>
                <a:t>BS2</a:t>
              </a:r>
              <a:r>
                <a:rPr kumimoji="1" lang="ko-KR" altLang="en-US" sz="1200" b="1" dirty="0"/>
                <a:t>는 </a:t>
              </a:r>
              <a:r>
                <a:rPr kumimoji="1" lang="en-US" altLang="ko-KR" sz="1200" b="1" dirty="0"/>
                <a:t>1~8</a:t>
              </a:r>
              <a:r>
                <a:rPr kumimoji="1" lang="ko-KR" altLang="en-US" sz="1200" b="1" dirty="0"/>
                <a:t>개의 타임 </a:t>
              </a:r>
              <a:r>
                <a:rPr kumimoji="1" lang="ko-KR" altLang="en-US" sz="1200" b="1" dirty="0" err="1"/>
                <a:t>퀀텀</a:t>
              </a:r>
              <a:r>
                <a:rPr kumimoji="1" lang="ko-KR" altLang="en-US" sz="1200" b="1" dirty="0"/>
                <a:t> 중 선택</a:t>
              </a:r>
              <a:endParaRPr kumimoji="1" lang="en-US" altLang="ko-KR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88993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B230B-9878-3F24-3FCA-C3E8D78F9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A5D7B-B3EE-A818-1A2E-CB0CB8844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latin typeface="+mn-lt"/>
              </a:rPr>
              <a:t>통신 구조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2-4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CAN </a:t>
            </a:r>
            <a:r>
              <a:rPr lang="ko-KR" altLang="en-US" sz="2800" dirty="0">
                <a:latin typeface="+mn-lt"/>
              </a:rPr>
              <a:t>통신속도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설정 방법 </a:t>
            </a:r>
            <a:r>
              <a:rPr lang="en-US" altLang="ko-KR" sz="2800" dirty="0">
                <a:latin typeface="+mn-lt"/>
              </a:rPr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C02BDC-34E0-0AEE-FDF6-B1C983C797C8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8ADF9E-9123-C823-260F-C0C37A136C4E}"/>
              </a:ext>
            </a:extLst>
          </p:cNvPr>
          <p:cNvSpPr txBox="1"/>
          <p:nvPr/>
        </p:nvSpPr>
        <p:spPr>
          <a:xfrm>
            <a:off x="484552" y="2452199"/>
            <a:ext cx="4397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예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500kbps</a:t>
            </a:r>
            <a:r>
              <a:rPr kumimoji="1" lang="ko-KR" altLang="en-US" dirty="0"/>
              <a:t> 로 통신 속도를 설정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47D26C4-6931-61CD-A88C-E55EB133C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2" y="3638331"/>
            <a:ext cx="6908623" cy="9592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AE643AE-89A8-405A-A1E7-0ACC9F2D7AAA}"/>
              </a:ext>
            </a:extLst>
          </p:cNvPr>
          <p:cNvSpPr txBox="1"/>
          <p:nvPr/>
        </p:nvSpPr>
        <p:spPr>
          <a:xfrm>
            <a:off x="484552" y="3027417"/>
            <a:ext cx="6696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SYNC_SEG: 1		BS1: 11		BS2: 2</a:t>
            </a:r>
          </a:p>
          <a:p>
            <a:r>
              <a:rPr kumimoji="1" lang="ko-KR" altLang="en-US" dirty="0"/>
              <a:t>총 </a:t>
            </a:r>
            <a:r>
              <a:rPr kumimoji="1" lang="en-US" altLang="ko-KR" dirty="0"/>
              <a:t>14</a:t>
            </a:r>
            <a:r>
              <a:rPr kumimoji="1" lang="ko-KR" altLang="en-US" dirty="0"/>
              <a:t>개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62981D4-74F4-5619-A11C-444C9C9E02D6}"/>
              </a:ext>
            </a:extLst>
          </p:cNvPr>
          <p:cNvGrpSpPr/>
          <p:nvPr/>
        </p:nvGrpSpPr>
        <p:grpSpPr>
          <a:xfrm>
            <a:off x="7890434" y="4904509"/>
            <a:ext cx="3463366" cy="1208284"/>
            <a:chOff x="7870118" y="4597593"/>
            <a:chExt cx="3463366" cy="1208284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C8089245-9A39-68E5-1C7F-9BB8BFCE6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70118" y="4597593"/>
              <a:ext cx="3463366" cy="83895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4645E11-5DBE-CEA2-E162-DC6DE9C05151}"/>
                </a:ext>
              </a:extLst>
            </p:cNvPr>
            <p:cNvSpPr txBox="1"/>
            <p:nvPr/>
          </p:nvSpPr>
          <p:spPr>
            <a:xfrm>
              <a:off x="8065162" y="5436545"/>
              <a:ext cx="30732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42MHz / (6 * 14) = 500kbps</a:t>
              </a:r>
              <a:endParaRPr kumimoji="1" lang="ko-KR" altLang="en-US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C0F068A-E6D5-62BA-D9B0-FE5A6AFE2999}"/>
              </a:ext>
            </a:extLst>
          </p:cNvPr>
          <p:cNvGrpSpPr/>
          <p:nvPr/>
        </p:nvGrpSpPr>
        <p:grpSpPr>
          <a:xfrm>
            <a:off x="7921699" y="3638331"/>
            <a:ext cx="3571425" cy="1021647"/>
            <a:chOff x="7870118" y="3638331"/>
            <a:chExt cx="3571425" cy="1021647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46DF5D0-0D7C-21D1-8CCD-D325D80B0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70118" y="3638331"/>
              <a:ext cx="3571425" cy="652315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0812759-C9B3-27AC-71D5-C0D6007DC84C}"/>
                </a:ext>
              </a:extLst>
            </p:cNvPr>
            <p:cNvSpPr txBox="1"/>
            <p:nvPr/>
          </p:nvSpPr>
          <p:spPr>
            <a:xfrm>
              <a:off x="8176899" y="4290646"/>
              <a:ext cx="29578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42MHz/(14 * 500kbps) = 6</a:t>
              </a:r>
              <a:endParaRPr kumimoji="1" lang="ko-KR" alt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637ED8D-FBF9-F277-FB96-D59BFB3BA44F}"/>
              </a:ext>
            </a:extLst>
          </p:cNvPr>
          <p:cNvSpPr txBox="1"/>
          <p:nvPr/>
        </p:nvSpPr>
        <p:spPr>
          <a:xfrm>
            <a:off x="484552" y="4954653"/>
            <a:ext cx="5878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*</a:t>
            </a:r>
            <a:r>
              <a:rPr kumimoji="1" lang="en-US" altLang="ko-KR" dirty="0"/>
              <a:t>SAMPLE POINT = (SYNC_SEG + BS1) / </a:t>
            </a:r>
            <a:r>
              <a:rPr kumimoji="1" lang="ko-KR" altLang="en-US" dirty="0"/>
              <a:t>전체 타임 </a:t>
            </a:r>
            <a:r>
              <a:rPr kumimoji="1" lang="ko-KR" altLang="en-US" dirty="0" err="1"/>
              <a:t>퀀텀</a:t>
            </a:r>
            <a:br>
              <a:rPr kumimoji="1" lang="en-US" altLang="ko-KR" dirty="0"/>
            </a:br>
            <a:r>
              <a:rPr kumimoji="1" lang="ko-KR" altLang="en-US" dirty="0"/>
              <a:t>따라서 </a:t>
            </a:r>
            <a:r>
              <a:rPr kumimoji="1" lang="en-US" altLang="ko-KR" dirty="0"/>
              <a:t>12/14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약</a:t>
            </a:r>
            <a:r>
              <a:rPr kumimoji="1" lang="en-US" altLang="ko-KR" dirty="0"/>
              <a:t> 85%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2462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EAFBF-2A87-22CB-82B9-2AEEA8946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D0D60-6271-A6E6-6718-349858BBD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latin typeface="+mn-lt"/>
              </a:rPr>
              <a:t>통신 구조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2-5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SPI vs I2C vs CAN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7ED5C-B8B0-36AF-1031-FC828626148C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D82EE91-461B-2E68-EB5C-E9AF187CA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746580"/>
              </p:ext>
            </p:extLst>
          </p:nvPr>
        </p:nvGraphicFramePr>
        <p:xfrm>
          <a:off x="2693422" y="2397900"/>
          <a:ext cx="6805156" cy="4332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289">
                  <a:extLst>
                    <a:ext uri="{9D8B030D-6E8A-4147-A177-3AD203B41FA5}">
                      <a16:colId xmlns:a16="http://schemas.microsoft.com/office/drawing/2014/main" val="104072743"/>
                    </a:ext>
                  </a:extLst>
                </a:gridCol>
                <a:gridCol w="1701289">
                  <a:extLst>
                    <a:ext uri="{9D8B030D-6E8A-4147-A177-3AD203B41FA5}">
                      <a16:colId xmlns:a16="http://schemas.microsoft.com/office/drawing/2014/main" val="3339034793"/>
                    </a:ext>
                  </a:extLst>
                </a:gridCol>
                <a:gridCol w="1701289">
                  <a:extLst>
                    <a:ext uri="{9D8B030D-6E8A-4147-A177-3AD203B41FA5}">
                      <a16:colId xmlns:a16="http://schemas.microsoft.com/office/drawing/2014/main" val="102719853"/>
                    </a:ext>
                  </a:extLst>
                </a:gridCol>
                <a:gridCol w="1701289">
                  <a:extLst>
                    <a:ext uri="{9D8B030D-6E8A-4147-A177-3AD203B41FA5}">
                      <a16:colId xmlns:a16="http://schemas.microsoft.com/office/drawing/2014/main" val="2017319295"/>
                    </a:ext>
                  </a:extLst>
                </a:gridCol>
              </a:tblGrid>
              <a:tr h="30903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비교 항목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SPI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I2C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27465855"/>
                  </a:ext>
                </a:extLst>
              </a:tr>
              <a:tr h="30903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선 개수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개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SCK, MOSI, MISO, CS)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  <a:r>
                        <a:rPr lang="ko-KR" alt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개</a:t>
                      </a: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SDA, SCL)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개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CAN_H, CAN_L)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27576026"/>
                  </a:ext>
                </a:extLst>
              </a:tr>
              <a:tr h="45167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최대 속도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가장 빠름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수십 </a:t>
                      </a: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MHz 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이상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보통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(100</a:t>
                      </a: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k, 400k, 1M, 3.4M bps)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빠름 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(1</a:t>
                      </a: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Mbps / FD</a:t>
                      </a: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는 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M~)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17604905"/>
                  </a:ext>
                </a:extLst>
              </a:tr>
              <a:tr h="45167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통신 거리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매우 짧음 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PCB </a:t>
                      </a: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기판 위 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10~20</a:t>
                      </a: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cm)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짧음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보통 기판 위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최대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1~2</a:t>
                      </a: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매우 김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 1Mbps ~ 1km)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60474717"/>
                  </a:ext>
                </a:extLst>
              </a:tr>
              <a:tr h="42892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동기화 방식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동기식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동기식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비동기식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795426844"/>
                  </a:ext>
                </a:extLst>
              </a:tr>
              <a:tr h="42892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통신 방향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전이중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반이중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반이중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019438872"/>
                  </a:ext>
                </a:extLst>
              </a:tr>
              <a:tr h="42892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타겟 구분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CS </a:t>
                      </a: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핀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주소</a:t>
                      </a:r>
                      <a:endParaRPr 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Message ID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24876186"/>
                  </a:ext>
                </a:extLst>
              </a:tr>
              <a:tr h="42892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노이즈 내성</a:t>
                      </a:r>
                      <a:endParaRPr lang="ko-KR" altLang="en-US" sz="10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약함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약함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매우 강함</a:t>
                      </a:r>
                      <a:endParaRPr 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560789113"/>
                  </a:ext>
                </a:extLst>
              </a:tr>
              <a:tr h="5742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추가 하드웨어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없음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풀업</a:t>
                      </a: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저항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필수</a:t>
                      </a:r>
                      <a:endParaRPr 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트랜시버</a:t>
                      </a:r>
                      <a:r>
                        <a:rPr lang="en-US" altLang="ko-KR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</a:t>
                      </a: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종단 저항 </a:t>
                      </a:r>
                      <a:r>
                        <a:rPr lang="ko-KR" altLang="en-US" sz="105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필수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04147707"/>
                  </a:ext>
                </a:extLst>
              </a:tr>
              <a:tr h="45167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주요 용도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고속 데이터 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LCD, SD</a:t>
                      </a: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카드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플래시 메모리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간단한 제어 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센서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RTC, EEPROM)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신뢰성 중요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자동차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로봇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공장 자동화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98591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809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BCB-DC37-2ED8-7610-D383060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D22C4-2A50-3ACB-4332-C9459717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MCU </a:t>
            </a:r>
            <a:r>
              <a:rPr lang="ko-KR" altLang="en-US" sz="2800" dirty="0"/>
              <a:t>내부 </a:t>
            </a:r>
            <a:r>
              <a:rPr lang="en-US" altLang="ko-KR" sz="2800" dirty="0"/>
              <a:t>CAN </a:t>
            </a:r>
            <a:r>
              <a:rPr lang="ko-KR" altLang="en-US" sz="2800" dirty="0"/>
              <a:t>하드웨어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02828-F993-3B3C-4DFE-D5E498F05A0E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6A0C45B-4355-6B6B-24E4-BCD7A34F0B95}"/>
              </a:ext>
            </a:extLst>
          </p:cNvPr>
          <p:cNvGrpSpPr/>
          <p:nvPr/>
        </p:nvGrpSpPr>
        <p:grpSpPr>
          <a:xfrm>
            <a:off x="2032976" y="2656782"/>
            <a:ext cx="7772400" cy="4006391"/>
            <a:chOff x="2032976" y="2656782"/>
            <a:chExt cx="7772400" cy="400639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FEF1B27-9172-2110-F8AB-B344E4F74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2976" y="2656782"/>
              <a:ext cx="7772400" cy="400639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78B0B70-44C4-C063-F693-8107C2AE24F3}"/>
                </a:ext>
              </a:extLst>
            </p:cNvPr>
            <p:cNvSpPr/>
            <p:nvPr/>
          </p:nvSpPr>
          <p:spPr>
            <a:xfrm>
              <a:off x="7043270" y="5711911"/>
              <a:ext cx="1889716" cy="436363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7044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599A-9EB3-9A07-BDA7-853A0F795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C35CA-F569-8606-5BB0-0394EEBBB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-2 MCU </a:t>
            </a:r>
            <a:r>
              <a:rPr lang="ko-KR" altLang="en-US" sz="2800" dirty="0"/>
              <a:t>외부 </a:t>
            </a:r>
            <a:r>
              <a:rPr lang="ko-KR" altLang="en-US" sz="2800" dirty="0" err="1"/>
              <a:t>트랜시버</a:t>
            </a:r>
            <a:r>
              <a:rPr lang="en-US" altLang="ko-KR" sz="2800" dirty="0"/>
              <a:t>(</a:t>
            </a:r>
            <a:r>
              <a:rPr lang="ko-KR" altLang="en-US" sz="2800" dirty="0" err="1"/>
              <a:t>물리개층</a:t>
            </a:r>
            <a:r>
              <a:rPr lang="en-US" altLang="ko-KR" sz="2800" dirty="0"/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D6E15-4E51-A7AB-7291-BFF9FE2EAC35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07494FA-0371-96A3-6756-FF145046A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940023"/>
            <a:ext cx="7772400" cy="3070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A0F761-0242-1632-F945-2986F39CD753}"/>
              </a:ext>
            </a:extLst>
          </p:cNvPr>
          <p:cNvSpPr txBox="1"/>
          <p:nvPr/>
        </p:nvSpPr>
        <p:spPr>
          <a:xfrm>
            <a:off x="8472587" y="2940023"/>
            <a:ext cx="1988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CAN1 Rx: PD0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CAN1 Tx: PD1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883EA5-916F-C2FF-35FC-CB6B1C59FCA0}"/>
              </a:ext>
            </a:extLst>
          </p:cNvPr>
          <p:cNvSpPr txBox="1"/>
          <p:nvPr/>
        </p:nvSpPr>
        <p:spPr>
          <a:xfrm>
            <a:off x="849987" y="6054968"/>
            <a:ext cx="7622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/>
              <a:t>*</a:t>
            </a:r>
            <a:r>
              <a:rPr kumimoji="1" lang="en-US" altLang="ko-KR" sz="1400" b="1" dirty="0"/>
              <a:t>MCU</a:t>
            </a:r>
            <a:r>
              <a:rPr kumimoji="1" lang="ko-KR" altLang="en-US" sz="1400" b="1" dirty="0"/>
              <a:t>는 </a:t>
            </a:r>
            <a:r>
              <a:rPr kumimoji="1" lang="en-US" altLang="ko-KR" sz="1400" b="1" dirty="0"/>
              <a:t>0,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3.3V</a:t>
            </a:r>
            <a:r>
              <a:rPr kumimoji="1" lang="ko-KR" altLang="en-US" sz="1400" b="1" dirty="0"/>
              <a:t>만 출력 가능하므로 </a:t>
            </a:r>
            <a:r>
              <a:rPr kumimoji="1" lang="ko-KR" altLang="en-US" sz="1400" b="1" dirty="0" err="1"/>
              <a:t>차동</a:t>
            </a:r>
            <a:r>
              <a:rPr kumimoji="1" lang="ko-KR" altLang="en-US" sz="1400" b="1" dirty="0"/>
              <a:t> 신호로 변환하기 위해서는 외부 </a:t>
            </a:r>
            <a:r>
              <a:rPr kumimoji="1" lang="en-US" altLang="ko-KR" sz="1400" b="1" dirty="0"/>
              <a:t>PHY</a:t>
            </a:r>
            <a:r>
              <a:rPr kumimoji="1" lang="ko-KR" altLang="en-US" sz="1400" b="1" dirty="0"/>
              <a:t> 칩이 필요하다</a:t>
            </a:r>
            <a:r>
              <a:rPr kumimoji="1" lang="en-US" altLang="ko-KR" sz="1400" b="1" dirty="0"/>
              <a:t>.</a:t>
            </a:r>
            <a:endParaRPr kumimoji="1"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25488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474E5-F4A5-81FB-B12F-F19AB8AF5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4BDA4-452F-3C02-38F9-70C1829F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-3 CAN 1 </a:t>
            </a:r>
            <a:r>
              <a:rPr lang="ko-KR" altLang="en-US" sz="2800" dirty="0"/>
              <a:t>활성화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8F7E5-7F47-F9E1-172E-71BFCBCA11DC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 descr="소프트웨어, 스크린샷, 컴퓨터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D6C9E0-0BC9-C755-EB29-3D75CC3CB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2" y="2547182"/>
            <a:ext cx="6485350" cy="38562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F6FFD8-B1B0-5356-5009-977A9D62DDCF}"/>
              </a:ext>
            </a:extLst>
          </p:cNvPr>
          <p:cNvSpPr txBox="1"/>
          <p:nvPr/>
        </p:nvSpPr>
        <p:spPr>
          <a:xfrm>
            <a:off x="7180210" y="2848476"/>
            <a:ext cx="4527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PD0, PD1</a:t>
            </a:r>
            <a:r>
              <a:rPr kumimoji="1" lang="ko-KR" altLang="en-US" dirty="0"/>
              <a:t>에는 </a:t>
            </a:r>
            <a:r>
              <a:rPr kumimoji="1" lang="en-US" altLang="ko-KR" dirty="0"/>
              <a:t>CAN1</a:t>
            </a:r>
            <a:r>
              <a:rPr kumimoji="1" lang="ko-KR" altLang="en-US" dirty="0"/>
              <a:t>이 할당되어 있으므로</a:t>
            </a:r>
            <a:r>
              <a:rPr kumimoji="1" lang="en-US" altLang="ko-KR" dirty="0"/>
              <a:t>,</a:t>
            </a:r>
            <a:br>
              <a:rPr kumimoji="1" lang="en-US" altLang="ko-KR" dirty="0"/>
            </a:br>
            <a:r>
              <a:rPr kumimoji="1" lang="en-US" altLang="ko-KR" dirty="0"/>
              <a:t>CAN 1</a:t>
            </a:r>
            <a:r>
              <a:rPr kumimoji="1" lang="ko-KR" altLang="en-US" dirty="0"/>
              <a:t>을 활성화 해준다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5718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B68AF-EF2C-19D1-F899-4EB2C7EA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6A4DA0-8284-E73E-CC75-BFAB52252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-4 CAN </a:t>
            </a:r>
            <a:r>
              <a:rPr lang="ko-KR" altLang="en-US" sz="2800" dirty="0"/>
              <a:t>통신 속도 설정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03770-28C5-0FC0-502B-46A4D8917D5C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6" name="그림 5" descr="텍스트, 소프트웨어, 웹 페이지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52EEBE-0982-AD2F-9D18-1F6CD8C9E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2" y="2581873"/>
            <a:ext cx="5518906" cy="37831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2391F3-0C54-002E-1E75-7C05F8A6B27D}"/>
              </a:ext>
            </a:extLst>
          </p:cNvPr>
          <p:cNvSpPr txBox="1"/>
          <p:nvPr/>
        </p:nvSpPr>
        <p:spPr>
          <a:xfrm>
            <a:off x="6188544" y="3090317"/>
            <a:ext cx="52402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CAN1</a:t>
            </a:r>
            <a:r>
              <a:rPr kumimoji="1" lang="ko-KR" altLang="en-US" dirty="0"/>
              <a:t>을 활성화 했다면 앞서 계산한 값인</a:t>
            </a:r>
            <a:br>
              <a:rPr kumimoji="1" lang="en-US" altLang="ko-KR" dirty="0"/>
            </a:br>
            <a:r>
              <a:rPr kumimoji="1" lang="en-US" altLang="ko-KR" dirty="0" err="1"/>
              <a:t>Prescaler</a:t>
            </a:r>
            <a:r>
              <a:rPr kumimoji="1" lang="en-US" altLang="ko-KR" dirty="0"/>
              <a:t>: 6,</a:t>
            </a:r>
            <a:r>
              <a:rPr kumimoji="1" lang="ko-KR" altLang="en-US" dirty="0"/>
              <a:t> </a:t>
            </a:r>
            <a:r>
              <a:rPr kumimoji="1" lang="en-US" altLang="ko-KR" dirty="0"/>
              <a:t>BS1: 11,</a:t>
            </a:r>
            <a:r>
              <a:rPr kumimoji="1" lang="ko-KR" altLang="en-US" dirty="0"/>
              <a:t> </a:t>
            </a:r>
            <a:r>
              <a:rPr kumimoji="1" lang="en-US" altLang="ko-KR" dirty="0"/>
              <a:t>BS2: 2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넣어준다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그러면 자동으로 </a:t>
            </a:r>
            <a:r>
              <a:rPr kumimoji="1" lang="en-US" altLang="ko-KR" dirty="0"/>
              <a:t>Baud</a:t>
            </a:r>
            <a:r>
              <a:rPr kumimoji="1" lang="ko-KR" altLang="en-US" dirty="0"/>
              <a:t> </a:t>
            </a:r>
            <a:r>
              <a:rPr kumimoji="1" lang="en-US" altLang="ko-KR" dirty="0"/>
              <a:t>Rate</a:t>
            </a:r>
            <a:r>
              <a:rPr kumimoji="1" lang="ko-KR" altLang="en-US" dirty="0"/>
              <a:t>가 계산되어 보여진다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154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E3CBE-F732-4290-CA5C-FA2F06A4A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62059-9203-62B2-2C06-846454ED8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-5 CAN </a:t>
            </a:r>
            <a:r>
              <a:rPr lang="ko-KR" altLang="en-US" sz="2800" dirty="0"/>
              <a:t>통신 수신 인터럽트 설정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42A93-FB71-17C8-BD4B-A6743C2D9897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24BF5CB-43EB-6372-BCD4-36ECFA96D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31" y="3619732"/>
            <a:ext cx="6527800" cy="977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B2F525-CDF7-DC46-C7B6-4F58D8C97916}"/>
              </a:ext>
            </a:extLst>
          </p:cNvPr>
          <p:cNvSpPr txBox="1"/>
          <p:nvPr/>
        </p:nvSpPr>
        <p:spPr>
          <a:xfrm>
            <a:off x="7276834" y="3619732"/>
            <a:ext cx="42930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CAN</a:t>
            </a:r>
            <a:r>
              <a:rPr kumimoji="1" lang="ko-KR" altLang="en-US" dirty="0"/>
              <a:t>에는 </a:t>
            </a:r>
            <a:r>
              <a:rPr kumimoji="1" lang="en-US" altLang="ko-KR" dirty="0"/>
              <a:t>FIFO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개가 있어서 </a:t>
            </a:r>
            <a:r>
              <a:rPr kumimoji="1" lang="en-US" altLang="ko-KR" dirty="0"/>
              <a:t>Rx0, Rx1</a:t>
            </a:r>
            <a:br>
              <a:rPr kumimoji="1" lang="en-US" altLang="ko-KR" dirty="0"/>
            </a:br>
            <a:r>
              <a:rPr kumimoji="1" lang="ko-KR" altLang="en-US" dirty="0"/>
              <a:t>이 있는데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그중 </a:t>
            </a:r>
            <a:r>
              <a:rPr kumimoji="1" lang="en-US" altLang="ko-KR" dirty="0"/>
              <a:t>FIFO 0</a:t>
            </a:r>
            <a:r>
              <a:rPr kumimoji="1" lang="ko-KR" altLang="en-US" dirty="0"/>
              <a:t>번을 사용하려면</a:t>
            </a:r>
            <a:br>
              <a:rPr kumimoji="1" lang="en-US" altLang="ko-KR" dirty="0"/>
            </a:br>
            <a:r>
              <a:rPr kumimoji="1" lang="en-US" altLang="ko-KR" dirty="0"/>
              <a:t>Rx0</a:t>
            </a:r>
            <a:r>
              <a:rPr kumimoji="1" lang="ko-KR" altLang="en-US" dirty="0"/>
              <a:t> 인터럽트를 활성화 하면 된다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2950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C1C2-1F4C-C440-18DC-9DF8C187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76B77D-ACBA-BA04-AB10-115D3DFDC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-6 </a:t>
            </a:r>
            <a:r>
              <a:rPr lang="ko-KR" altLang="en-US" sz="2800" dirty="0"/>
              <a:t>그 외 기능들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C6281-85C3-522F-B02E-C64BDC5AFF02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F96317F-5748-778F-9820-AC5AB17DD40D}"/>
              </a:ext>
            </a:extLst>
          </p:cNvPr>
          <p:cNvGrpSpPr/>
          <p:nvPr/>
        </p:nvGrpSpPr>
        <p:grpSpPr>
          <a:xfrm>
            <a:off x="184015" y="3235303"/>
            <a:ext cx="6398017" cy="2110686"/>
            <a:chOff x="484552" y="3343742"/>
            <a:chExt cx="6398017" cy="211068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168F564-85FB-3377-C8E9-E19511DA1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4552" y="3343742"/>
              <a:ext cx="6398017" cy="211068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716E7D-BCBD-3343-3498-1234C67C29F6}"/>
                </a:ext>
              </a:extLst>
            </p:cNvPr>
            <p:cNvSpPr txBox="1"/>
            <p:nvPr/>
          </p:nvSpPr>
          <p:spPr>
            <a:xfrm>
              <a:off x="888822" y="3598148"/>
              <a:ext cx="35458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b="1" dirty="0"/>
                <a:t>1.</a:t>
              </a:r>
            </a:p>
            <a:p>
              <a:r>
                <a:rPr kumimoji="1" lang="en-US" altLang="ko-KR" sz="1400" b="1" dirty="0"/>
                <a:t>2.</a:t>
              </a:r>
            </a:p>
            <a:p>
              <a:r>
                <a:rPr kumimoji="1" lang="en-US" altLang="ko-KR" sz="1400" b="1" dirty="0"/>
                <a:t>3.</a:t>
              </a:r>
            </a:p>
            <a:p>
              <a:r>
                <a:rPr kumimoji="1" lang="en-US" altLang="ko-KR" sz="1400" b="1" dirty="0"/>
                <a:t>4.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C5C1E7B-2A29-9CE2-C05D-7C4331192BD7}"/>
              </a:ext>
            </a:extLst>
          </p:cNvPr>
          <p:cNvSpPr txBox="1"/>
          <p:nvPr/>
        </p:nvSpPr>
        <p:spPr>
          <a:xfrm>
            <a:off x="6582032" y="3429000"/>
            <a:ext cx="572714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sz="1400" dirty="0"/>
              <a:t>데이터 통신 시 데이터에 시간 데이터를 같이 전송하는 기능</a:t>
            </a:r>
            <a:br>
              <a:rPr kumimoji="1" lang="en-US" altLang="ko-KR" sz="1400" dirty="0"/>
            </a:br>
            <a:r>
              <a:rPr kumimoji="1" lang="en-US" altLang="ko-KR" sz="1400" dirty="0"/>
              <a:t>(</a:t>
            </a:r>
            <a:r>
              <a:rPr kumimoji="1" lang="ko-KR" altLang="en-US" sz="1400" dirty="0"/>
              <a:t>만약 기능 활성화시 최대 </a:t>
            </a:r>
            <a:r>
              <a:rPr kumimoji="1" lang="en-US" altLang="ko-KR" sz="1400" dirty="0"/>
              <a:t>6</a:t>
            </a:r>
            <a:r>
              <a:rPr kumimoji="1" lang="ko-KR" altLang="en-US" sz="1400" dirty="0"/>
              <a:t>바이트만 전송 가능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endParaRPr kumimoji="1" lang="en-US" altLang="ko-KR" sz="1400" dirty="0"/>
          </a:p>
          <a:p>
            <a:pPr marL="342900" indent="-342900">
              <a:buAutoNum type="arabicPeriod"/>
            </a:pPr>
            <a:r>
              <a:rPr kumimoji="1" lang="en-US" altLang="ko-KR" sz="1400" dirty="0"/>
              <a:t>CAN </a:t>
            </a:r>
            <a:r>
              <a:rPr kumimoji="1" lang="ko-KR" altLang="en-US" sz="1400" dirty="0"/>
              <a:t>버스에 연결된 장치의 에러가 </a:t>
            </a:r>
            <a:r>
              <a:rPr kumimoji="1" lang="ko-KR" altLang="en-US" sz="1400" dirty="0" err="1"/>
              <a:t>임계값</a:t>
            </a:r>
            <a:r>
              <a:rPr kumimoji="1" lang="ko-KR" altLang="en-US" sz="1400" dirty="0"/>
              <a:t> 이상 넘어갈 경우</a:t>
            </a:r>
            <a:r>
              <a:rPr kumimoji="1" lang="en-US" altLang="ko-KR" sz="1400" dirty="0"/>
              <a:t>,</a:t>
            </a:r>
            <a:br>
              <a:rPr kumimoji="1" lang="en-US" altLang="ko-KR" sz="1400" dirty="0"/>
            </a:br>
            <a:r>
              <a:rPr kumimoji="1" lang="ko-KR" altLang="en-US" sz="1400" dirty="0"/>
              <a:t> 해당 장치를 버스에서 제외하는 기능</a:t>
            </a:r>
            <a:br>
              <a:rPr kumimoji="1" lang="en-US" altLang="ko-KR" sz="1400" dirty="0"/>
            </a:br>
            <a:endParaRPr kumimoji="1" lang="en-US" altLang="ko-KR" sz="1400" dirty="0"/>
          </a:p>
          <a:p>
            <a:pPr marL="342900" indent="-342900">
              <a:buAutoNum type="arabicPeriod"/>
            </a:pPr>
            <a:r>
              <a:rPr kumimoji="1" lang="ko-KR" altLang="en-US" sz="1400" dirty="0"/>
              <a:t>슬립모드를 사용할 경우 자동으로 </a:t>
            </a:r>
            <a:r>
              <a:rPr kumimoji="1" lang="en-US" altLang="ko-KR" sz="1400" dirty="0"/>
              <a:t>Wake-Up</a:t>
            </a:r>
            <a:r>
              <a:rPr kumimoji="1" lang="ko-KR" altLang="en-US" sz="1400" dirty="0"/>
              <a:t> 하는지 설정하는 기능</a:t>
            </a:r>
            <a:br>
              <a:rPr kumimoji="1" lang="en-US" altLang="ko-KR" sz="1400" dirty="0"/>
            </a:br>
            <a:endParaRPr kumimoji="1" lang="en-US" altLang="ko-KR" sz="1400" dirty="0"/>
          </a:p>
          <a:p>
            <a:pPr marL="342900" indent="-342900">
              <a:buAutoNum type="arabicPeriod"/>
            </a:pPr>
            <a:r>
              <a:rPr kumimoji="1" lang="ko-KR" altLang="en-US" sz="1400" dirty="0"/>
              <a:t>만약 전송에 실패할 경우 자동으로 재전송 할지 여부를 설정</a:t>
            </a:r>
            <a:endParaRPr kumimoji="1"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514681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A1E2-4843-3453-9C3B-0DD866E7C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3D66C316-4A15-0C2C-ECA8-87D92DD79B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EAFD4EDB-36E0-FA4B-35C0-29693390714A}"/>
              </a:ext>
            </a:extLst>
          </p:cNvPr>
          <p:cNvSpPr/>
          <p:nvPr/>
        </p:nvSpPr>
        <p:spPr>
          <a:xfrm>
            <a:off x="0" y="0"/>
            <a:ext cx="12192000" cy="2295592"/>
          </a:xfrm>
          <a:prstGeom prst="rect">
            <a:avLst/>
          </a:prstGeom>
          <a:solidFill>
            <a:srgbClr val="46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F8BA0-8C47-7567-C109-749388124145}"/>
              </a:ext>
            </a:extLst>
          </p:cNvPr>
          <p:cNvSpPr txBox="1"/>
          <p:nvPr/>
        </p:nvSpPr>
        <p:spPr>
          <a:xfrm>
            <a:off x="5494308" y="240075"/>
            <a:ext cx="120338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1261341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8047F-1D7A-3B0E-2D3E-E4817AD67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FFC88-8C1F-C17A-A324-302D4D302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latin typeface="+mn-lt"/>
              </a:rPr>
              <a:t>4. </a:t>
            </a:r>
            <a:r>
              <a:rPr lang="ko-KR" altLang="en-US" dirty="0">
                <a:latin typeface="+mn-lt"/>
              </a:rPr>
              <a:t>응용문제</a:t>
            </a:r>
            <a:br>
              <a:rPr lang="en-US" altLang="ko-KR" dirty="0">
                <a:latin typeface="+mn-lt"/>
              </a:rPr>
            </a:b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B1424-7838-BFB7-E72D-315B7CEDC1D2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6B8A7-EA4F-E491-1704-DABDC77EE770}"/>
              </a:ext>
            </a:extLst>
          </p:cNvPr>
          <p:cNvSpPr txBox="1"/>
          <p:nvPr/>
        </p:nvSpPr>
        <p:spPr>
          <a:xfrm>
            <a:off x="484552" y="2720986"/>
            <a:ext cx="88994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문제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9</a:t>
            </a:r>
            <a:r>
              <a:rPr kumimoji="1" lang="ko-KR" altLang="en-US" dirty="0"/>
              <a:t>주차에서 진행한 </a:t>
            </a:r>
            <a:r>
              <a:rPr kumimoji="1" lang="en-US" altLang="ko-KR" dirty="0"/>
              <a:t>MP3</a:t>
            </a:r>
            <a:r>
              <a:rPr kumimoji="1" lang="ko-KR" altLang="en-US" dirty="0"/>
              <a:t> 만들기를 </a:t>
            </a:r>
            <a:r>
              <a:rPr kumimoji="1" lang="en-US" altLang="ko-KR" dirty="0"/>
              <a:t>CAN</a:t>
            </a:r>
            <a:r>
              <a:rPr kumimoji="1" lang="ko-KR" altLang="en-US" dirty="0"/>
              <a:t>을 통해 제어하기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A(MP3</a:t>
            </a:r>
            <a:r>
              <a:rPr kumimoji="1" lang="ko-KR" altLang="en-US" dirty="0"/>
              <a:t> 보드</a:t>
            </a:r>
            <a:r>
              <a:rPr kumimoji="1" lang="en-US" altLang="ko-KR" dirty="0"/>
              <a:t>),</a:t>
            </a:r>
            <a:r>
              <a:rPr kumimoji="1" lang="ko-KR" altLang="en-US" dirty="0"/>
              <a:t> </a:t>
            </a:r>
            <a:r>
              <a:rPr kumimoji="1" lang="en-US" altLang="ko-KR" dirty="0"/>
              <a:t>B(</a:t>
            </a:r>
            <a:r>
              <a:rPr kumimoji="1" lang="ko-KR" altLang="en-US" dirty="0"/>
              <a:t>제어보드</a:t>
            </a:r>
            <a:r>
              <a:rPr kumimoji="1" lang="en-US" altLang="ko-KR" dirty="0"/>
              <a:t>)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B</a:t>
            </a:r>
            <a:r>
              <a:rPr kumimoji="1" lang="ko-KR" altLang="en-US" dirty="0"/>
              <a:t>보드에 있는 버튼을 눌러 </a:t>
            </a:r>
            <a:r>
              <a:rPr kumimoji="1" lang="en-US" altLang="ko-KR" dirty="0"/>
              <a:t>A</a:t>
            </a:r>
            <a:r>
              <a:rPr kumimoji="1" lang="ko-KR" altLang="en-US" dirty="0"/>
              <a:t>보드의 일시정지</a:t>
            </a:r>
            <a:r>
              <a:rPr kumimoji="1" lang="en-US" altLang="ko-KR" dirty="0"/>
              <a:t>,</a:t>
            </a:r>
            <a:r>
              <a:rPr kumimoji="1" lang="ko-KR" altLang="en-US" dirty="0"/>
              <a:t> 재생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다음곡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이전곡</a:t>
            </a:r>
            <a:r>
              <a:rPr kumimoji="1" lang="ko-KR" altLang="en-US" dirty="0"/>
              <a:t> 기능을 제어하기</a:t>
            </a:r>
            <a:br>
              <a:rPr kumimoji="1" lang="en-US" altLang="ko-KR" dirty="0"/>
            </a:br>
            <a:r>
              <a:rPr kumimoji="1" lang="ko-KR" altLang="en-US" dirty="0"/>
              <a:t>이때 기존 </a:t>
            </a:r>
            <a:r>
              <a:rPr kumimoji="1" lang="en-US" altLang="ko-KR" dirty="0"/>
              <a:t>A</a:t>
            </a:r>
            <a:r>
              <a:rPr kumimoji="1" lang="ko-KR" altLang="en-US" dirty="0"/>
              <a:t>보드에 출력되어야 하는 곡정보를 </a:t>
            </a:r>
            <a:r>
              <a:rPr kumimoji="1" lang="en-US" altLang="ko-KR" dirty="0"/>
              <a:t>B</a:t>
            </a:r>
            <a:r>
              <a:rPr kumimoji="1" lang="ko-KR" altLang="en-US" dirty="0"/>
              <a:t>보드 디스플레이에서 보여주기</a:t>
            </a:r>
          </a:p>
        </p:txBody>
      </p:sp>
    </p:spTree>
    <p:extLst>
      <p:ext uri="{BB962C8B-B14F-4D97-AF65-F5344CB8AC3E}">
        <p14:creationId xmlns:p14="http://schemas.microsoft.com/office/powerpoint/2010/main" val="3807957859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4503</TotalTime>
  <Words>1340</Words>
  <Application>Microsoft Macintosh PowerPoint</Application>
  <PresentationFormat>와이드스크린</PresentationFormat>
  <Paragraphs>172</Paragraphs>
  <Slides>25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맑은 고딕</vt:lpstr>
      <vt:lpstr>Google Sans Text</vt:lpstr>
      <vt:lpstr>inherit</vt:lpstr>
      <vt:lpstr>se-nanumgothic</vt:lpstr>
      <vt:lpstr>Arial</vt:lpstr>
      <vt:lpstr>Avenir Next LT Pro</vt:lpstr>
      <vt:lpstr>Bahnschrift</vt:lpstr>
      <vt:lpstr>MatrixVTI</vt:lpstr>
      <vt:lpstr>ARM Processor </vt:lpstr>
      <vt:lpstr>ARM Processor Seminar Roadmap</vt:lpstr>
      <vt:lpstr>PowerPoint 프레젠테이션</vt:lpstr>
      <vt:lpstr>1. CAN 1-1 CAN 통신 프로토콜 개요</vt:lpstr>
      <vt:lpstr>1. CAN 1-2 등장 배경</vt:lpstr>
      <vt:lpstr>1. CAN 1-3 통신 버스 구조 #파형</vt:lpstr>
      <vt:lpstr>1. CAN 1-4 통신 버스 구조 #배선</vt:lpstr>
      <vt:lpstr>1. CAN 1-5 차동 신호란?</vt:lpstr>
      <vt:lpstr>1. CAN 1-6 차동 신호가 노이즈에 더 강한 이유</vt:lpstr>
      <vt:lpstr>1. CAN 1-7 종단 저항이란?</vt:lpstr>
      <vt:lpstr>1. CAN 1-8 전송 케이블 구조(트위스트 페어)</vt:lpstr>
      <vt:lpstr>2. 통신 구조 2-1 CAN 통신의 프레임 구조</vt:lpstr>
      <vt:lpstr>2. 통신 구조 2-2 CAN 2.0 A, B 버전별 차이</vt:lpstr>
      <vt:lpstr>2. 통신 구조 2-3 CAN ID Filter 설정 방법</vt:lpstr>
      <vt:lpstr>2. 통신 구조 2-4 CAN 통신속도 설정 방법 #1</vt:lpstr>
      <vt:lpstr>2. 통신 구조 2-4 CAN 통신속도 설정 방법 #2</vt:lpstr>
      <vt:lpstr>2. 통신 구조 2-5 SPI vs I2C vs CAN</vt:lpstr>
      <vt:lpstr>3. STM32CubeMX 3-1 MCU 내부 CAN 하드웨어</vt:lpstr>
      <vt:lpstr>3. STM32CubeMX 3-2 MCU 외부 트랜시버(물리개층)</vt:lpstr>
      <vt:lpstr>3. STM32CubeMX 3-3 CAN 1 활성화</vt:lpstr>
      <vt:lpstr>3. STM32CubeMX 3-4 CAN 통신 속도 설정</vt:lpstr>
      <vt:lpstr>3. STM32CubeMX 3-5 CAN 통신 수신 인터럽트 설정</vt:lpstr>
      <vt:lpstr>3. STM32CubeMX 3-6 그 외 기능들</vt:lpstr>
      <vt:lpstr>PowerPoint 프레젠테이션</vt:lpstr>
      <vt:lpstr>4. 응용문제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세미나</dc:title>
  <dc:creator>mta</dc:creator>
  <cp:lastModifiedBy>mta</cp:lastModifiedBy>
  <cp:revision>1378</cp:revision>
  <dcterms:created xsi:type="dcterms:W3CDTF">2023-04-01T05:56:39Z</dcterms:created>
  <dcterms:modified xsi:type="dcterms:W3CDTF">2026-01-04T17:29:57Z</dcterms:modified>
</cp:coreProperties>
</file>