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30"/>
  </p:notesMasterIdLst>
  <p:sldIdLst>
    <p:sldId id="256" r:id="rId2"/>
    <p:sldId id="405" r:id="rId3"/>
    <p:sldId id="258" r:id="rId4"/>
    <p:sldId id="435" r:id="rId5"/>
    <p:sldId id="438" r:id="rId6"/>
    <p:sldId id="440" r:id="rId7"/>
    <p:sldId id="439" r:id="rId8"/>
    <p:sldId id="441" r:id="rId9"/>
    <p:sldId id="442" r:id="rId10"/>
    <p:sldId id="443" r:id="rId11"/>
    <p:sldId id="444" r:id="rId12"/>
    <p:sldId id="445" r:id="rId13"/>
    <p:sldId id="454" r:id="rId14"/>
    <p:sldId id="455" r:id="rId15"/>
    <p:sldId id="456" r:id="rId16"/>
    <p:sldId id="424" r:id="rId17"/>
    <p:sldId id="446" r:id="rId18"/>
    <p:sldId id="448" r:id="rId19"/>
    <p:sldId id="453" r:id="rId20"/>
    <p:sldId id="452" r:id="rId21"/>
    <p:sldId id="449" r:id="rId22"/>
    <p:sldId id="450" r:id="rId23"/>
    <p:sldId id="451" r:id="rId24"/>
    <p:sldId id="457" r:id="rId25"/>
    <p:sldId id="459" r:id="rId26"/>
    <p:sldId id="436" r:id="rId27"/>
    <p:sldId id="460" r:id="rId28"/>
    <p:sldId id="46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405"/>
            <p14:sldId id="258"/>
            <p14:sldId id="435"/>
            <p14:sldId id="438"/>
            <p14:sldId id="440"/>
            <p14:sldId id="439"/>
            <p14:sldId id="441"/>
            <p14:sldId id="442"/>
            <p14:sldId id="443"/>
            <p14:sldId id="444"/>
            <p14:sldId id="445"/>
            <p14:sldId id="454"/>
            <p14:sldId id="455"/>
            <p14:sldId id="456"/>
            <p14:sldId id="424"/>
            <p14:sldId id="446"/>
            <p14:sldId id="448"/>
            <p14:sldId id="453"/>
            <p14:sldId id="452"/>
            <p14:sldId id="449"/>
            <p14:sldId id="450"/>
            <p14:sldId id="451"/>
            <p14:sldId id="457"/>
            <p14:sldId id="459"/>
            <p14:sldId id="436"/>
            <p14:sldId id="460"/>
            <p14:sldId id="4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9" autoAdjust="0"/>
    <p:restoredTop sz="94660"/>
  </p:normalViewPr>
  <p:slideViewPr>
    <p:cSldViewPr snapToGrid="0">
      <p:cViewPr varScale="1">
        <p:scale>
          <a:sx n="210" d="100"/>
          <a:sy n="210" d="100"/>
        </p:scale>
        <p:origin x="1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2025. 10. 22.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10/22/25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10/22/25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10/22/25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10/22/25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10/22/25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22.10.2025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10/22/25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2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b="1" dirty="0"/>
              <a:t>*</a:t>
            </a:r>
            <a:r>
              <a:rPr lang="en-US" b="1" dirty="0"/>
              <a:t>UART </a:t>
            </a:r>
            <a:r>
              <a:rPr lang="ko-KR" altLang="en-US" b="1" dirty="0"/>
              <a:t>통신</a:t>
            </a:r>
            <a:endParaRPr lang="ru-RU" b="1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CLCD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ADC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dirty="0"/>
              <a:t>I2C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50" y="465612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SPI</a:t>
            </a:r>
            <a:endParaRPr lang="ru-RU" altLang="ko-K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dirty="0"/>
              <a:t>SDIO &amp; </a:t>
            </a:r>
            <a:r>
              <a:rPr lang="en-US" dirty="0" err="1"/>
              <a:t>Fatfs</a:t>
            </a:r>
            <a:endParaRPr lang="ru-RU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DAC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22E16F-C22D-353D-24DC-D8B20B7D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717" y="107950"/>
            <a:ext cx="5791200" cy="66421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491317" y="1398494"/>
            <a:ext cx="5620871" cy="90543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UART </a:t>
            </a:r>
            <a:r>
              <a:rPr lang="ko-KR" altLang="en-US" dirty="0">
                <a:solidFill>
                  <a:srgbClr val="FFFFFF"/>
                </a:solidFill>
              </a:rPr>
              <a:t>개념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</a:t>
            </a:r>
            <a:r>
              <a:rPr lang="ko-KR" altLang="en-US" sz="2800" dirty="0"/>
              <a:t> 직렬 통신과 병렬 통신의 차이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FC5C09-BB90-CE0C-C352-B1CA9E281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2645708"/>
            <a:ext cx="6781800" cy="2654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27C9BD-7025-A247-1945-FF10FCF59300}"/>
              </a:ext>
            </a:extLst>
          </p:cNvPr>
          <p:cNvSpPr txBox="1"/>
          <p:nvPr/>
        </p:nvSpPr>
        <p:spPr>
          <a:xfrm>
            <a:off x="2418775" y="5773271"/>
            <a:ext cx="7109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직렬 통신은 데이터를 순차적으로 전송하며 병렬 통신은 동시에 전송</a:t>
            </a:r>
            <a:endParaRPr kumimoji="1" lang="en-US" altLang="ko-KR" dirty="0"/>
          </a:p>
          <a:p>
            <a:r>
              <a:rPr kumimoji="1" lang="ko-KR" altLang="en-US" dirty="0"/>
              <a:t>이번에 학습하는 </a:t>
            </a:r>
            <a:r>
              <a:rPr kumimoji="1" lang="en-US" altLang="ko-KR" b="1" dirty="0"/>
              <a:t>UART</a:t>
            </a:r>
            <a:r>
              <a:rPr kumimoji="1" lang="ko-KR" altLang="en-US" b="1" dirty="0"/>
              <a:t>는 직렬통신이다</a:t>
            </a:r>
            <a:r>
              <a:rPr kumimoji="1" lang="en-US" altLang="ko-KR" b="1" dirty="0"/>
              <a:t>.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061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73F3A-C678-F105-B874-23BEA1C6E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AC726-2FCC-EEB9-2B20-ED27787E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>
                <a:solidFill>
                  <a:srgbClr val="FFFFFF"/>
                </a:solidFill>
              </a:rPr>
              <a:t>UART </a:t>
            </a:r>
            <a:r>
              <a:rPr lang="ko-KR" altLang="en-US" dirty="0">
                <a:solidFill>
                  <a:srgbClr val="FFFFFF"/>
                </a:solidFill>
              </a:rPr>
              <a:t>개념 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1-2</a:t>
            </a:r>
            <a:r>
              <a:rPr lang="ko-KR" altLang="en-US" sz="2800" dirty="0"/>
              <a:t> </a:t>
            </a:r>
            <a:r>
              <a:rPr lang="en-US" altLang="ko-KR" sz="2800" dirty="0"/>
              <a:t>UART</a:t>
            </a:r>
            <a:r>
              <a:rPr lang="ko-KR" altLang="en-US" sz="2800" dirty="0"/>
              <a:t>와 </a:t>
            </a:r>
            <a:r>
              <a:rPr lang="en-US" altLang="ko-KR" sz="2800" dirty="0"/>
              <a:t>USART</a:t>
            </a:r>
            <a:r>
              <a:rPr lang="ko-KR" altLang="en-US" sz="2800" dirty="0"/>
              <a:t>의 차이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906168-3B77-FB14-44DC-DC7BA957EF81}"/>
              </a:ext>
            </a:extLst>
          </p:cNvPr>
          <p:cNvSpPr txBox="1"/>
          <p:nvPr/>
        </p:nvSpPr>
        <p:spPr>
          <a:xfrm>
            <a:off x="5818241" y="2772158"/>
            <a:ext cx="3782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* USART(</a:t>
            </a:r>
            <a:r>
              <a:rPr lang="en-US" altLang="ko-KR" sz="1200" dirty="0"/>
              <a:t>Universal </a:t>
            </a:r>
            <a:r>
              <a:rPr lang="en-US" altLang="ko-KR" sz="1200" b="1" dirty="0" err="1"/>
              <a:t>Synchronus</a:t>
            </a:r>
            <a:r>
              <a:rPr lang="en-US" altLang="ko-KR" sz="1200" dirty="0"/>
              <a:t> Receiver Transmit)</a:t>
            </a:r>
          </a:p>
          <a:p>
            <a:r>
              <a:rPr lang="en-US" altLang="ko-KR" sz="1200" dirty="0"/>
              <a:t>* UART(Universal </a:t>
            </a:r>
            <a:r>
              <a:rPr lang="en-US" altLang="ko-KR" sz="1200" b="1" dirty="0"/>
              <a:t>Asynchronous</a:t>
            </a:r>
            <a:r>
              <a:rPr lang="en-US" altLang="ko-KR" sz="1200" dirty="0"/>
              <a:t> Receiver Transmit)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A90733-5BBB-7A38-8D56-5041593FD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233823"/>
            <a:ext cx="7010400" cy="2324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F60669-3059-D829-044C-659FFC28F2B1}"/>
              </a:ext>
            </a:extLst>
          </p:cNvPr>
          <p:cNvSpPr txBox="1"/>
          <p:nvPr/>
        </p:nvSpPr>
        <p:spPr>
          <a:xfrm>
            <a:off x="2173516" y="5755104"/>
            <a:ext cx="784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USART</a:t>
            </a:r>
            <a:r>
              <a:rPr kumimoji="1" lang="ko-KR" altLang="en-US" dirty="0"/>
              <a:t>는 클럭이 있는 동기 신호이며 </a:t>
            </a:r>
            <a:r>
              <a:rPr kumimoji="1" lang="en-US" altLang="ko-KR" dirty="0"/>
              <a:t>UART</a:t>
            </a:r>
            <a:r>
              <a:rPr kumimoji="1" lang="ko-KR" altLang="en-US" dirty="0"/>
              <a:t>는 클럭이 없는 비동기 통신이다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이에 따라 </a:t>
            </a:r>
            <a:r>
              <a:rPr kumimoji="1" lang="en-US" altLang="ko-KR" dirty="0"/>
              <a:t>Start, Stop</a:t>
            </a:r>
            <a:r>
              <a:rPr kumimoji="1" lang="ko-KR" altLang="en-US" dirty="0"/>
              <a:t> 비트 유무에서 차이가 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4446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137C-1E63-9945-A301-4BE7F497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F4AD1-B899-AF8E-BEE0-6977FEDE5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ARM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Training Kit UART </a:t>
            </a:r>
            <a:r>
              <a:rPr lang="ko-KR" altLang="en-US" dirty="0">
                <a:solidFill>
                  <a:srgbClr val="FFFFFF"/>
                </a:solidFill>
                <a:latin typeface="+mn-lt"/>
              </a:rPr>
              <a:t>회로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</a:t>
            </a:r>
            <a:r>
              <a:rPr lang="ko-KR" altLang="en-US" sz="2800" dirty="0"/>
              <a:t> </a:t>
            </a:r>
            <a:r>
              <a:rPr lang="en-US" altLang="ko-KR" sz="2800" dirty="0"/>
              <a:t>STM32F405VG UART </a:t>
            </a:r>
            <a:r>
              <a:rPr lang="ko-KR" altLang="en-US" sz="2800" dirty="0"/>
              <a:t>채널 설명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0BB15D-75E4-93FC-15CB-7EEC4E083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386841"/>
            <a:ext cx="4414554" cy="4204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D03EFF-3BA3-2075-E6A8-A27CD5E36798}"/>
              </a:ext>
            </a:extLst>
          </p:cNvPr>
          <p:cNvSpPr txBox="1"/>
          <p:nvPr/>
        </p:nvSpPr>
        <p:spPr>
          <a:xfrm>
            <a:off x="4899106" y="4166031"/>
            <a:ext cx="6804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STM32F40xxx </a:t>
            </a:r>
            <a:r>
              <a:rPr kumimoji="1" lang="ko-KR" altLang="en-US" dirty="0"/>
              <a:t>에는 총 </a:t>
            </a:r>
            <a:r>
              <a:rPr kumimoji="1" lang="en-US" altLang="ko-KR" dirty="0"/>
              <a:t>4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USART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UART</a:t>
            </a:r>
            <a:r>
              <a:rPr kumimoji="1" lang="ko-KR" altLang="en-US" dirty="0"/>
              <a:t> 채널이 존재</a:t>
            </a:r>
            <a:endParaRPr kumimoji="1" lang="en-US" altLang="ko-KR" dirty="0"/>
          </a:p>
          <a:p>
            <a:r>
              <a:rPr kumimoji="1" lang="ko-KR" altLang="en-US" dirty="0"/>
              <a:t>이때 </a:t>
            </a:r>
            <a:r>
              <a:rPr kumimoji="1" lang="en-US" altLang="ko-KR" b="1" dirty="0"/>
              <a:t>USART</a:t>
            </a:r>
            <a:r>
              <a:rPr kumimoji="1" lang="ko-KR" altLang="en-US" b="1" dirty="0"/>
              <a:t>는 옵션을 통해 </a:t>
            </a:r>
            <a:r>
              <a:rPr kumimoji="1" lang="en-US" altLang="ko-KR" b="1" dirty="0"/>
              <a:t>UART</a:t>
            </a:r>
            <a:r>
              <a:rPr kumimoji="1" lang="ko-KR" altLang="en-US" b="1" dirty="0"/>
              <a:t>로 사용 가능하지만 반대는 불가</a:t>
            </a:r>
          </a:p>
        </p:txBody>
      </p:sp>
    </p:spTree>
    <p:extLst>
      <p:ext uri="{BB962C8B-B14F-4D97-AF65-F5344CB8AC3E}">
        <p14:creationId xmlns:p14="http://schemas.microsoft.com/office/powerpoint/2010/main" val="308541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0DEB-6907-BFED-BD34-86EABBA5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3EAE7-6BEA-5314-5D7A-87BE4378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ARM </a:t>
            </a:r>
            <a:r>
              <a:rPr lang="en-US" altLang="ko-KR" dirty="0">
                <a:solidFill>
                  <a:srgbClr val="FFFFFF"/>
                </a:solidFill>
                <a:latin typeface="+mn-lt"/>
              </a:rPr>
              <a:t>Training Kit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-2</a:t>
            </a:r>
            <a:r>
              <a:rPr lang="ko-KR" altLang="en-US" sz="2800" dirty="0"/>
              <a:t> 회로 설명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D580A8-3FCF-CB3E-4027-2CE864DC2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976" y="2646144"/>
            <a:ext cx="7772400" cy="2837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E5369-E6BF-A87E-251A-6289A0FF2DBF}"/>
              </a:ext>
            </a:extLst>
          </p:cNvPr>
          <p:cNvSpPr txBox="1"/>
          <p:nvPr/>
        </p:nvSpPr>
        <p:spPr>
          <a:xfrm>
            <a:off x="3516960" y="5701657"/>
            <a:ext cx="529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학습 보드에서는 </a:t>
            </a:r>
            <a:r>
              <a:rPr kumimoji="1" lang="en-US" altLang="ko-KR" b="1" dirty="0"/>
              <a:t>FT232RL(USB to TTL)</a:t>
            </a:r>
            <a:r>
              <a:rPr kumimoji="1" lang="ko-KR" altLang="en-US" b="1" dirty="0"/>
              <a:t>을 사용한 </a:t>
            </a:r>
            <a:endParaRPr kumimoji="1" lang="en-US" altLang="ko-KR" b="1" dirty="0"/>
          </a:p>
          <a:p>
            <a:r>
              <a:rPr kumimoji="1" lang="en-US" altLang="ko-KR" b="1" dirty="0"/>
              <a:t>UART </a:t>
            </a:r>
            <a:r>
              <a:rPr kumimoji="1" lang="ko-KR" altLang="en-US" b="1" dirty="0"/>
              <a:t>방식으로 설계되어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1F613-B7E9-CB79-E03C-2AC4E7DDC207}"/>
              </a:ext>
            </a:extLst>
          </p:cNvPr>
          <p:cNvSpPr txBox="1"/>
          <p:nvPr/>
        </p:nvSpPr>
        <p:spPr>
          <a:xfrm>
            <a:off x="7509559" y="2369145"/>
            <a:ext cx="2330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*maximum </a:t>
            </a:r>
            <a:r>
              <a:rPr lang="en-US" altLang="ko-KR" sz="1200" dirty="0" err="1"/>
              <a:t>baudrate</a:t>
            </a:r>
            <a:r>
              <a:rPr lang="en-US" altLang="ko-KR" sz="1200" dirty="0"/>
              <a:t> =  3Mbps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283678D-3D2E-C095-F2D6-AB1FC76BE7B5}"/>
              </a:ext>
            </a:extLst>
          </p:cNvPr>
          <p:cNvCxnSpPr>
            <a:cxnSpLocks/>
          </p:cNvCxnSpPr>
          <p:nvPr/>
        </p:nvCxnSpPr>
        <p:spPr>
          <a:xfrm flipH="1">
            <a:off x="9071333" y="3544057"/>
            <a:ext cx="817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E98D69F-5232-9843-C3ED-4F84A8DB0202}"/>
              </a:ext>
            </a:extLst>
          </p:cNvPr>
          <p:cNvCxnSpPr>
            <a:cxnSpLocks/>
          </p:cNvCxnSpPr>
          <p:nvPr/>
        </p:nvCxnSpPr>
        <p:spPr>
          <a:xfrm flipH="1">
            <a:off x="9071333" y="3659114"/>
            <a:ext cx="817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02DA81-69E7-F37E-9B1C-9AF43E73EF36}"/>
              </a:ext>
            </a:extLst>
          </p:cNvPr>
          <p:cNvSpPr txBox="1"/>
          <p:nvPr/>
        </p:nvSpPr>
        <p:spPr>
          <a:xfrm>
            <a:off x="9805375" y="2962651"/>
            <a:ext cx="2330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*</a:t>
            </a:r>
            <a:r>
              <a:rPr lang="en-US" altLang="ko-KR" sz="1100" b="1" dirty="0"/>
              <a:t>USART3(PB10, PB11)</a:t>
            </a:r>
            <a:r>
              <a:rPr lang="ko-KR" altLang="en-US" sz="1100" b="1" dirty="0" err="1"/>
              <a:t>에</a:t>
            </a:r>
            <a:r>
              <a:rPr lang="ko-KR" altLang="en-US" sz="1100" b="1" dirty="0"/>
              <a:t> 연결됨</a:t>
            </a:r>
            <a:endParaRPr lang="en-US" altLang="ko-KR" sz="1100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0392BED-CF6D-9434-4C3D-9A059CE90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9300" y="3429000"/>
            <a:ext cx="890261" cy="120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8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94D4-E1A7-427A-22F9-35079CA8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E1BC2-4475-531B-9E5D-919319A6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CB561-7C57-9FB1-8A20-C3724DE4C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2" y="3970264"/>
            <a:ext cx="2667000" cy="120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77B53E-2869-892E-E178-F2F94B2A892A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E3DF6B-B75E-C6FD-0E31-EEA549279F83}"/>
              </a:ext>
            </a:extLst>
          </p:cNvPr>
          <p:cNvSpPr txBox="1"/>
          <p:nvPr/>
        </p:nvSpPr>
        <p:spPr>
          <a:xfrm>
            <a:off x="782396" y="5456122"/>
            <a:ext cx="2391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1.</a:t>
            </a:r>
            <a:r>
              <a:rPr kumimoji="1" lang="ko-KR" altLang="en-US" dirty="0"/>
              <a:t> 프로젝트 파일 복사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5F470F0-7C55-97BE-6B65-34FF37711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99" y="4014714"/>
            <a:ext cx="2324100" cy="1117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466228-78D1-8407-14CE-AD1AF3DE9338}"/>
              </a:ext>
            </a:extLst>
          </p:cNvPr>
          <p:cNvSpPr txBox="1"/>
          <p:nvPr/>
        </p:nvSpPr>
        <p:spPr>
          <a:xfrm>
            <a:off x="4675459" y="5456122"/>
            <a:ext cx="1872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 </a:t>
            </a:r>
            <a:r>
              <a:rPr kumimoji="1" lang="ko-KR" altLang="en-US" dirty="0"/>
              <a:t>폴더이름 변경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50B097B-73A5-4091-5104-676412FAC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537" y="3176514"/>
            <a:ext cx="4533900" cy="2794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6C500C-4B85-9EAD-5970-F0C51656DCE0}"/>
              </a:ext>
            </a:extLst>
          </p:cNvPr>
          <p:cNvSpPr txBox="1"/>
          <p:nvPr/>
        </p:nvSpPr>
        <p:spPr>
          <a:xfrm>
            <a:off x="7615973" y="6123543"/>
            <a:ext cx="403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ioc</a:t>
            </a:r>
            <a:r>
              <a:rPr kumimoji="1" lang="ko-KR" altLang="en-US" dirty="0"/>
              <a:t> 파일을 변경된 이름에 맞춰 변경</a:t>
            </a:r>
          </a:p>
        </p:txBody>
      </p:sp>
    </p:spTree>
    <p:extLst>
      <p:ext uri="{BB962C8B-B14F-4D97-AF65-F5344CB8AC3E}">
        <p14:creationId xmlns:p14="http://schemas.microsoft.com/office/powerpoint/2010/main" val="359700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84C1-9219-A67E-8450-689F8F0E0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F3DF9-C0F3-0965-F78A-022267A89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C90DA-D4F8-49E5-73F2-427EDD1B350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9710D-6AF3-95FA-7F4E-3A30F5BA5201}"/>
              </a:ext>
            </a:extLst>
          </p:cNvPr>
          <p:cNvSpPr txBox="1"/>
          <p:nvPr/>
        </p:nvSpPr>
        <p:spPr>
          <a:xfrm>
            <a:off x="472542" y="5938877"/>
            <a:ext cx="450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Debug.launch</a:t>
            </a:r>
            <a:r>
              <a:rPr kumimoji="1" lang="ko-KR" altLang="en-US" dirty="0"/>
              <a:t> 파일과 </a:t>
            </a:r>
            <a:r>
              <a:rPr kumimoji="1" lang="en-US" altLang="ko-KR" dirty="0"/>
              <a:t>Debug </a:t>
            </a:r>
            <a:r>
              <a:rPr kumimoji="1" lang="ko-KR" altLang="en-US" dirty="0"/>
              <a:t>폴더 삭제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C632F9-F3EB-3EE7-972A-3933406A11F6}"/>
              </a:ext>
            </a:extLst>
          </p:cNvPr>
          <p:cNvSpPr txBox="1"/>
          <p:nvPr/>
        </p:nvSpPr>
        <p:spPr>
          <a:xfrm>
            <a:off x="6060319" y="5792058"/>
            <a:ext cx="5108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STM32CubeIDE</a:t>
            </a:r>
            <a:r>
              <a:rPr kumimoji="1" lang="ko-KR" altLang="en-US" dirty="0"/>
              <a:t> 실행</a:t>
            </a:r>
            <a:endParaRPr kumimoji="1" lang="en-US" altLang="ko-KR" dirty="0"/>
          </a:p>
          <a:p>
            <a:r>
              <a:rPr kumimoji="1" lang="ko-KR" altLang="en-US" dirty="0"/>
              <a:t>*이때 워크스페이스는 프로젝트 </a:t>
            </a:r>
            <a:r>
              <a:rPr kumimoji="1" lang="en-US" altLang="ko-KR" dirty="0"/>
              <a:t>root </a:t>
            </a:r>
            <a:r>
              <a:rPr kumimoji="1" lang="ko-KR" altLang="en-US" dirty="0" err="1"/>
              <a:t>경로여야함</a:t>
            </a:r>
            <a:endParaRPr kumimoji="1" lang="ko-KR" altLang="en-US" dirty="0"/>
          </a:p>
        </p:txBody>
      </p:sp>
      <p:pic>
        <p:nvPicPr>
          <p:cNvPr id="7" name="그림 6" descr="텍스트, 스크린샷, 전자제품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D4538-96BD-0DB7-85AA-49D94EA4C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3017235"/>
            <a:ext cx="4572000" cy="278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252DE3-F0D4-9257-9A22-84C82CC05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284" y="3573287"/>
            <a:ext cx="3886200" cy="158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0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DA43-435D-0DBB-29EC-78C48A04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3B1BB-1A82-203C-E27A-8A9678C5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C14D1-298F-249E-B3B8-90F6470739AC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B58F-5E07-05B3-A776-6221332B2B11}"/>
              </a:ext>
            </a:extLst>
          </p:cNvPr>
          <p:cNvSpPr txBox="1"/>
          <p:nvPr/>
        </p:nvSpPr>
        <p:spPr>
          <a:xfrm>
            <a:off x="806247" y="5792058"/>
            <a:ext cx="383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6.</a:t>
            </a:r>
            <a:r>
              <a:rPr kumimoji="1" lang="ko-KR" altLang="en-US" dirty="0"/>
              <a:t> 이전에 </a:t>
            </a:r>
            <a:r>
              <a:rPr kumimoji="1" lang="ko-KR" altLang="en-US" dirty="0" err="1"/>
              <a:t>열려있던</a:t>
            </a:r>
            <a:r>
              <a:rPr kumimoji="1" lang="ko-KR" altLang="en-US" dirty="0"/>
              <a:t> 프로젝트들 삭제</a:t>
            </a:r>
          </a:p>
        </p:txBody>
      </p:sp>
      <p:pic>
        <p:nvPicPr>
          <p:cNvPr id="4" name="그림 3" descr="텍스트, 소프트웨어, 멀티미디어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97F45E-D824-60A8-9136-1F9C8A134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08" y="3449506"/>
            <a:ext cx="4102100" cy="18288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30C58B-A99E-3ED5-1971-CE78B531A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444" y="3576506"/>
            <a:ext cx="3721100" cy="170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3752F2-368E-1FCD-30DA-FB2B06619414}"/>
              </a:ext>
            </a:extLst>
          </p:cNvPr>
          <p:cNvSpPr txBox="1"/>
          <p:nvPr/>
        </p:nvSpPr>
        <p:spPr>
          <a:xfrm>
            <a:off x="6566452" y="5653558"/>
            <a:ext cx="4473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7.</a:t>
            </a:r>
            <a:r>
              <a:rPr kumimoji="1" lang="ko-KR" altLang="en-US" dirty="0"/>
              <a:t> </a:t>
            </a:r>
            <a:r>
              <a:rPr kumimoji="1" lang="en-US" altLang="ko-KR" dirty="0"/>
              <a:t>OK</a:t>
            </a:r>
            <a:r>
              <a:rPr kumimoji="1" lang="ko-KR" altLang="en-US" dirty="0"/>
              <a:t> 버튼 클릭</a:t>
            </a:r>
            <a:endParaRPr kumimoji="1" lang="en-US" altLang="ko-KR" dirty="0"/>
          </a:p>
          <a:p>
            <a:r>
              <a:rPr kumimoji="1" lang="ko-KR" altLang="en-US" dirty="0"/>
              <a:t>*이때 완전히 </a:t>
            </a:r>
            <a:r>
              <a:rPr kumimoji="1" lang="ko-KR" altLang="en-US" dirty="0" err="1"/>
              <a:t>삭제할꺼</a:t>
            </a:r>
            <a:r>
              <a:rPr kumimoji="1" lang="ko-KR" altLang="en-US" dirty="0"/>
              <a:t> 아니면 옵션 체크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339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99EED-11FF-1476-41B9-7AF561EE9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C121-93B7-028D-930C-B51B886C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#4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DAE6DB-16F7-28E1-6FCE-3B21D72FD422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C128E-4B17-3275-91EA-1FDB36CD9BA7}"/>
              </a:ext>
            </a:extLst>
          </p:cNvPr>
          <p:cNvSpPr txBox="1"/>
          <p:nvPr/>
        </p:nvSpPr>
        <p:spPr>
          <a:xfrm>
            <a:off x="697246" y="565355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8.</a:t>
            </a:r>
            <a:r>
              <a:rPr kumimoji="1" lang="ko-KR" altLang="en-US" dirty="0"/>
              <a:t> </a:t>
            </a:r>
            <a:r>
              <a:rPr kumimoji="1" lang="en-US" altLang="ko-KR" dirty="0"/>
              <a:t>Import projects</a:t>
            </a:r>
            <a:r>
              <a:rPr kumimoji="1" lang="ko-KR" altLang="en-US" dirty="0"/>
              <a:t> 클릭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1A8C21-F6C4-461B-16B8-38FF504D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9" y="3944806"/>
            <a:ext cx="3302000" cy="1333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475CF1-7F2C-3414-3243-EA9D91851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956" y="3677721"/>
            <a:ext cx="2049985" cy="1883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006B9-BDF8-4D09-9882-2F0E4CB1CF11}"/>
              </a:ext>
            </a:extLst>
          </p:cNvPr>
          <p:cNvSpPr txBox="1"/>
          <p:nvPr/>
        </p:nvSpPr>
        <p:spPr>
          <a:xfrm>
            <a:off x="4387070" y="56596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9.</a:t>
            </a:r>
            <a:r>
              <a:rPr kumimoji="1" lang="ko-KR" altLang="en-US" dirty="0"/>
              <a:t> </a:t>
            </a:r>
            <a:r>
              <a:rPr kumimoji="1" lang="en-US" altLang="ko-KR" dirty="0"/>
              <a:t>Existing Projects.. </a:t>
            </a:r>
            <a:r>
              <a:rPr kumimoji="1" lang="ko-KR" altLang="en-US" dirty="0"/>
              <a:t>옵션 선택</a:t>
            </a:r>
            <a:r>
              <a:rPr kumimoji="1" lang="en-US" altLang="ko-KR" dirty="0"/>
              <a:t> </a:t>
            </a:r>
            <a:r>
              <a:rPr kumimoji="1" lang="ko-KR" altLang="en-US" dirty="0"/>
              <a:t>후</a:t>
            </a:r>
            <a:endParaRPr kumimoji="1" lang="en-US" altLang="ko-KR" dirty="0"/>
          </a:p>
          <a:p>
            <a:r>
              <a:rPr kumimoji="1" lang="ko-KR" altLang="en-US" dirty="0"/>
              <a:t>프로젝트 </a:t>
            </a:r>
            <a:r>
              <a:rPr kumimoji="1" lang="en-US" altLang="ko-KR" dirty="0"/>
              <a:t>root </a:t>
            </a:r>
            <a:r>
              <a:rPr kumimoji="1" lang="ko-KR" altLang="en-US" dirty="0"/>
              <a:t>디렉토리 선택</a:t>
            </a:r>
            <a:endParaRPr kumimoji="1" lang="en-US" altLang="ko-KR" dirty="0"/>
          </a:p>
          <a:p>
            <a:endParaRPr kumimoji="1"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F3B267-74D4-0544-329B-81FA71FB0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941" y="3584301"/>
            <a:ext cx="1776990" cy="20692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22800B-71EA-6AB6-DB24-07D65A0C0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893" y="3922246"/>
            <a:ext cx="3138406" cy="14954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78F8C-B740-EECC-00E9-506E7F8B8F09}"/>
              </a:ext>
            </a:extLst>
          </p:cNvPr>
          <p:cNvSpPr txBox="1"/>
          <p:nvPr/>
        </p:nvSpPr>
        <p:spPr>
          <a:xfrm>
            <a:off x="8317165" y="5657214"/>
            <a:ext cx="3769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10.</a:t>
            </a:r>
            <a:r>
              <a:rPr kumimoji="1" lang="ko-KR" altLang="en-US" dirty="0"/>
              <a:t> 불러와진 프로젝트 </a:t>
            </a:r>
            <a:r>
              <a:rPr kumimoji="1" lang="ko-KR" altLang="en-US" dirty="0" err="1"/>
              <a:t>우클릭</a:t>
            </a:r>
            <a:r>
              <a:rPr kumimoji="1" lang="ko-KR" altLang="en-US" dirty="0"/>
              <a:t> 하여</a:t>
            </a:r>
            <a:endParaRPr kumimoji="1" lang="en-US" altLang="ko-KR" dirty="0"/>
          </a:p>
          <a:p>
            <a:r>
              <a:rPr kumimoji="1" lang="ko-KR" altLang="en-US" dirty="0"/>
              <a:t>이름을 이전에 변경한 폴더명과 동일하게 설정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3745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3558D-BD5E-DF36-3AD4-F45E8C83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8422A-86D4-1765-6010-A80A7FCB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</a:t>
            </a:r>
            <a:r>
              <a:rPr lang="en-US" altLang="ko-KR" sz="2800" dirty="0"/>
              <a:t>-1 </a:t>
            </a:r>
            <a:r>
              <a:rPr lang="ko-KR" altLang="en-US" sz="2800" dirty="0"/>
              <a:t>프로젝트 파일 관리 방법</a:t>
            </a:r>
            <a:r>
              <a:rPr lang="en-US" altLang="ko-KR" sz="2800" dirty="0"/>
              <a:t>#5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88BD-7B04-4FB5-C57B-ECE04C20D0A3}"/>
              </a:ext>
            </a:extLst>
          </p:cNvPr>
          <p:cNvSpPr txBox="1"/>
          <p:nvPr/>
        </p:nvSpPr>
        <p:spPr>
          <a:xfrm>
            <a:off x="484552" y="2566423"/>
            <a:ext cx="860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만약 이전 프로젝트에 작성된 코드에 새롭게 추가하여 프로젝트를 생성해야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A767F-1FCE-A3F1-A189-02A8EB2CC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61" y="3284402"/>
            <a:ext cx="4929788" cy="259965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008B18-C854-6581-A91B-4D29ED622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83" y="3669831"/>
            <a:ext cx="3454400" cy="182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CEE2E3-6AF0-0163-364E-7AB3271F7A43}"/>
              </a:ext>
            </a:extLst>
          </p:cNvPr>
          <p:cNvSpPr txBox="1"/>
          <p:nvPr/>
        </p:nvSpPr>
        <p:spPr>
          <a:xfrm>
            <a:off x="2222984" y="6232707"/>
            <a:ext cx="774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프로젝트를 살펴보면 이전에 설정한 값과 코드가 남아있는 것을 볼 수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92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AF0A2-002D-4ADE-DCEC-833B0458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DE4AE-7D01-D563-0E92-43FB8832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UART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</a:t>
            </a:r>
            <a:r>
              <a:rPr lang="ko-KR" altLang="en-US" sz="2800" dirty="0" err="1"/>
              <a:t>폴링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D5A145-9EAB-DB9D-F92C-15BC1D741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606" y="2519141"/>
            <a:ext cx="3661736" cy="3730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909D51-2896-4847-9B08-FF9FBE833AA2}"/>
              </a:ext>
            </a:extLst>
          </p:cNvPr>
          <p:cNvSpPr txBox="1"/>
          <p:nvPr/>
        </p:nvSpPr>
        <p:spPr>
          <a:xfrm>
            <a:off x="6096000" y="3789660"/>
            <a:ext cx="39076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Connectivity</a:t>
            </a:r>
            <a:r>
              <a:rPr kumimoji="1" lang="ko-KR" altLang="en-US" dirty="0"/>
              <a:t> 탭에서 </a:t>
            </a:r>
            <a:r>
              <a:rPr kumimoji="1" lang="en-US" altLang="ko-KR" dirty="0"/>
              <a:t>USART3</a:t>
            </a:r>
            <a:r>
              <a:rPr kumimoji="1" lang="ko-KR" altLang="en-US" dirty="0"/>
              <a:t>을 선택</a:t>
            </a:r>
            <a:endParaRPr kumimoji="1" lang="en-US" altLang="ko-KR" dirty="0"/>
          </a:p>
          <a:p>
            <a:r>
              <a:rPr kumimoji="1" lang="en-US" altLang="ko-KR" dirty="0"/>
              <a:t>Mode</a:t>
            </a:r>
            <a:r>
              <a:rPr kumimoji="1" lang="ko-KR" altLang="en-US" dirty="0"/>
              <a:t>는 비동기 모드</a:t>
            </a:r>
            <a:endParaRPr kumimoji="1" lang="en-US" altLang="ko-KR" dirty="0"/>
          </a:p>
          <a:p>
            <a:r>
              <a:rPr kumimoji="1" lang="en-US" altLang="ko-KR" dirty="0"/>
              <a:t>Baud Rate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115200(</a:t>
            </a:r>
            <a:r>
              <a:rPr kumimoji="1" lang="ko-KR" altLang="en-US" dirty="0"/>
              <a:t>기본 값</a:t>
            </a:r>
            <a:r>
              <a:rPr kumimoji="1" lang="en-US" altLang="ko-KR" dirty="0"/>
              <a:t>)</a:t>
            </a:r>
          </a:p>
          <a:p>
            <a:r>
              <a:rPr kumimoji="1" lang="ko-KR" altLang="en-US" dirty="0"/>
              <a:t>나머지 설정은 그대로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2876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4EB23-1D6E-CA38-A93D-87940E113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8EF85-B262-AA98-8902-AC5FF737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 UART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</a:t>
            </a:r>
            <a:r>
              <a:rPr lang="ko-KR" altLang="en-US" sz="2800" dirty="0" err="1"/>
              <a:t>폴링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AD389C-22ED-A49B-448E-3A8A54825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903" y="3580055"/>
            <a:ext cx="1270000" cy="132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FD8937-5FAC-D68F-17A8-504D1547BF81}"/>
              </a:ext>
            </a:extLst>
          </p:cNvPr>
          <p:cNvSpPr txBox="1"/>
          <p:nvPr/>
        </p:nvSpPr>
        <p:spPr>
          <a:xfrm>
            <a:off x="823566" y="5177562"/>
            <a:ext cx="3494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PB10(Tx),</a:t>
            </a:r>
            <a:r>
              <a:rPr kumimoji="1" lang="ko-KR" altLang="en-US" dirty="0"/>
              <a:t> </a:t>
            </a:r>
            <a:r>
              <a:rPr kumimoji="1" lang="en-US" altLang="ko-KR" dirty="0"/>
              <a:t>PB11(Rx)</a:t>
            </a:r>
            <a:r>
              <a:rPr kumimoji="1" lang="ko-KR" altLang="en-US" dirty="0"/>
              <a:t> 핀 배치 확인</a:t>
            </a:r>
            <a:endParaRPr kumimoji="1"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917A8F-438C-5CE7-6AA6-9C89A2C5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31" y="2622088"/>
            <a:ext cx="5153483" cy="30843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664AE-6ED8-6024-A13C-409D0481DD55}"/>
              </a:ext>
            </a:extLst>
          </p:cNvPr>
          <p:cNvSpPr txBox="1"/>
          <p:nvPr/>
        </p:nvSpPr>
        <p:spPr>
          <a:xfrm>
            <a:off x="5972638" y="5831571"/>
            <a:ext cx="434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그 외 별다른 설정 없이 코드 생성</a:t>
            </a:r>
            <a:r>
              <a:rPr kumimoji="1" lang="en-US" altLang="ko-KR" dirty="0"/>
              <a:t>(Alt + k)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7213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CBAC-7996-223F-F2A3-FF03AA11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BB076-ED2D-840E-18B0-BBA520827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STM32CubeIDE</a:t>
            </a:r>
            <a:r>
              <a:rPr lang="ko-KR" altLang="en-US" dirty="0">
                <a:latin typeface="+mn-lt"/>
              </a:rPr>
              <a:t> 설정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-3 UART</a:t>
            </a:r>
            <a:r>
              <a:rPr lang="ko-KR" altLang="en-US" sz="2800" dirty="0"/>
              <a:t> 설정 방법</a:t>
            </a:r>
            <a:r>
              <a:rPr lang="en-US" altLang="ko-KR" sz="2800" dirty="0"/>
              <a:t>(</a:t>
            </a:r>
            <a:r>
              <a:rPr lang="ko-KR" altLang="en-US" sz="2800" dirty="0"/>
              <a:t>인터럽트</a:t>
            </a:r>
            <a:r>
              <a:rPr lang="en-US" altLang="ko-KR" sz="2800" dirty="0"/>
              <a:t>)</a:t>
            </a:r>
            <a:r>
              <a:rPr lang="ko-KR" altLang="en-US" sz="2800" dirty="0"/>
              <a:t>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30B128-3B5D-7179-2A69-3694E743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33" y="2424901"/>
            <a:ext cx="4381500" cy="12573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9BFF1C1-B671-8F6A-CEF5-3B2F2815B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33" y="3682201"/>
            <a:ext cx="4381500" cy="3120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2F5FF3-EBCD-B262-42EF-E1DDF16B5420}"/>
              </a:ext>
            </a:extLst>
          </p:cNvPr>
          <p:cNvSpPr txBox="1"/>
          <p:nvPr/>
        </p:nvSpPr>
        <p:spPr>
          <a:xfrm>
            <a:off x="5498512" y="4159032"/>
            <a:ext cx="5484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UART Config </a:t>
            </a:r>
            <a:r>
              <a:rPr kumimoji="1" lang="ko-KR" altLang="en-US" dirty="0"/>
              <a:t>탭에서 </a:t>
            </a:r>
            <a:r>
              <a:rPr kumimoji="1" lang="en-US" altLang="ko-KR" dirty="0"/>
              <a:t>NVIC </a:t>
            </a:r>
            <a:r>
              <a:rPr kumimoji="1" lang="ko-KR" altLang="en-US" dirty="0"/>
              <a:t>활성화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NVIC-Code generation </a:t>
            </a:r>
            <a:r>
              <a:rPr kumimoji="1" lang="ko-KR" altLang="en-US" dirty="0"/>
              <a:t>탭에서 코드 생성 활성화</a:t>
            </a:r>
          </a:p>
        </p:txBody>
      </p:sp>
    </p:spTree>
    <p:extLst>
      <p:ext uri="{BB962C8B-B14F-4D97-AF65-F5344CB8AC3E}">
        <p14:creationId xmlns:p14="http://schemas.microsoft.com/office/powerpoint/2010/main" val="547365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FD885B-FE77-97D0-3CCB-D07CE0950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6F4FA457-B09E-8E60-3DFF-7C80184C8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30A9AA5E-19AF-C991-781F-36E9759C8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FFB7544B-6DD8-EBA1-2A26-D091CA2064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E7EC9644-CB7B-2490-294D-78E445582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634BE1-5D40-B098-8A14-40FDE71D68EB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복습</a:t>
            </a:r>
          </a:p>
        </p:txBody>
      </p:sp>
    </p:spTree>
    <p:extLst>
      <p:ext uri="{BB962C8B-B14F-4D97-AF65-F5344CB8AC3E}">
        <p14:creationId xmlns:p14="http://schemas.microsoft.com/office/powerpoint/2010/main" val="2196342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CD6B-C19A-DAA5-94E2-15648C4D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4D37D9-ADE2-15CA-5908-4A6B9CC4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-1 </a:t>
            </a:r>
            <a:r>
              <a:rPr lang="en-US" altLang="ko-KR" sz="2800" dirty="0" err="1"/>
              <a:t>HAL_UART_Transmit</a:t>
            </a:r>
            <a:r>
              <a:rPr lang="en-US" altLang="ko-KR" sz="2800" dirty="0"/>
              <a:t> </a:t>
            </a:r>
            <a:r>
              <a:rPr lang="ko-KR" altLang="en-US" sz="2800" dirty="0"/>
              <a:t>함수 설명</a:t>
            </a:r>
            <a:endParaRPr lang="ko-KR" altLang="en-US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5255F-9510-DF1C-598C-01BFC7C3E8EB}"/>
              </a:ext>
            </a:extLst>
          </p:cNvPr>
          <p:cNvSpPr txBox="1"/>
          <p:nvPr/>
        </p:nvSpPr>
        <p:spPr>
          <a:xfrm>
            <a:off x="732731" y="3692224"/>
            <a:ext cx="4791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 err="1"/>
              <a:t>HAL_UART_Transmit</a:t>
            </a:r>
            <a:r>
              <a:rPr lang="en-US" altLang="ko-KR" dirty="0"/>
              <a:t>(&amp;huart3, &amp;a, 1, 1000);</a:t>
            </a:r>
            <a:endParaRPr kumimoji="1"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459671-30DC-83B5-BBCA-C78C2AF7D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31" y="4271549"/>
            <a:ext cx="5969000" cy="3186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7E0354-296F-1559-F938-04096071336C}"/>
              </a:ext>
            </a:extLst>
          </p:cNvPr>
          <p:cNvSpPr txBox="1"/>
          <p:nvPr/>
        </p:nvSpPr>
        <p:spPr>
          <a:xfrm>
            <a:off x="6906741" y="3429000"/>
            <a:ext cx="45525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&amp;huart3 = </a:t>
            </a:r>
            <a:r>
              <a:rPr kumimoji="1" lang="ko-KR" altLang="en-US" dirty="0"/>
              <a:t>사용하는 채널 </a:t>
            </a:r>
            <a:r>
              <a:rPr kumimoji="1" lang="ko-KR" altLang="en-US" dirty="0" err="1"/>
              <a:t>핸들러</a:t>
            </a:r>
            <a:endParaRPr kumimoji="1" lang="en-US" altLang="ko-KR" dirty="0"/>
          </a:p>
          <a:p>
            <a:r>
              <a:rPr kumimoji="1" lang="en-US" altLang="ko-KR" dirty="0"/>
              <a:t>&amp;a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전송할 데이터</a:t>
            </a:r>
            <a:r>
              <a:rPr kumimoji="1" lang="en-US" altLang="ko-KR" dirty="0"/>
              <a:t>(</a:t>
            </a:r>
            <a:r>
              <a:rPr kumimoji="1" lang="ko-KR" altLang="en-US" dirty="0"/>
              <a:t>포인터</a:t>
            </a:r>
            <a:r>
              <a:rPr kumimoji="1" lang="en-US" altLang="ko-KR" dirty="0"/>
              <a:t>)</a:t>
            </a:r>
          </a:p>
          <a:p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전송할 데이터 사이즈</a:t>
            </a:r>
            <a:endParaRPr kumimoji="1" lang="en-US" altLang="ko-KR" dirty="0"/>
          </a:p>
          <a:p>
            <a:r>
              <a:rPr kumimoji="1" lang="en-US" altLang="ko-KR" dirty="0"/>
              <a:t>1000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Timeout(</a:t>
            </a:r>
            <a:r>
              <a:rPr kumimoji="1" lang="en-US" altLang="ko-KR" dirty="0" err="1"/>
              <a:t>ms</a:t>
            </a:r>
            <a:r>
              <a:rPr kumimoji="1" lang="en-US" altLang="ko-KR" dirty="0"/>
              <a:t>) </a:t>
            </a:r>
            <a:r>
              <a:rPr kumimoji="1" lang="ko-KR" altLang="en-US" dirty="0"/>
              <a:t>안에 전송이 올바르게</a:t>
            </a:r>
            <a:endParaRPr kumimoji="1" lang="en-US" altLang="ko-KR" dirty="0"/>
          </a:p>
          <a:p>
            <a:r>
              <a:rPr kumimoji="1" lang="ko-KR" altLang="en-US" dirty="0"/>
              <a:t>되지 않을 경우 함수가 </a:t>
            </a:r>
            <a:r>
              <a:rPr kumimoji="1" lang="en-US" altLang="ko-KR" dirty="0"/>
              <a:t>HAL_ERROR</a:t>
            </a:r>
            <a:r>
              <a:rPr kumimoji="1" lang="ko-KR" altLang="en-US" dirty="0"/>
              <a:t>을 반환</a:t>
            </a:r>
          </a:p>
        </p:txBody>
      </p:sp>
    </p:spTree>
    <p:extLst>
      <p:ext uri="{BB962C8B-B14F-4D97-AF65-F5344CB8AC3E}">
        <p14:creationId xmlns:p14="http://schemas.microsoft.com/office/powerpoint/2010/main" val="1628280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D1E2-5129-4AF2-F4EB-D9F7CA5E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E4954-8B1C-D127-AFA5-821D45656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-2 UART </a:t>
            </a:r>
            <a:r>
              <a:rPr lang="ko-KR" altLang="en-US" sz="2800" dirty="0" err="1"/>
              <a:t>폴링</a:t>
            </a:r>
            <a:r>
              <a:rPr lang="ko-KR" altLang="en-US" sz="2800" dirty="0"/>
              <a:t> 코드 설명</a:t>
            </a:r>
            <a:r>
              <a:rPr lang="en-US" altLang="ko-KR" sz="2800" dirty="0"/>
              <a:t>(</a:t>
            </a:r>
            <a:r>
              <a:rPr lang="ko-KR" altLang="en-US" sz="2800" dirty="0"/>
              <a:t>송신</a:t>
            </a:r>
            <a:r>
              <a:rPr lang="en-US" altLang="ko-KR" sz="2800" dirty="0"/>
              <a:t>)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849F49-AF8B-681B-EE04-18EB023ED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26" y="3429000"/>
            <a:ext cx="3080144" cy="16275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015496-4A7B-17AF-ABEB-7B115FCBC0B5}"/>
              </a:ext>
            </a:extLst>
          </p:cNvPr>
          <p:cNvSpPr txBox="1"/>
          <p:nvPr/>
        </p:nvSpPr>
        <p:spPr>
          <a:xfrm>
            <a:off x="5450066" y="3429000"/>
            <a:ext cx="47456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uint8</a:t>
            </a:r>
            <a:r>
              <a:rPr kumimoji="1" lang="ko-KR" altLang="en-US" dirty="0"/>
              <a:t>형 변수 </a:t>
            </a:r>
            <a:r>
              <a:rPr kumimoji="1" lang="en-US" altLang="ko-KR" dirty="0"/>
              <a:t>a</a:t>
            </a:r>
            <a:r>
              <a:rPr kumimoji="1" lang="ko-KR" altLang="en-US" dirty="0"/>
              <a:t> 정의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val</a:t>
            </a:r>
            <a:r>
              <a:rPr kumimoji="1" lang="en-US" altLang="ko-KR" dirty="0"/>
              <a:t>: ‘a’)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uart3</a:t>
            </a:r>
            <a:r>
              <a:rPr kumimoji="1" lang="ko-KR" altLang="en-US" dirty="0"/>
              <a:t>번을 통해  </a:t>
            </a:r>
            <a:r>
              <a:rPr kumimoji="1" lang="en-US" altLang="ko-KR" dirty="0"/>
              <a:t>a</a:t>
            </a:r>
            <a:r>
              <a:rPr kumimoji="1" lang="ko-KR" altLang="en-US" dirty="0"/>
              <a:t>의 값을 </a:t>
            </a:r>
            <a:r>
              <a:rPr kumimoji="1" lang="en-US" altLang="ko-KR" dirty="0"/>
              <a:t>1</a:t>
            </a:r>
            <a:r>
              <a:rPr kumimoji="1" lang="ko-KR" altLang="en-US" dirty="0"/>
              <a:t>바이트 전송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1</a:t>
            </a:r>
            <a:r>
              <a:rPr kumimoji="1" lang="ko-KR" altLang="en-US" dirty="0"/>
              <a:t>초 대기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ko-KR" altLang="en-US" dirty="0"/>
              <a:t>다시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번으로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따라서 터미널에는 문자 </a:t>
            </a:r>
            <a:r>
              <a:rPr kumimoji="1" lang="en-US" altLang="ko-KR" dirty="0"/>
              <a:t>‘a’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1</a:t>
            </a:r>
            <a:r>
              <a:rPr kumimoji="1" lang="ko-KR" altLang="en-US" dirty="0"/>
              <a:t>초마다 출력됨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6303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24B01-3AAE-0953-6BBD-362CEC327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5ADD8-CE6C-34BB-ED9F-B63987DC2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4-3 </a:t>
            </a:r>
            <a:r>
              <a:rPr lang="en-US" altLang="ko-KR" sz="2800" dirty="0" err="1"/>
              <a:t>HAL_UART_Receive</a:t>
            </a:r>
            <a:r>
              <a:rPr lang="en-US" altLang="ko-KR" sz="2800" dirty="0"/>
              <a:t> </a:t>
            </a:r>
            <a:r>
              <a:rPr lang="ko-KR" altLang="en-US" sz="2800" dirty="0"/>
              <a:t>함수 설명</a:t>
            </a:r>
            <a:endParaRPr lang="ko-KR" altLang="en-US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9A773-CFD0-978E-081F-87CE89F4BB8D}"/>
              </a:ext>
            </a:extLst>
          </p:cNvPr>
          <p:cNvSpPr txBox="1"/>
          <p:nvPr/>
        </p:nvSpPr>
        <p:spPr>
          <a:xfrm>
            <a:off x="351227" y="3829110"/>
            <a:ext cx="6142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if</a:t>
            </a:r>
            <a:r>
              <a:rPr lang="en-US" altLang="ko-KR" sz="1600" dirty="0"/>
              <a:t>(</a:t>
            </a:r>
            <a:r>
              <a:rPr lang="en-US" altLang="ko-KR" sz="1600" b="1" dirty="0" err="1"/>
              <a:t>HAL_UART_Receive</a:t>
            </a:r>
            <a:r>
              <a:rPr lang="en-US" altLang="ko-KR" sz="1600" dirty="0"/>
              <a:t>(&amp;huart3, &amp;</a:t>
            </a:r>
            <a:r>
              <a:rPr lang="en-US" altLang="ko-KR" sz="1600" dirty="0" err="1"/>
              <a:t>rx_data</a:t>
            </a:r>
            <a:r>
              <a:rPr lang="en-US" altLang="ko-KR" sz="1600" dirty="0"/>
              <a:t>, 1, 1000) == </a:t>
            </a:r>
            <a:r>
              <a:rPr lang="en-US" altLang="ko-KR" sz="1600" i="1" dirty="0"/>
              <a:t>HAL_OK</a:t>
            </a:r>
            <a:r>
              <a:rPr lang="en-US" altLang="ko-KR" sz="1600" dirty="0"/>
              <a:t>)</a:t>
            </a:r>
            <a:endParaRPr kumimoji="1"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5B73D6-F0D3-0DB0-0C44-B7B4042FDB14}"/>
              </a:ext>
            </a:extLst>
          </p:cNvPr>
          <p:cNvSpPr txBox="1"/>
          <p:nvPr/>
        </p:nvSpPr>
        <p:spPr>
          <a:xfrm>
            <a:off x="6674615" y="3429000"/>
            <a:ext cx="51661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&amp;huart3 = </a:t>
            </a:r>
            <a:r>
              <a:rPr kumimoji="1" lang="ko-KR" altLang="en-US" dirty="0"/>
              <a:t>사용하는 채널 </a:t>
            </a:r>
            <a:r>
              <a:rPr kumimoji="1" lang="ko-KR" altLang="en-US" dirty="0" err="1"/>
              <a:t>핸들러</a:t>
            </a:r>
            <a:endParaRPr kumimoji="1" lang="en-US" altLang="ko-KR" dirty="0"/>
          </a:p>
          <a:p>
            <a:r>
              <a:rPr kumimoji="1" lang="en-US" altLang="ko-KR" dirty="0"/>
              <a:t>&amp;</a:t>
            </a:r>
            <a:r>
              <a:rPr kumimoji="1" lang="en-US" altLang="ko-KR" dirty="0" err="1"/>
              <a:t>rx_data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수신받은</a:t>
            </a:r>
            <a:r>
              <a:rPr kumimoji="1" lang="ko-KR" altLang="en-US" dirty="0"/>
              <a:t> 데이터 저장할 변수</a:t>
            </a:r>
            <a:r>
              <a:rPr kumimoji="1" lang="en-US" altLang="ko-KR" dirty="0"/>
              <a:t>(</a:t>
            </a:r>
            <a:r>
              <a:rPr kumimoji="1" lang="ko-KR" altLang="en-US" dirty="0"/>
              <a:t>포인터</a:t>
            </a:r>
            <a:r>
              <a:rPr kumimoji="1" lang="en-US" altLang="ko-KR" dirty="0"/>
              <a:t>)</a:t>
            </a:r>
          </a:p>
          <a:p>
            <a:r>
              <a:rPr kumimoji="1" lang="en-US" altLang="ko-KR" dirty="0"/>
              <a:t>1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수신할 데이터 사이즈</a:t>
            </a:r>
            <a:endParaRPr kumimoji="1" lang="en-US" altLang="ko-KR" dirty="0"/>
          </a:p>
          <a:p>
            <a:r>
              <a:rPr kumimoji="1" lang="en-US" altLang="ko-KR" dirty="0"/>
              <a:t>1000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Timeout(</a:t>
            </a:r>
            <a:r>
              <a:rPr kumimoji="1" lang="en-US" altLang="ko-KR" dirty="0" err="1"/>
              <a:t>ms</a:t>
            </a:r>
            <a:r>
              <a:rPr kumimoji="1" lang="en-US" altLang="ko-KR" dirty="0"/>
              <a:t>) </a:t>
            </a:r>
            <a:r>
              <a:rPr kumimoji="1" lang="ko-KR" altLang="en-US" dirty="0"/>
              <a:t>안에 수신이 올바르게</a:t>
            </a:r>
            <a:endParaRPr kumimoji="1" lang="en-US" altLang="ko-KR" dirty="0"/>
          </a:p>
          <a:p>
            <a:r>
              <a:rPr kumimoji="1" lang="ko-KR" altLang="en-US" dirty="0"/>
              <a:t>되지 않을 경우 함수가 </a:t>
            </a:r>
            <a:r>
              <a:rPr kumimoji="1" lang="en-US" altLang="ko-KR" dirty="0"/>
              <a:t>HAL_ERROR</a:t>
            </a:r>
            <a:r>
              <a:rPr kumimoji="1" lang="ko-KR" altLang="en-US" dirty="0"/>
              <a:t>을 반환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1FA1EE-7059-6E7C-DB2B-D83251348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36" y="4348919"/>
            <a:ext cx="5927242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63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1ACA-A308-4091-528B-F79B0CE7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D1975-C3EC-7E8E-2AE4-55D678E15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-4 UART </a:t>
            </a:r>
            <a:r>
              <a:rPr lang="ko-KR" altLang="en-US" sz="2800" dirty="0" err="1"/>
              <a:t>폴링</a:t>
            </a:r>
            <a:r>
              <a:rPr lang="ko-KR" altLang="en-US" sz="2800" dirty="0"/>
              <a:t> 코드 설명</a:t>
            </a:r>
            <a:r>
              <a:rPr lang="en-US" altLang="ko-KR" sz="2800" dirty="0"/>
              <a:t>(</a:t>
            </a:r>
            <a:r>
              <a:rPr lang="ko-KR" altLang="en-US" sz="2800" dirty="0"/>
              <a:t>수신</a:t>
            </a:r>
            <a:r>
              <a:rPr lang="en-US" altLang="ko-KR" sz="2800" dirty="0"/>
              <a:t>)</a:t>
            </a:r>
            <a:endParaRPr lang="ko-KR" alt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8147FB-0F7B-A581-4BA5-9FF914282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71" y="3659114"/>
            <a:ext cx="5896463" cy="1362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18C1AB-C8D7-4CCC-6B72-3D67AE7F15D2}"/>
              </a:ext>
            </a:extLst>
          </p:cNvPr>
          <p:cNvSpPr txBox="1"/>
          <p:nvPr/>
        </p:nvSpPr>
        <p:spPr>
          <a:xfrm>
            <a:off x="6608142" y="3659114"/>
            <a:ext cx="53206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/>
              <a:t>uint8</a:t>
            </a:r>
            <a:r>
              <a:rPr kumimoji="1" lang="ko-KR" altLang="en-US" dirty="0"/>
              <a:t>형 변수 </a:t>
            </a:r>
            <a:r>
              <a:rPr kumimoji="1" lang="en-US" altLang="ko-KR" dirty="0" err="1"/>
              <a:t>rx_data</a:t>
            </a:r>
            <a:r>
              <a:rPr kumimoji="1" lang="ko-KR" altLang="en-US" dirty="0"/>
              <a:t> 정의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val</a:t>
            </a:r>
            <a:r>
              <a:rPr kumimoji="1" lang="en-US" altLang="ko-KR" dirty="0"/>
              <a:t>: 0)</a:t>
            </a:r>
          </a:p>
          <a:p>
            <a:pPr marL="342900" indent="-342900">
              <a:buAutoNum type="arabicPeriod"/>
            </a:pPr>
            <a:r>
              <a:rPr kumimoji="1" lang="ko-KR" altLang="en-US" dirty="0"/>
              <a:t>만약 </a:t>
            </a:r>
            <a:r>
              <a:rPr kumimoji="1" lang="en-US" altLang="ko-KR" dirty="0"/>
              <a:t>uart3</a:t>
            </a:r>
            <a:r>
              <a:rPr kumimoji="1" lang="ko-KR" altLang="en-US" dirty="0"/>
              <a:t>번으로 </a:t>
            </a:r>
            <a:r>
              <a:rPr kumimoji="1" lang="en-US" altLang="ko-KR" dirty="0"/>
              <a:t>1</a:t>
            </a:r>
            <a:r>
              <a:rPr kumimoji="1" lang="ko-KR" altLang="en-US" dirty="0"/>
              <a:t>바이트를 수신 받는다면</a:t>
            </a:r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uart3</a:t>
            </a:r>
            <a:r>
              <a:rPr kumimoji="1" lang="ko-KR" altLang="en-US" dirty="0"/>
              <a:t>번으로 수신 받은 데이터 송신</a:t>
            </a:r>
            <a:r>
              <a:rPr kumimoji="1" lang="en-US" altLang="ko-KR" dirty="0"/>
              <a:t>(</a:t>
            </a:r>
            <a:r>
              <a:rPr kumimoji="1" lang="ko-KR" altLang="en-US" dirty="0"/>
              <a:t>에코</a:t>
            </a:r>
            <a:r>
              <a:rPr kumimoji="1"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10ms</a:t>
            </a:r>
            <a:r>
              <a:rPr kumimoji="1" lang="ko-KR" altLang="en-US" dirty="0"/>
              <a:t> </a:t>
            </a:r>
            <a:r>
              <a:rPr kumimoji="1" lang="en-US" altLang="ko-KR" dirty="0"/>
              <a:t>Delay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따라서 터미널에는 입력한 문자가 그대로 </a:t>
            </a:r>
            <a:r>
              <a:rPr kumimoji="1" lang="ko-KR" altLang="en-US" dirty="0" err="1"/>
              <a:t>출력됨ㄴ</a:t>
            </a:r>
            <a:endParaRPr kumimoji="1" lang="en-US" altLang="ko-KR" dirty="0"/>
          </a:p>
          <a:p>
            <a:pPr marL="342900" indent="-342900"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73019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EB0CD-2D34-E06E-3F1F-CEE7952A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338DC-DBB9-5D33-536E-3AF78C91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-5 </a:t>
            </a:r>
            <a:r>
              <a:rPr lang="en-US" altLang="ko-KR" sz="2800" dirty="0" err="1"/>
              <a:t>printf</a:t>
            </a:r>
            <a:r>
              <a:rPr lang="ko-KR" altLang="en-US" sz="2800" dirty="0"/>
              <a:t> 함수 설명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FC336-DA18-3313-7A46-404A6AF7917E}"/>
              </a:ext>
            </a:extLst>
          </p:cNvPr>
          <p:cNvSpPr txBox="1"/>
          <p:nvPr/>
        </p:nvSpPr>
        <p:spPr>
          <a:xfrm>
            <a:off x="484552" y="2898085"/>
            <a:ext cx="3916650" cy="5309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Private macro</a:t>
            </a:r>
            <a:r>
              <a:rPr lang="ko-KR" altLang="en-US" dirty="0"/>
              <a:t> 영역에 하단 코드 삽입</a:t>
            </a:r>
            <a:endParaRPr lang="en-US" altLang="ko-KR" dirty="0"/>
          </a:p>
          <a:p>
            <a:r>
              <a:rPr kumimoji="1" lang="ko-KR" altLang="en-US" sz="1050" b="1" dirty="0"/>
              <a:t>* 이때 </a:t>
            </a:r>
            <a:r>
              <a:rPr kumimoji="1" lang="en-US" altLang="ko-KR" sz="1050" b="1" dirty="0"/>
              <a:t>“</a:t>
            </a:r>
            <a:r>
              <a:rPr kumimoji="1" lang="en-US" altLang="ko-KR" sz="1050" b="1" dirty="0" err="1"/>
              <a:t>stdio.h</a:t>
            </a:r>
            <a:r>
              <a:rPr kumimoji="1" lang="en-US" altLang="ko-KR" sz="1050" b="1" dirty="0"/>
              <a:t>”</a:t>
            </a:r>
            <a:r>
              <a:rPr kumimoji="1" lang="ko-KR" altLang="en-US" sz="1050" b="1" dirty="0"/>
              <a:t>가 </a:t>
            </a:r>
            <a:r>
              <a:rPr kumimoji="1" lang="en-US" altLang="ko-KR" sz="1050" b="1" dirty="0"/>
              <a:t>include </a:t>
            </a:r>
            <a:r>
              <a:rPr kumimoji="1" lang="ko-KR" altLang="en-US" sz="1050" b="1" dirty="0"/>
              <a:t>되어 </a:t>
            </a:r>
            <a:r>
              <a:rPr kumimoji="1" lang="ko-KR" altLang="en-US" sz="1050" b="1" dirty="0" err="1"/>
              <a:t>있어야함</a:t>
            </a:r>
            <a:endParaRPr kumimoji="1" lang="ko-KR" altLang="en-US" sz="105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27636A-0CB7-721A-F2D2-0F455C4D3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633334"/>
            <a:ext cx="3762192" cy="14655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65DE4A-BF71-B72B-53D3-8985CC5E69CA}"/>
              </a:ext>
            </a:extLst>
          </p:cNvPr>
          <p:cNvSpPr txBox="1"/>
          <p:nvPr/>
        </p:nvSpPr>
        <p:spPr>
          <a:xfrm>
            <a:off x="4832392" y="4181420"/>
            <a:ext cx="6079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&amp;huart3</a:t>
            </a:r>
            <a:r>
              <a:rPr kumimoji="1" lang="ko-KR" altLang="en-US" dirty="0"/>
              <a:t> 부분은 사용하는 </a:t>
            </a:r>
            <a:r>
              <a:rPr kumimoji="1" lang="en-US" altLang="ko-KR" dirty="0" err="1"/>
              <a:t>uart</a:t>
            </a:r>
            <a:r>
              <a:rPr kumimoji="1" lang="ko-KR" altLang="en-US" dirty="0"/>
              <a:t> 채널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핸들러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맞춰서 변경</a:t>
            </a:r>
          </a:p>
        </p:txBody>
      </p:sp>
    </p:spTree>
    <p:extLst>
      <p:ext uri="{BB962C8B-B14F-4D97-AF65-F5344CB8AC3E}">
        <p14:creationId xmlns:p14="http://schemas.microsoft.com/office/powerpoint/2010/main" val="1087847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12FB-EF8B-BD8A-5E1E-C5532C7C9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91E13-8A39-F84F-DDB7-68B28A777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-6 </a:t>
            </a:r>
            <a:r>
              <a:rPr lang="en-US" altLang="ko-KR" sz="2800" dirty="0" err="1"/>
              <a:t>printf</a:t>
            </a:r>
            <a:r>
              <a:rPr lang="ko-KR" altLang="en-US" sz="2800" dirty="0"/>
              <a:t> 함수 설명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AFE9C-39CA-3C8C-B05A-E234163D6DCC}"/>
              </a:ext>
            </a:extLst>
          </p:cNvPr>
          <p:cNvSpPr txBox="1"/>
          <p:nvPr/>
        </p:nvSpPr>
        <p:spPr>
          <a:xfrm>
            <a:off x="3464510" y="6123543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그 후 일반적으로 </a:t>
            </a:r>
            <a:r>
              <a:rPr kumimoji="1" lang="en-US" altLang="ko-KR" dirty="0"/>
              <a:t>c</a:t>
            </a:r>
            <a:r>
              <a:rPr kumimoji="1" lang="ko-KR" altLang="en-US" dirty="0"/>
              <a:t>문법에서 사용하는 것처럼 사용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5D68F0-7D8F-F88F-605E-CCE4CEC53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53" y="2526711"/>
            <a:ext cx="4355091" cy="344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6A91-AA05-C558-0297-B74149655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0D6C5-F606-BDBB-8C91-282CCC69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-7 </a:t>
            </a:r>
            <a:r>
              <a:rPr lang="en-US" altLang="ko-KR" sz="2800" dirty="0" err="1"/>
              <a:t>printf</a:t>
            </a:r>
            <a:r>
              <a:rPr lang="ko-KR" altLang="en-US" sz="2800" dirty="0"/>
              <a:t> 함수 설명 </a:t>
            </a:r>
            <a:r>
              <a:rPr lang="en-US" altLang="ko-KR" sz="2800" dirty="0"/>
              <a:t>#3</a:t>
            </a:r>
            <a:r>
              <a:rPr lang="ko-KR" altLang="en-US" sz="2800" dirty="0"/>
              <a:t> 실수 출력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8081B-F5E0-E4F3-4C6C-91B72E34C859}"/>
              </a:ext>
            </a:extLst>
          </p:cNvPr>
          <p:cNvSpPr txBox="1"/>
          <p:nvPr/>
        </p:nvSpPr>
        <p:spPr>
          <a:xfrm>
            <a:off x="3107361" y="5846544"/>
            <a:ext cx="5977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기본 프로젝트 설정에서는 실수형</a:t>
            </a:r>
            <a:r>
              <a:rPr kumimoji="1" lang="en-US" altLang="ko-KR" dirty="0"/>
              <a:t>(float)</a:t>
            </a:r>
            <a:r>
              <a:rPr kumimoji="1" lang="ko-KR" altLang="en-US" dirty="0"/>
              <a:t>을 출력할 수 없음</a:t>
            </a:r>
            <a:endParaRPr kumimoji="1" lang="en-US" altLang="ko-KR" dirty="0"/>
          </a:p>
          <a:p>
            <a:r>
              <a:rPr kumimoji="1" lang="ko-KR" altLang="en-US" dirty="0"/>
              <a:t>따라서 위와 같이 설정 변경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2D4460-08E5-F851-3BCF-223CEB434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175" y="2540918"/>
            <a:ext cx="2080242" cy="31610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C2CEDE-DA29-0C5A-7493-F029B7665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892" y="2458586"/>
            <a:ext cx="4401980" cy="3325744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9252313-1FC8-1D27-958E-096CDDF22C3D}"/>
              </a:ext>
            </a:extLst>
          </p:cNvPr>
          <p:cNvCxnSpPr>
            <a:cxnSpLocks/>
          </p:cNvCxnSpPr>
          <p:nvPr/>
        </p:nvCxnSpPr>
        <p:spPr>
          <a:xfrm flipH="1" flipV="1">
            <a:off x="6845657" y="4307067"/>
            <a:ext cx="484450" cy="713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FC752DF-FDCC-FCEA-A4AB-855913ED6471}"/>
              </a:ext>
            </a:extLst>
          </p:cNvPr>
          <p:cNvSpPr txBox="1"/>
          <p:nvPr/>
        </p:nvSpPr>
        <p:spPr>
          <a:xfrm>
            <a:off x="6912269" y="5037705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b="1" dirty="0">
                <a:solidFill>
                  <a:schemeClr val="bg1"/>
                </a:solidFill>
              </a:rPr>
              <a:t>해당 옵션을 활성화 후 적용</a:t>
            </a:r>
          </a:p>
        </p:txBody>
      </p:sp>
    </p:spTree>
    <p:extLst>
      <p:ext uri="{BB962C8B-B14F-4D97-AF65-F5344CB8AC3E}">
        <p14:creationId xmlns:p14="http://schemas.microsoft.com/office/powerpoint/2010/main" val="3041811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6CF66-E3EE-CA74-8700-B06E48BF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4E33D-72F9-8D46-5E22-D7DB5972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</a:t>
            </a:r>
            <a:r>
              <a:rPr lang="ko-KR" altLang="en-US" dirty="0">
                <a:latin typeface="+mn-lt"/>
              </a:rPr>
              <a:t>코드</a:t>
            </a:r>
            <a:r>
              <a:rPr lang="en-US" altLang="ko-KR" dirty="0">
                <a:latin typeface="+mn-lt"/>
              </a:rPr>
              <a:t> </a:t>
            </a:r>
            <a:r>
              <a:rPr lang="ko-KR" altLang="en-US" dirty="0">
                <a:latin typeface="+mn-lt"/>
              </a:rPr>
              <a:t>설명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</a:t>
            </a:r>
            <a:r>
              <a:rPr lang="en-US" altLang="ko-KR" sz="2800" dirty="0"/>
              <a:t>-8 UART </a:t>
            </a:r>
            <a:r>
              <a:rPr lang="ko-KR" altLang="en-US" sz="2800" dirty="0"/>
              <a:t>인터럽트 수신 코드 설명</a:t>
            </a:r>
            <a:endParaRPr lang="ko-KR" altLang="en-US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3ACA9-C02E-114E-41BD-B04FC25B570B}"/>
              </a:ext>
            </a:extLst>
          </p:cNvPr>
          <p:cNvSpPr txBox="1"/>
          <p:nvPr/>
        </p:nvSpPr>
        <p:spPr>
          <a:xfrm>
            <a:off x="6912269" y="5037705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b="1" dirty="0">
                <a:solidFill>
                  <a:schemeClr val="bg1"/>
                </a:solidFill>
              </a:rPr>
              <a:t>해당 옵션을 활성화 후 적용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8C0FA7-4727-E9E1-9354-D9604AB5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95" y="3739786"/>
            <a:ext cx="3898900" cy="1041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D22CAC-AEC4-6640-8CE1-1636A7A84290}"/>
              </a:ext>
            </a:extLst>
          </p:cNvPr>
          <p:cNvSpPr txBox="1"/>
          <p:nvPr/>
        </p:nvSpPr>
        <p:spPr>
          <a:xfrm>
            <a:off x="709560" y="4979997"/>
            <a:ext cx="377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해당 함수는 </a:t>
            </a:r>
            <a:r>
              <a:rPr kumimoji="1" lang="en-US" altLang="ko-KR" dirty="0" err="1"/>
              <a:t>uart.c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정의되어 있음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D5369-86DB-8140-DF3C-A7F06F0B5159}"/>
              </a:ext>
            </a:extLst>
          </p:cNvPr>
          <p:cNvSpPr txBox="1"/>
          <p:nvPr/>
        </p:nvSpPr>
        <p:spPr>
          <a:xfrm>
            <a:off x="6095999" y="4979997"/>
            <a:ext cx="522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__weak</a:t>
            </a:r>
            <a:r>
              <a:rPr kumimoji="1" lang="ko-KR" altLang="en-US" dirty="0"/>
              <a:t> 함수를 그대로 복사해 </a:t>
            </a:r>
            <a:r>
              <a:rPr kumimoji="1" lang="en-US" altLang="ko-KR" dirty="0" err="1"/>
              <a:t>main.c</a:t>
            </a:r>
            <a:r>
              <a:rPr kumimoji="1" lang="ko-KR" altLang="en-US" dirty="0"/>
              <a:t> 에서 재정의</a:t>
            </a:r>
            <a:endParaRPr kumimoji="1" lang="en-US" altLang="ko-KR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5C3A257-ADD2-67B7-5507-82A110B1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739785"/>
            <a:ext cx="5229572" cy="10415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E1055-184B-B51F-DCDF-9EA4993C694E}"/>
              </a:ext>
            </a:extLst>
          </p:cNvPr>
          <p:cNvSpPr txBox="1"/>
          <p:nvPr/>
        </p:nvSpPr>
        <p:spPr>
          <a:xfrm>
            <a:off x="6914555" y="2665379"/>
            <a:ext cx="4411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200" dirty="0"/>
              <a:t>* </a:t>
            </a:r>
            <a:r>
              <a:rPr lang="en-US" altLang="ko-KR" sz="1200" dirty="0" err="1"/>
              <a:t>HAL_UART_Receive_IT</a:t>
            </a:r>
            <a:r>
              <a:rPr lang="en-US" altLang="ko-KR" sz="1200" dirty="0"/>
              <a:t>(); </a:t>
            </a:r>
            <a:r>
              <a:rPr lang="ko-KR" altLang="en-US" sz="1200" dirty="0"/>
              <a:t>함수가 무조건 </a:t>
            </a:r>
            <a:r>
              <a:rPr lang="en-US" altLang="ko-KR" sz="1200" dirty="0"/>
              <a:t>int main(void)</a:t>
            </a:r>
            <a:r>
              <a:rPr lang="ko-KR" altLang="en-US" sz="1200" dirty="0"/>
              <a:t> 함수</a:t>
            </a:r>
            <a:r>
              <a:rPr lang="en-US" altLang="ko-KR" sz="1200" dirty="0"/>
              <a:t> </a:t>
            </a:r>
          </a:p>
          <a:p>
            <a:r>
              <a:rPr lang="ko-KR" altLang="en-US" sz="1200" dirty="0"/>
              <a:t>안에서 한번 호출되어야 </a:t>
            </a:r>
            <a:r>
              <a:rPr lang="en-US" altLang="ko-KR" sz="1200" dirty="0"/>
              <a:t>callback</a:t>
            </a:r>
            <a:r>
              <a:rPr lang="ko-KR" altLang="en-US" sz="1200" dirty="0"/>
              <a:t> 함수가 호출됨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72644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응용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914D5-E6C9-77D6-0FD5-1CB9BC7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DC2C-2F2A-342E-630E-4FDE21178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5-1</a:t>
            </a:r>
            <a:r>
              <a:rPr lang="ko-KR" altLang="en-US" sz="2800" dirty="0">
                <a:latin typeface="+mn-lt"/>
              </a:rPr>
              <a:t>특정 문자를 </a:t>
            </a:r>
            <a:r>
              <a:rPr lang="ko-KR" altLang="en-US" sz="2800" dirty="0" err="1">
                <a:latin typeface="+mn-lt"/>
              </a:rPr>
              <a:t>수신받아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LED </a:t>
            </a:r>
            <a:r>
              <a:rPr lang="ko-KR" altLang="en-US" sz="2800" dirty="0">
                <a:latin typeface="+mn-lt"/>
              </a:rPr>
              <a:t>제어</a:t>
            </a:r>
            <a:r>
              <a:rPr lang="en-US" altLang="ko-KR" sz="2800" dirty="0">
                <a:latin typeface="+mn-lt"/>
              </a:rPr>
              <a:t>(</a:t>
            </a:r>
            <a:r>
              <a:rPr lang="ko-KR" altLang="en-US" sz="2800" dirty="0">
                <a:latin typeface="+mn-lt"/>
              </a:rPr>
              <a:t>문제</a:t>
            </a:r>
            <a:r>
              <a:rPr lang="en-US" altLang="ko-KR" sz="2800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D92152-1243-FF37-B84C-2F81B07BAA90}"/>
              </a:ext>
            </a:extLst>
          </p:cNvPr>
          <p:cNvSpPr txBox="1"/>
          <p:nvPr/>
        </p:nvSpPr>
        <p:spPr>
          <a:xfrm>
            <a:off x="3439343" y="4436031"/>
            <a:ext cx="554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PC</a:t>
            </a:r>
            <a:r>
              <a:rPr lang="ko-KR" altLang="en-US" dirty="0"/>
              <a:t>에서 특정</a:t>
            </a:r>
            <a:r>
              <a:rPr lang="ko-KR" altLang="en-US" b="1" dirty="0"/>
              <a:t>문자를</a:t>
            </a:r>
            <a:r>
              <a:rPr lang="ko-KR" altLang="en-US" dirty="0"/>
              <a:t> 수신하여 </a:t>
            </a:r>
            <a:r>
              <a:rPr lang="en-US" altLang="ko-KR" dirty="0"/>
              <a:t>LED On/Off(</a:t>
            </a:r>
            <a:r>
              <a:rPr lang="ko-KR" altLang="en-US" dirty="0" err="1"/>
              <a:t>폴링</a:t>
            </a:r>
            <a:r>
              <a:rPr lang="ko-KR" altLang="en-US" dirty="0"/>
              <a:t> 방식</a:t>
            </a:r>
            <a:r>
              <a:rPr lang="en-US" altLang="ko-KR" dirty="0"/>
              <a:t>)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C2AA0-7CC7-450E-1020-0EE8A5C5CB24}"/>
              </a:ext>
            </a:extLst>
          </p:cNvPr>
          <p:cNvSpPr txBox="1"/>
          <p:nvPr/>
        </p:nvSpPr>
        <p:spPr>
          <a:xfrm>
            <a:off x="484552" y="2690336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</a:t>
            </a:r>
            <a:r>
              <a:rPr kumimoji="1" lang="en-US" altLang="ko-KR" dirty="0"/>
              <a:t>: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929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53320-64E7-D5B6-5683-1E1E5DCF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57027-8BEB-EC29-1E0E-8DBA00BE4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5-2</a:t>
            </a:r>
            <a:r>
              <a:rPr lang="ko-KR" altLang="en-US" sz="2800" dirty="0">
                <a:latin typeface="+mn-lt"/>
              </a:rPr>
              <a:t> 특정 문자 </a:t>
            </a:r>
            <a:r>
              <a:rPr lang="ko-KR" altLang="en-US" sz="2800" dirty="0" err="1">
                <a:latin typeface="+mn-lt"/>
              </a:rPr>
              <a:t>수신받아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LED</a:t>
            </a:r>
            <a:r>
              <a:rPr lang="ko-KR" altLang="en-US" sz="2800" dirty="0">
                <a:latin typeface="+mn-lt"/>
              </a:rPr>
              <a:t> 제어</a:t>
            </a:r>
            <a:r>
              <a:rPr lang="en-US" altLang="ko-KR" sz="2800" dirty="0">
                <a:latin typeface="+mn-lt"/>
              </a:rPr>
              <a:t>(</a:t>
            </a:r>
            <a:r>
              <a:rPr lang="ko-KR" altLang="en-US" sz="2800" dirty="0">
                <a:latin typeface="+mn-lt"/>
              </a:rPr>
              <a:t>답안</a:t>
            </a:r>
            <a:r>
              <a:rPr lang="en-US" altLang="ko-KR" sz="2800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058B9-291B-EDBB-4BC4-B16CDAE8E937}"/>
              </a:ext>
            </a:extLst>
          </p:cNvPr>
          <p:cNvSpPr txBox="1"/>
          <p:nvPr/>
        </p:nvSpPr>
        <p:spPr>
          <a:xfrm>
            <a:off x="484552" y="2690336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답</a:t>
            </a:r>
            <a:r>
              <a:rPr kumimoji="1" lang="en-US" altLang="ko-KR" dirty="0"/>
              <a:t>: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2A863D-82F2-2CFD-77F4-7F58990A8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4089710"/>
            <a:ext cx="5156640" cy="1149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0CF253-DB10-029E-C398-07118E2512A7}"/>
              </a:ext>
            </a:extLst>
          </p:cNvPr>
          <p:cNvSpPr txBox="1"/>
          <p:nvPr/>
        </p:nvSpPr>
        <p:spPr>
          <a:xfrm>
            <a:off x="6096000" y="4038537"/>
            <a:ext cx="49198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해석</a:t>
            </a:r>
            <a:r>
              <a:rPr kumimoji="1" lang="en-US" altLang="ko-KR" dirty="0"/>
              <a:t>:</a:t>
            </a:r>
          </a:p>
          <a:p>
            <a:r>
              <a:rPr kumimoji="1" lang="en-US" altLang="ko-KR" dirty="0"/>
              <a:t>1. </a:t>
            </a:r>
            <a:r>
              <a:rPr kumimoji="1" lang="en-US" altLang="ko-KR" dirty="0" err="1"/>
              <a:t>uart</a:t>
            </a:r>
            <a:r>
              <a:rPr kumimoji="1" lang="en-US" altLang="ko-KR" dirty="0"/>
              <a:t> 3</a:t>
            </a:r>
            <a:r>
              <a:rPr kumimoji="1" lang="ko-KR" altLang="en-US" dirty="0"/>
              <a:t>번 채널을 통해 </a:t>
            </a:r>
            <a:r>
              <a:rPr kumimoji="1" lang="en-US" altLang="ko-KR" dirty="0"/>
              <a:t>1</a:t>
            </a:r>
            <a:r>
              <a:rPr kumimoji="1" lang="ko-KR" altLang="en-US" dirty="0"/>
              <a:t>바이트 데이터를 수신</a:t>
            </a:r>
            <a:endParaRPr kumimoji="1" lang="en-US" altLang="ko-KR" dirty="0"/>
          </a:p>
          <a:p>
            <a:r>
              <a:rPr kumimoji="1" lang="en-US" altLang="ko-KR" dirty="0"/>
              <a:t>2. </a:t>
            </a:r>
            <a:r>
              <a:rPr kumimoji="1" lang="ko-KR" altLang="en-US" dirty="0"/>
              <a:t>수신 받은 값을 </a:t>
            </a:r>
            <a:r>
              <a:rPr kumimoji="1" lang="en-US" altLang="ko-KR" dirty="0" err="1"/>
              <a:t>rx_data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저장</a:t>
            </a:r>
            <a:endParaRPr kumimoji="1" lang="en-US" altLang="ko-KR" dirty="0"/>
          </a:p>
          <a:p>
            <a:r>
              <a:rPr kumimoji="1" lang="en-US" altLang="ko-KR" dirty="0"/>
              <a:t>3.</a:t>
            </a:r>
            <a:r>
              <a:rPr kumimoji="1" lang="ko-KR" altLang="en-US" dirty="0"/>
              <a:t> 만약 그 값이 </a:t>
            </a:r>
            <a:r>
              <a:rPr kumimoji="1" lang="en-US" altLang="ko-KR" dirty="0"/>
              <a:t>a</a:t>
            </a:r>
            <a:r>
              <a:rPr kumimoji="1" lang="ko-KR" altLang="en-US" dirty="0"/>
              <a:t>라면 </a:t>
            </a:r>
            <a:r>
              <a:rPr kumimoji="1" lang="en-US" altLang="ko-KR" dirty="0"/>
              <a:t>LED On</a:t>
            </a:r>
            <a:r>
              <a:rPr kumimoji="1" lang="ko-KR" altLang="en-US" dirty="0"/>
              <a:t> </a:t>
            </a:r>
            <a:r>
              <a:rPr kumimoji="1" lang="en-US" altLang="ko-KR" dirty="0"/>
              <a:t>B</a:t>
            </a:r>
            <a:r>
              <a:rPr kumimoji="1" lang="ko-KR" altLang="en-US" dirty="0"/>
              <a:t>라면 </a:t>
            </a:r>
            <a:r>
              <a:rPr kumimoji="1" lang="en-US" altLang="ko-KR" dirty="0"/>
              <a:t>LED Off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6553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5CBD9-E72A-8676-0DEB-DFEB37B9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507C4-AD3E-9E46-7243-D13A9B01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5-3</a:t>
            </a:r>
            <a:r>
              <a:rPr lang="ko-KR" altLang="en-US" sz="2800" dirty="0">
                <a:latin typeface="+mn-lt"/>
              </a:rPr>
              <a:t> 특정 문자를 </a:t>
            </a:r>
            <a:r>
              <a:rPr lang="ko-KR" altLang="en-US" sz="2800" dirty="0" err="1">
                <a:latin typeface="+mn-lt"/>
              </a:rPr>
              <a:t>수신받아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LED </a:t>
            </a:r>
            <a:r>
              <a:rPr lang="ko-KR" altLang="en-US" sz="2800" dirty="0">
                <a:latin typeface="+mn-lt"/>
              </a:rPr>
              <a:t>제어 </a:t>
            </a:r>
            <a:r>
              <a:rPr lang="en-US" altLang="ko-KR" sz="2800" dirty="0">
                <a:latin typeface="+mn-lt"/>
              </a:rPr>
              <a:t>–</a:t>
            </a:r>
            <a:r>
              <a:rPr lang="ko-KR" altLang="en-US" sz="2800" dirty="0">
                <a:latin typeface="+mn-lt"/>
              </a:rPr>
              <a:t> 인터럽트 방식</a:t>
            </a:r>
            <a:r>
              <a:rPr lang="en-US" altLang="ko-KR" sz="2800" dirty="0">
                <a:latin typeface="+mn-lt"/>
              </a:rPr>
              <a:t>(</a:t>
            </a:r>
            <a:r>
              <a:rPr lang="ko-KR" altLang="en-US" sz="2800" dirty="0">
                <a:latin typeface="+mn-lt"/>
              </a:rPr>
              <a:t>문제</a:t>
            </a:r>
            <a:r>
              <a:rPr lang="en-US" altLang="ko-KR" sz="2800" dirty="0">
                <a:latin typeface="+mn-lt"/>
              </a:rPr>
              <a:t>)</a:t>
            </a:r>
            <a:endParaRPr lang="ko-KR" altLang="en-US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707AB-F259-745A-ED6F-F1F5122EB735}"/>
              </a:ext>
            </a:extLst>
          </p:cNvPr>
          <p:cNvSpPr txBox="1"/>
          <p:nvPr/>
        </p:nvSpPr>
        <p:spPr>
          <a:xfrm>
            <a:off x="3439343" y="4436031"/>
            <a:ext cx="6005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PC</a:t>
            </a:r>
            <a:r>
              <a:rPr lang="ko-KR" altLang="en-US" dirty="0"/>
              <a:t>에서 특정</a:t>
            </a:r>
            <a:r>
              <a:rPr lang="ko-KR" altLang="en-US" b="1" dirty="0"/>
              <a:t>문자를</a:t>
            </a:r>
            <a:r>
              <a:rPr lang="ko-KR" altLang="en-US" dirty="0"/>
              <a:t> 수신하여 </a:t>
            </a:r>
            <a:r>
              <a:rPr lang="en-US" altLang="ko-KR" dirty="0"/>
              <a:t>LED On/Off(</a:t>
            </a:r>
            <a:r>
              <a:rPr lang="ko-KR" altLang="en-US" dirty="0"/>
              <a:t>인터럽트 방식</a:t>
            </a:r>
            <a:r>
              <a:rPr lang="en-US" altLang="ko-KR" dirty="0"/>
              <a:t>)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AED53-F067-EBE8-86E2-B637B513EA86}"/>
              </a:ext>
            </a:extLst>
          </p:cNvPr>
          <p:cNvSpPr txBox="1"/>
          <p:nvPr/>
        </p:nvSpPr>
        <p:spPr>
          <a:xfrm>
            <a:off x="484552" y="2690336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문제</a:t>
            </a:r>
            <a:r>
              <a:rPr kumimoji="1" lang="en-US" altLang="ko-KR" dirty="0"/>
              <a:t>: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249958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1823</TotalTime>
  <Words>1019</Words>
  <Application>Microsoft Macintosh PowerPoint</Application>
  <PresentationFormat>와이드스크린</PresentationFormat>
  <Paragraphs>135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Avenir Next LT Pro</vt:lpstr>
      <vt:lpstr>Bahnschrift</vt:lpstr>
      <vt:lpstr>MatrixVTI</vt:lpstr>
      <vt:lpstr>ARM Processor </vt:lpstr>
      <vt:lpstr>ARM Processor Seminar Roadmap</vt:lpstr>
      <vt:lpstr>PowerPoint 프레젠테이션</vt:lpstr>
      <vt:lpstr>1. UART 개념 설명 1-1 직렬 통신과 병렬 통신의 차이</vt:lpstr>
      <vt:lpstr>1. UART 개념 설명 1-2 UART와 USART의 차이</vt:lpstr>
      <vt:lpstr>2. ARM Training Kit UART 회로 2-1 STM32F405VG UART 채널 설명</vt:lpstr>
      <vt:lpstr>2. ARM Training Kit 2-2 회로 설명</vt:lpstr>
      <vt:lpstr>3. STM32CubeIDE 설정 3-1 프로젝트 파일 관리 방법#1</vt:lpstr>
      <vt:lpstr>3. STM32CubeIDE 설정 3-1 프로젝트 파일 관리 방법#2</vt:lpstr>
      <vt:lpstr>3. STM32CubeIDE 설정 3-1 프로젝트 파일 관리 방법#3</vt:lpstr>
      <vt:lpstr>3. STM32CubeIDE 설정 3-1 프로젝트 파일 관리 방법#4</vt:lpstr>
      <vt:lpstr>3. STM32CubeIDE 설정 3-1 프로젝트 파일 관리 방법#5</vt:lpstr>
      <vt:lpstr>3. STM32CubeIDE 설정 4-1 UART 설정 방법(폴링) #1</vt:lpstr>
      <vt:lpstr>3. STM32CubeIDE 설정 4-2 UART 설정 방법(폴링) #2</vt:lpstr>
      <vt:lpstr>3. STM32CubeIDE 설정 4-3 UART 설정 방법(인터럽트) #1</vt:lpstr>
      <vt:lpstr>PowerPoint 프레젠테이션</vt:lpstr>
      <vt:lpstr>4. 코드 설명 4-1 HAL_UART_Transmit 함수 설명</vt:lpstr>
      <vt:lpstr>4. 코드 설명 4-2 UART 폴링 코드 설명(송신)</vt:lpstr>
      <vt:lpstr>4. 코드 설명 4-3 HAL_UART_Receive 함수 설명</vt:lpstr>
      <vt:lpstr>4. 코드 설명 4-4 UART 폴링 코드 설명(수신)</vt:lpstr>
      <vt:lpstr>4. 코드 설명 4-5 printf 함수 설명 #1</vt:lpstr>
      <vt:lpstr>4. 코드 설명 4-6 printf 함수 설명 #2</vt:lpstr>
      <vt:lpstr>4. 코드 설명 4-7 printf 함수 설명 #3 실수 출력</vt:lpstr>
      <vt:lpstr>4. 코드 설명 4-8 UART 인터럽트 수신 코드 설명</vt:lpstr>
      <vt:lpstr>PowerPoint 프레젠테이션</vt:lpstr>
      <vt:lpstr>5. 응용편 5-1특정 문자를 수신받아 LED 제어(문제)</vt:lpstr>
      <vt:lpstr>5. 응용편 5-2 특정 문자 수신받아 LED 제어(답안)</vt:lpstr>
      <vt:lpstr>5. 응용편 5-3 특정 문자를 수신받아 LED 제어 – 인터럽트 방식(문제)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609</cp:revision>
  <dcterms:created xsi:type="dcterms:W3CDTF">2023-04-01T05:56:39Z</dcterms:created>
  <dcterms:modified xsi:type="dcterms:W3CDTF">2025-10-21T16:53:11Z</dcterms:modified>
</cp:coreProperties>
</file>