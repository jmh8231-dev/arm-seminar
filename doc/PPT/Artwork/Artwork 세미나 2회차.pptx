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0" r:id="rId1"/>
  </p:sldMasterIdLst>
  <p:notesMasterIdLst>
    <p:notesMasterId r:id="rId20"/>
  </p:notesMasterIdLst>
  <p:sldIdLst>
    <p:sldId id="256" r:id="rId2"/>
    <p:sldId id="258" r:id="rId3"/>
    <p:sldId id="435" r:id="rId4"/>
    <p:sldId id="441" r:id="rId5"/>
    <p:sldId id="436" r:id="rId6"/>
    <p:sldId id="437" r:id="rId7"/>
    <p:sldId id="438" r:id="rId8"/>
    <p:sldId id="439" r:id="rId9"/>
    <p:sldId id="440" r:id="rId10"/>
    <p:sldId id="442" r:id="rId11"/>
    <p:sldId id="443" r:id="rId12"/>
    <p:sldId id="444" r:id="rId13"/>
    <p:sldId id="445" r:id="rId14"/>
    <p:sldId id="446" r:id="rId15"/>
    <p:sldId id="447" r:id="rId16"/>
    <p:sldId id="448" r:id="rId17"/>
    <p:sldId id="449" r:id="rId18"/>
    <p:sldId id="460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3AECD4F-9523-4815-827E-2B8DD5C14A03}">
          <p14:sldIdLst>
            <p14:sldId id="256"/>
            <p14:sldId id="258"/>
            <p14:sldId id="435"/>
            <p14:sldId id="441"/>
            <p14:sldId id="436"/>
            <p14:sldId id="437"/>
            <p14:sldId id="438"/>
            <p14:sldId id="439"/>
            <p14:sldId id="440"/>
            <p14:sldId id="442"/>
            <p14:sldId id="443"/>
            <p14:sldId id="444"/>
            <p14:sldId id="445"/>
            <p14:sldId id="446"/>
            <p14:sldId id="447"/>
            <p14:sldId id="448"/>
            <p14:sldId id="449"/>
            <p14:sldId id="4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89" autoAdjust="0"/>
    <p:restoredTop sz="94660"/>
  </p:normalViewPr>
  <p:slideViewPr>
    <p:cSldViewPr snapToGrid="0">
      <p:cViewPr varScale="1">
        <p:scale>
          <a:sx n="209" d="100"/>
          <a:sy n="209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A3A56-EDB2-4B73-A1CB-5609952E432E}" type="datetimeFigureOut">
              <a:rPr lang="ko-KR" altLang="en-US" smtClean="0"/>
              <a:t>2025. 11. 5.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DC4E7-C879-4C34-B87B-3BCA38CC4A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586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199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0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2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5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9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5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5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9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09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5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50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74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19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03" r:id="rId6"/>
    <p:sldLayoutId id="2147483899" r:id="rId7"/>
    <p:sldLayoutId id="2147483900" r:id="rId8"/>
    <p:sldLayoutId id="2147483901" r:id="rId9"/>
    <p:sldLayoutId id="2147483902" r:id="rId10"/>
    <p:sldLayoutId id="214748390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EB309-3929-FF0E-BDEF-07DD47014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555" y="1380753"/>
            <a:ext cx="5230446" cy="1227221"/>
          </a:xfrm>
        </p:spPr>
        <p:txBody>
          <a:bodyPr anchor="ctr">
            <a:normAutofit fontScale="90000"/>
          </a:bodyPr>
          <a:lstStyle/>
          <a:p>
            <a:r>
              <a:rPr lang="en-US" altLang="ko-KR" dirty="0"/>
              <a:t>Artwork</a:t>
            </a:r>
            <a:r>
              <a:rPr lang="ko-KR" altLang="en-US" dirty="0"/>
              <a:t> 세미나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5D9FB2-EF99-4CCA-9CDB-EB444E8BDB51}"/>
              </a:ext>
            </a:extLst>
          </p:cNvPr>
          <p:cNvSpPr txBox="1"/>
          <p:nvPr/>
        </p:nvSpPr>
        <p:spPr>
          <a:xfrm>
            <a:off x="1685480" y="6410443"/>
            <a:ext cx="500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/>
              <a:t>Robotics </a:t>
            </a:r>
            <a:r>
              <a:rPr lang="ko-KR" altLang="en-US" b="1" dirty="0"/>
              <a:t>정명훈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983F3-D723-6F86-C98E-DCC005282A53}"/>
              </a:ext>
            </a:extLst>
          </p:cNvPr>
          <p:cNvSpPr txBox="1"/>
          <p:nvPr/>
        </p:nvSpPr>
        <p:spPr>
          <a:xfrm>
            <a:off x="5334000" y="3057753"/>
            <a:ext cx="2709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세미나 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r>
              <a:rPr lang="ko-KR" altLang="en-US" dirty="0" err="1">
                <a:solidFill>
                  <a:schemeClr val="bg1"/>
                </a:solidFill>
              </a:rPr>
              <a:t>회차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0" name="그림 9" descr="텍스트, 도표, 평면도, 개략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BE38B6-D149-A484-E6F1-8D9C1582F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1" y="-3829"/>
            <a:ext cx="5334000" cy="686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8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39F261D-2010-8613-A585-CAE750BCB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460" y="2457450"/>
            <a:ext cx="6172200" cy="19431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BB31C44-31E4-68F2-5A5B-2780DCE514E0}"/>
              </a:ext>
            </a:extLst>
          </p:cNvPr>
          <p:cNvSpPr/>
          <p:nvPr/>
        </p:nvSpPr>
        <p:spPr>
          <a:xfrm>
            <a:off x="8985" y="0"/>
            <a:ext cx="2764302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25FA6-C969-F6F7-C840-477882525D7E}"/>
              </a:ext>
            </a:extLst>
          </p:cNvPr>
          <p:cNvSpPr txBox="1"/>
          <p:nvPr/>
        </p:nvSpPr>
        <p:spPr>
          <a:xfrm>
            <a:off x="201818" y="998384"/>
            <a:ext cx="2378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세미나 로드맵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ko-KR" altLang="en-US" sz="2000" dirty="0">
                <a:solidFill>
                  <a:schemeClr val="bg1"/>
                </a:solidFill>
              </a:rPr>
              <a:t>상세</a:t>
            </a:r>
            <a:r>
              <a:rPr lang="en-US" altLang="ko-KR" sz="2000" dirty="0">
                <a:solidFill>
                  <a:schemeClr val="bg1"/>
                </a:solidFill>
              </a:rPr>
              <a:t>)</a:t>
            </a:r>
            <a:r>
              <a:rPr lang="en-US" altLang="ko-KR" sz="1600" dirty="0">
                <a:solidFill>
                  <a:schemeClr val="bg1"/>
                </a:solidFill>
              </a:rPr>
              <a:t>    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A67160-6AFB-A3C4-BE10-2EBDA448F4BD}"/>
              </a:ext>
            </a:extLst>
          </p:cNvPr>
          <p:cNvSpPr/>
          <p:nvPr/>
        </p:nvSpPr>
        <p:spPr>
          <a:xfrm>
            <a:off x="4498130" y="2999053"/>
            <a:ext cx="6060859" cy="286691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3948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DBCB-DC37-2ED8-7610-D3830606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D22C4-2A50-3ACB-4332-C9459717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ko-KR" altLang="en-US" dirty="0">
                <a:solidFill>
                  <a:srgbClr val="FFFFFF"/>
                </a:solidFill>
              </a:rPr>
              <a:t>임피던스 매칭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-1</a:t>
            </a:r>
            <a:r>
              <a:rPr lang="ko-KR" altLang="en-US" sz="2800" dirty="0"/>
              <a:t> 임피던스 매칭의 필요성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27C9BD-7025-A247-1945-FF10FCF59300}"/>
              </a:ext>
            </a:extLst>
          </p:cNvPr>
          <p:cNvSpPr txBox="1"/>
          <p:nvPr/>
        </p:nvSpPr>
        <p:spPr>
          <a:xfrm>
            <a:off x="1190649" y="5566191"/>
            <a:ext cx="98106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소스 임피던스 </a:t>
            </a:r>
            <a:r>
              <a:rPr kumimoji="1" lang="en-US" altLang="ko-KR" dirty="0"/>
              <a:t>Zo</a:t>
            </a:r>
            <a:r>
              <a:rPr kumimoji="1" lang="ko-KR" altLang="en-US" dirty="0"/>
              <a:t>와 부하 </a:t>
            </a:r>
            <a:r>
              <a:rPr kumimoji="1" lang="en-US" altLang="ko-KR" dirty="0"/>
              <a:t>Zi</a:t>
            </a:r>
            <a:r>
              <a:rPr kumimoji="1" lang="ko-KR" altLang="en-US" dirty="0"/>
              <a:t>가 같을 때 최대 전력이 전송된다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이때 고속신호일 경우 </a:t>
            </a:r>
            <a:r>
              <a:rPr kumimoji="1" lang="en-US" altLang="ko-KR" dirty="0"/>
              <a:t>PCB</a:t>
            </a:r>
            <a:r>
              <a:rPr kumimoji="1" lang="ko-KR" altLang="en-US" dirty="0"/>
              <a:t> 배선 또한 </a:t>
            </a:r>
            <a:r>
              <a:rPr kumimoji="1" lang="en-US" altLang="ko-KR" dirty="0"/>
              <a:t>L</a:t>
            </a:r>
            <a:r>
              <a:rPr kumimoji="1" lang="ko-KR" altLang="en-US" dirty="0"/>
              <a:t>성분으로 인해 임피던스가 무시 못 </a:t>
            </a:r>
            <a:r>
              <a:rPr kumimoji="1" lang="ko-KR" altLang="en-US" dirty="0" err="1"/>
              <a:t>할정도로</a:t>
            </a:r>
            <a:r>
              <a:rPr kumimoji="1" lang="ko-KR" altLang="en-US" dirty="0"/>
              <a:t> 커지게 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10" name="그림 9" descr="도표, 스크린샷, 평면도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877724-2932-56DB-C957-7298D3DE5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419" y="3126232"/>
            <a:ext cx="6381161" cy="201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18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22472-0C69-5AB1-45EF-2615F03AF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4F9B2-B316-C18A-8673-A74202400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ko-KR" altLang="en-US" dirty="0">
                <a:solidFill>
                  <a:srgbClr val="FFFFFF"/>
                </a:solidFill>
              </a:rPr>
              <a:t>임피던스 매칭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-2</a:t>
            </a:r>
            <a:r>
              <a:rPr lang="ko-KR" altLang="en-US" sz="2800" dirty="0"/>
              <a:t> 디지털 인터페이스에서의 임피던스 이해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B4399-B702-C106-F65B-78A8EDEDB9B9}"/>
              </a:ext>
            </a:extLst>
          </p:cNvPr>
          <p:cNvSpPr txBox="1"/>
          <p:nvPr/>
        </p:nvSpPr>
        <p:spPr>
          <a:xfrm>
            <a:off x="1424432" y="5578383"/>
            <a:ext cx="934313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임피던스는 옴</a:t>
            </a:r>
            <a:r>
              <a:rPr lang="en-US" altLang="ko-KR" sz="1400" dirty="0"/>
              <a:t>(ohm)</a:t>
            </a:r>
            <a:r>
              <a:rPr lang="ko-KR" altLang="en-US" sz="1400" dirty="0" err="1"/>
              <a:t>으로</a:t>
            </a:r>
            <a:r>
              <a:rPr lang="ko-KR" altLang="en-US" sz="1400" dirty="0"/>
              <a:t> 측정되며</a:t>
            </a:r>
            <a:r>
              <a:rPr lang="en-US" altLang="ko-KR" sz="1400" dirty="0"/>
              <a:t>, </a:t>
            </a:r>
            <a:r>
              <a:rPr lang="ko-KR" altLang="en-US" sz="1400" dirty="0"/>
              <a:t>회로가 교류</a:t>
            </a:r>
            <a:r>
              <a:rPr lang="en-US" altLang="ko-KR" sz="1400" dirty="0"/>
              <a:t>(AC) </a:t>
            </a:r>
            <a:r>
              <a:rPr lang="ko-KR" altLang="en-US" sz="1400" dirty="0"/>
              <a:t>흐름에 대해 나타내는 저항을 특징짓는 중요한 매개 변수이다</a:t>
            </a:r>
            <a:r>
              <a:rPr lang="en-US" altLang="ko-KR" sz="1400" dirty="0"/>
              <a:t>. </a:t>
            </a:r>
          </a:p>
          <a:p>
            <a:r>
              <a:rPr lang="ko-KR" altLang="en-US" sz="1400" dirty="0"/>
              <a:t>고속 디지털 인터페이스에서는 신호 반사를 방지하고</a:t>
            </a:r>
            <a:r>
              <a:rPr lang="en-US" altLang="ko-KR" sz="1400" dirty="0"/>
              <a:t>, </a:t>
            </a:r>
            <a:r>
              <a:rPr lang="ko-KR" altLang="en-US" sz="1400" dirty="0"/>
              <a:t>상호 간섭</a:t>
            </a:r>
            <a:r>
              <a:rPr lang="en-US" altLang="ko-KR" sz="1400" dirty="0"/>
              <a:t>(crosstalk)</a:t>
            </a:r>
            <a:r>
              <a:rPr lang="ko-KR" altLang="en-US" sz="1400" dirty="0"/>
              <a:t>을 최소화하며</a:t>
            </a:r>
            <a:r>
              <a:rPr lang="en-US" altLang="ko-KR" sz="1400" dirty="0"/>
              <a:t>, </a:t>
            </a:r>
            <a:r>
              <a:rPr lang="ko-KR" altLang="en-US" sz="1400" dirty="0"/>
              <a:t>전송된 데이터의 무결성을 </a:t>
            </a:r>
            <a:endParaRPr lang="en-US" altLang="ko-KR" sz="1400" dirty="0"/>
          </a:p>
          <a:p>
            <a:r>
              <a:rPr lang="ko-KR" altLang="en-US" sz="1400" dirty="0"/>
              <a:t>보장하기 위해 올바른 임피던스를 유지하는 것이 필수적이다</a:t>
            </a:r>
            <a:r>
              <a:rPr lang="en-US" altLang="ko-KR" sz="1400" dirty="0"/>
              <a:t>.</a:t>
            </a:r>
            <a:endParaRPr kumimoji="1" lang="ko-KR" altLang="en-US" sz="1400" dirty="0"/>
          </a:p>
        </p:txBody>
      </p:sp>
      <p:pic>
        <p:nvPicPr>
          <p:cNvPr id="6" name="그림 5" descr="도표, 라인, 그래프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6A63E8-5191-A538-550A-2FE091A64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648" y="2588436"/>
            <a:ext cx="5886704" cy="280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923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0BEF4-5E1B-8A4F-69EB-88E3A6A90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A8D5A0-F116-6592-6B3E-2152AD5DB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ko-KR" altLang="en-US" dirty="0">
                <a:solidFill>
                  <a:srgbClr val="FFFFFF"/>
                </a:solidFill>
              </a:rPr>
              <a:t>임피던스 매칭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-2</a:t>
            </a:r>
            <a:r>
              <a:rPr lang="ko-KR" altLang="en-US" sz="2800" dirty="0"/>
              <a:t> 임피던스 매칭의 예시</a:t>
            </a:r>
            <a:r>
              <a:rPr lang="en-US" altLang="ko-KR" sz="2800" dirty="0"/>
              <a:t> #DRAM</a:t>
            </a:r>
            <a:endParaRPr lang="ko-KR" alt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31AA0-8106-6F10-C75C-7E0359BD0189}"/>
              </a:ext>
            </a:extLst>
          </p:cNvPr>
          <p:cNvSpPr txBox="1"/>
          <p:nvPr/>
        </p:nvSpPr>
        <p:spPr>
          <a:xfrm>
            <a:off x="5797523" y="4162244"/>
            <a:ext cx="54569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dirty="0"/>
              <a:t>오늘날 </a:t>
            </a:r>
            <a:r>
              <a:rPr kumimoji="1" lang="en-US" altLang="ko-KR" sz="1600" dirty="0"/>
              <a:t>DRAM</a:t>
            </a:r>
            <a:r>
              <a:rPr kumimoji="1" lang="ko-KR" altLang="en-US" sz="1600" dirty="0"/>
              <a:t>은 세대를 거듭해 오며 속도가 점점 빨라지며</a:t>
            </a:r>
            <a:endParaRPr kumimoji="1" lang="en-US" altLang="ko-KR" sz="1600" dirty="0"/>
          </a:p>
          <a:p>
            <a:r>
              <a:rPr kumimoji="1" lang="ko-KR" altLang="en-US" sz="1600" dirty="0"/>
              <a:t>임피던스 매칭 중요성 또한 나날이 증가하고 있다</a:t>
            </a:r>
            <a:r>
              <a:rPr kumimoji="1" lang="en-US" altLang="ko-KR" sz="1600" dirty="0"/>
              <a:t>.</a:t>
            </a:r>
            <a:endParaRPr kumimoji="1" lang="ko-KR" altLang="en-US" sz="1600" dirty="0"/>
          </a:p>
        </p:txBody>
      </p:sp>
      <p:pic>
        <p:nvPicPr>
          <p:cNvPr id="6" name="그림 5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4A1C8E-C8D0-F358-7EB5-827971549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52" y="2435551"/>
            <a:ext cx="5117672" cy="403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978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CB1C9-9E7B-EE7F-4BF1-9881DDB45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BD199-F652-15EC-5CE3-218554E27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ko-KR" altLang="en-US" dirty="0">
                <a:solidFill>
                  <a:srgbClr val="FFFFFF"/>
                </a:solidFill>
              </a:rPr>
              <a:t>임피던스 매칭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-2</a:t>
            </a:r>
            <a:r>
              <a:rPr lang="ko-KR" altLang="en-US" sz="2800" dirty="0"/>
              <a:t> 임피던스 매칭의 예시 </a:t>
            </a:r>
            <a:r>
              <a:rPr lang="en-US" altLang="ko-KR" sz="2800" dirty="0"/>
              <a:t>#USB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43065-E039-F8F7-E268-39046390FFBE}"/>
              </a:ext>
            </a:extLst>
          </p:cNvPr>
          <p:cNvSpPr txBox="1"/>
          <p:nvPr/>
        </p:nvSpPr>
        <p:spPr>
          <a:xfrm>
            <a:off x="6096000" y="3360309"/>
            <a:ext cx="5998758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sz="1400" b="1" dirty="0"/>
              <a:t>A- USB 2.0:</a:t>
            </a:r>
          </a:p>
          <a:p>
            <a:r>
              <a:rPr lang="ko-KR" altLang="en-US" sz="1400" u="sng" dirty="0"/>
              <a:t>표준 임피던스</a:t>
            </a:r>
            <a:r>
              <a:rPr lang="en-US" altLang="ko-KR" sz="1400" u="sng" dirty="0"/>
              <a:t>:</a:t>
            </a:r>
            <a:r>
              <a:rPr lang="ko-KR" altLang="en-US" sz="1400" dirty="0"/>
              <a:t> </a:t>
            </a:r>
            <a:r>
              <a:rPr lang="en-US" altLang="ko-KR" sz="1400" dirty="0"/>
              <a:t>90</a:t>
            </a:r>
            <a:r>
              <a:rPr lang="el-GR" altLang="ko-KR" sz="1400" dirty="0"/>
              <a:t>Ω</a:t>
            </a:r>
          </a:p>
          <a:p>
            <a:r>
              <a:rPr lang="ko-KR" altLang="en-US" sz="1400" u="sng" dirty="0"/>
              <a:t>모범 사례</a:t>
            </a:r>
            <a:r>
              <a:rPr lang="en-US" altLang="ko-KR" sz="1400" u="sng" dirty="0"/>
              <a:t>:</a:t>
            </a:r>
            <a:r>
              <a:rPr lang="ko-KR" altLang="en-US" sz="1400" dirty="0"/>
              <a:t> </a:t>
            </a:r>
            <a:r>
              <a:rPr lang="en-US" altLang="ko-KR" sz="1400" dirty="0"/>
              <a:t>USB 2.0 </a:t>
            </a:r>
            <a:r>
              <a:rPr lang="ko-KR" altLang="en-US" sz="1400" dirty="0"/>
              <a:t>데이터 회선에 대해 제어된 임피던스 추적을 사용하여 </a:t>
            </a:r>
            <a:endParaRPr lang="en-US" altLang="ko-KR" sz="1400" dirty="0"/>
          </a:p>
          <a:p>
            <a:r>
              <a:rPr lang="ko-KR" altLang="en-US" sz="1400" dirty="0"/>
              <a:t>신호 왜곡을 방지하고 안정적인 통신을 보장한다</a:t>
            </a:r>
            <a:r>
              <a:rPr lang="en-US" altLang="ko-KR" sz="1400" dirty="0"/>
              <a:t>.</a:t>
            </a:r>
          </a:p>
          <a:p>
            <a:br>
              <a:rPr lang="en-US" altLang="ko-KR" sz="1400" dirty="0"/>
            </a:br>
            <a:endParaRPr lang="en-US" altLang="ko-KR" sz="1400" dirty="0"/>
          </a:p>
          <a:p>
            <a:pPr latinLnBrk="0"/>
            <a:r>
              <a:rPr lang="en-US" altLang="ko-KR" sz="1400" b="1" dirty="0"/>
              <a:t>B- USB 3.x:</a:t>
            </a:r>
          </a:p>
          <a:p>
            <a:r>
              <a:rPr lang="ko-KR" altLang="en-US" sz="1400" u="sng" dirty="0" err="1"/>
              <a:t>차동</a:t>
            </a:r>
            <a:r>
              <a:rPr lang="ko-KR" altLang="en-US" sz="1400" u="sng" dirty="0"/>
              <a:t> 임피던스</a:t>
            </a:r>
            <a:r>
              <a:rPr lang="en-US" altLang="ko-KR" sz="1400" u="sng" dirty="0"/>
              <a:t>:</a:t>
            </a:r>
            <a:r>
              <a:rPr lang="ko-KR" altLang="en-US" sz="1400" dirty="0"/>
              <a:t> </a:t>
            </a:r>
            <a:r>
              <a:rPr lang="en-US" altLang="ko-KR" sz="1400" dirty="0"/>
              <a:t>90</a:t>
            </a:r>
            <a:r>
              <a:rPr lang="el-GR" altLang="ko-KR" sz="1400" dirty="0"/>
              <a:t>Ω</a:t>
            </a:r>
          </a:p>
          <a:p>
            <a:r>
              <a:rPr lang="ko-KR" altLang="en-US" sz="1400" u="sng" dirty="0"/>
              <a:t>단일 종단 임피던스</a:t>
            </a:r>
            <a:r>
              <a:rPr lang="en-US" altLang="ko-KR" sz="1400" u="sng" dirty="0"/>
              <a:t>:</a:t>
            </a:r>
            <a:r>
              <a:rPr lang="ko-KR" altLang="en-US" sz="1400" dirty="0"/>
              <a:t> </a:t>
            </a:r>
            <a:r>
              <a:rPr lang="en-US" altLang="ko-KR" sz="1400" dirty="0"/>
              <a:t>45</a:t>
            </a:r>
            <a:r>
              <a:rPr lang="el-GR" altLang="ko-KR" sz="1400" dirty="0"/>
              <a:t>Ω</a:t>
            </a:r>
          </a:p>
          <a:p>
            <a:r>
              <a:rPr lang="ko-KR" altLang="en-US" sz="1400" u="sng" dirty="0"/>
              <a:t>모범 사례</a:t>
            </a:r>
            <a:r>
              <a:rPr lang="en-US" altLang="ko-KR" sz="1400" u="sng" dirty="0"/>
              <a:t>:</a:t>
            </a:r>
            <a:r>
              <a:rPr lang="ko-KR" altLang="en-US" sz="1400" dirty="0"/>
              <a:t> 커넥터와 케이블을 포함한 전체 </a:t>
            </a:r>
            <a:r>
              <a:rPr lang="en-US" altLang="ko-KR" sz="1400" dirty="0"/>
              <a:t>USB 3.x </a:t>
            </a:r>
            <a:r>
              <a:rPr lang="ko-KR" altLang="en-US" sz="1400" dirty="0"/>
              <a:t>신호 경로에서 일관된 </a:t>
            </a:r>
            <a:endParaRPr lang="en-US" altLang="ko-KR" sz="1400" dirty="0"/>
          </a:p>
          <a:p>
            <a:r>
              <a:rPr lang="ko-KR" altLang="en-US" sz="1400" dirty="0"/>
              <a:t>임피던스 프로필을 유지하여 고속 데이터 속도를 지원한다</a:t>
            </a:r>
            <a:r>
              <a:rPr lang="en-US" altLang="ko-KR" sz="1400" dirty="0"/>
              <a:t>.</a:t>
            </a:r>
          </a:p>
        </p:txBody>
      </p:sp>
      <p:pic>
        <p:nvPicPr>
          <p:cNvPr id="9" name="그림 8" descr="스크린샷, 도표, 다채로움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B245BB-C470-1352-CA46-467097C73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06" y="3080735"/>
            <a:ext cx="5487328" cy="302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621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7D521-81E3-1523-1F60-A5B0706F5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3DFE73-8487-F7E5-2554-28DAA4933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ko-KR" altLang="en-US" dirty="0">
                <a:solidFill>
                  <a:srgbClr val="FFFFFF"/>
                </a:solidFill>
              </a:rPr>
              <a:t>임피던스 매칭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-2</a:t>
            </a:r>
            <a:r>
              <a:rPr lang="ko-KR" altLang="en-US" sz="2800" dirty="0"/>
              <a:t> 임피던스 매칭의 예시 </a:t>
            </a:r>
            <a:r>
              <a:rPr lang="en-US" altLang="ko-KR" sz="2800" dirty="0"/>
              <a:t>#</a:t>
            </a:r>
            <a:r>
              <a:rPr lang="ko-KR" altLang="en-US" sz="2800" dirty="0"/>
              <a:t>이더넷</a:t>
            </a:r>
            <a:endParaRPr lang="ko-KR" altLang="en-US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3C2A15-BACB-1721-F0F6-5DEB7D156EE2}"/>
              </a:ext>
            </a:extLst>
          </p:cNvPr>
          <p:cNvSpPr txBox="1"/>
          <p:nvPr/>
        </p:nvSpPr>
        <p:spPr>
          <a:xfrm>
            <a:off x="5919176" y="4010107"/>
            <a:ext cx="589456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sz="1400" b="1" dirty="0"/>
              <a:t>10/100/1000BASE-T(</a:t>
            </a:r>
            <a:r>
              <a:rPr lang="ko-KR" altLang="en-US" sz="1400" b="1" dirty="0"/>
              <a:t>이더넷</a:t>
            </a:r>
            <a:r>
              <a:rPr lang="en-US" altLang="ko-KR" sz="1400" b="1" dirty="0"/>
              <a:t>):</a:t>
            </a:r>
          </a:p>
          <a:p>
            <a:r>
              <a:rPr lang="ko-KR" altLang="en-US" sz="1400" u="sng" dirty="0" err="1"/>
              <a:t>차동</a:t>
            </a:r>
            <a:r>
              <a:rPr lang="ko-KR" altLang="en-US" sz="1400" u="sng" dirty="0"/>
              <a:t> 임피던스</a:t>
            </a:r>
            <a:r>
              <a:rPr lang="en-US" altLang="ko-KR" sz="1400" u="sng" dirty="0"/>
              <a:t>:</a:t>
            </a:r>
            <a:r>
              <a:rPr lang="ko-KR" altLang="en-US" sz="1400" dirty="0"/>
              <a:t> </a:t>
            </a:r>
            <a:r>
              <a:rPr lang="en-US" altLang="ko-KR" sz="1400" dirty="0"/>
              <a:t>100</a:t>
            </a:r>
            <a:r>
              <a:rPr lang="el-GR" altLang="ko-KR" sz="1400" dirty="0"/>
              <a:t>Ω</a:t>
            </a:r>
          </a:p>
          <a:p>
            <a:r>
              <a:rPr lang="ko-KR" altLang="en-US" sz="1400" u="sng" dirty="0"/>
              <a:t>모범 사례</a:t>
            </a:r>
            <a:r>
              <a:rPr lang="en-US" altLang="ko-KR" sz="1400" u="sng" dirty="0"/>
              <a:t>:</a:t>
            </a:r>
            <a:r>
              <a:rPr lang="ko-KR" altLang="en-US" sz="1400" dirty="0"/>
              <a:t> 신호 저하를 방지하고 신호 무결성을 유지하려면 전송 라인의 </a:t>
            </a:r>
            <a:endParaRPr lang="en-US" altLang="ko-KR" sz="1400" dirty="0"/>
          </a:p>
          <a:p>
            <a:r>
              <a:rPr lang="ko-KR" altLang="en-US" sz="1400" dirty="0"/>
              <a:t>전체 길이에 걸쳐 일관된 임피던스를 보장합니다</a:t>
            </a:r>
            <a:r>
              <a:rPr lang="en-US" altLang="ko-KR" sz="1400" dirty="0"/>
              <a:t>.</a:t>
            </a:r>
          </a:p>
        </p:txBody>
      </p:sp>
      <p:pic>
        <p:nvPicPr>
          <p:cNvPr id="9" name="그림 8" descr="스크린샷, 도표, 지도, 회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F5D598-B2E2-E6D5-A448-3F948C137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262" y="3140450"/>
            <a:ext cx="5258926" cy="269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042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16345-2AB3-0C9E-B8CA-D44121195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3F56B-6B1A-7994-E814-AD0A0635F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ko-KR" altLang="en-US" dirty="0">
                <a:solidFill>
                  <a:srgbClr val="FFFFFF"/>
                </a:solidFill>
              </a:rPr>
              <a:t>임피던스 매칭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-2</a:t>
            </a:r>
            <a:r>
              <a:rPr lang="ko-KR" altLang="en-US" sz="2800" dirty="0"/>
              <a:t> 임피던스 매칭의 예시 </a:t>
            </a:r>
            <a:r>
              <a:rPr lang="en-US" altLang="ko-KR" sz="2800" dirty="0"/>
              <a:t>#HDMI</a:t>
            </a:r>
            <a:endParaRPr lang="ko-KR" altLang="en-US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F743EB-26DD-D362-3F5B-CAFE02E1514B}"/>
              </a:ext>
            </a:extLst>
          </p:cNvPr>
          <p:cNvSpPr txBox="1"/>
          <p:nvPr/>
        </p:nvSpPr>
        <p:spPr>
          <a:xfrm>
            <a:off x="5248656" y="3994785"/>
            <a:ext cx="69433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HDMI 1.4/2.0:</a:t>
            </a:r>
            <a:endParaRPr lang="en-US" altLang="ko-KR" sz="1400" dirty="0"/>
          </a:p>
          <a:p>
            <a:r>
              <a:rPr lang="ko-KR" altLang="en-US" sz="1400" u="sng" dirty="0" err="1"/>
              <a:t>차동</a:t>
            </a:r>
            <a:r>
              <a:rPr lang="ko-KR" altLang="en-US" sz="1400" u="sng" dirty="0"/>
              <a:t> 임피던스</a:t>
            </a:r>
            <a:r>
              <a:rPr lang="en-US" altLang="ko-KR" sz="1400" u="sng" dirty="0"/>
              <a:t>:</a:t>
            </a:r>
            <a:r>
              <a:rPr lang="ko-KR" altLang="en-US" sz="1400" dirty="0"/>
              <a:t> </a:t>
            </a:r>
            <a:r>
              <a:rPr lang="en-US" altLang="ko-KR" sz="1400" dirty="0"/>
              <a:t>100</a:t>
            </a:r>
            <a:r>
              <a:rPr lang="el-GR" altLang="ko-KR" sz="1400" dirty="0"/>
              <a:t>Ω</a:t>
            </a:r>
          </a:p>
          <a:p>
            <a:r>
              <a:rPr lang="ko-KR" altLang="en-US" sz="1400" u="sng" dirty="0"/>
              <a:t>모범 사례</a:t>
            </a:r>
            <a:r>
              <a:rPr lang="en-US" altLang="ko-KR" sz="1400" u="sng" dirty="0"/>
              <a:t>:</a:t>
            </a:r>
            <a:r>
              <a:rPr lang="ko-KR" altLang="en-US" sz="1400" dirty="0"/>
              <a:t> 제어된 임피던스 </a:t>
            </a:r>
            <a:r>
              <a:rPr lang="ko-KR" altLang="en-US" sz="1400" dirty="0" err="1"/>
              <a:t>트레이스를</a:t>
            </a:r>
            <a:r>
              <a:rPr lang="ko-KR" altLang="en-US" sz="1400" dirty="0"/>
              <a:t> 사용하고 고속 </a:t>
            </a:r>
            <a:r>
              <a:rPr lang="en-US" altLang="ko-KR" sz="1400" dirty="0"/>
              <a:t>HDMI </a:t>
            </a:r>
            <a:r>
              <a:rPr lang="ko-KR" altLang="en-US" sz="1400" dirty="0"/>
              <a:t>데이터 전송을 위해 </a:t>
            </a:r>
            <a:endParaRPr lang="en-US" altLang="ko-KR" sz="1400" dirty="0"/>
          </a:p>
          <a:p>
            <a:r>
              <a:rPr lang="ko-KR" altLang="en-US" sz="1400" dirty="0"/>
              <a:t>신호 무결성을 유지해야 한다</a:t>
            </a:r>
            <a:r>
              <a:rPr lang="en-US" altLang="ko-KR" sz="1400" dirty="0"/>
              <a:t>. </a:t>
            </a:r>
            <a:r>
              <a:rPr lang="ko-KR" altLang="en-US" sz="1400" dirty="0"/>
              <a:t>더 긴 케이블을 사용하려면 신호 </a:t>
            </a:r>
            <a:r>
              <a:rPr lang="ko-KR" altLang="en-US" sz="1400" dirty="0" err="1"/>
              <a:t>리피터를</a:t>
            </a:r>
            <a:r>
              <a:rPr lang="ko-KR" altLang="en-US" sz="1400" dirty="0"/>
              <a:t> 고려해야 한다</a:t>
            </a:r>
            <a:r>
              <a:rPr lang="en-US" altLang="ko-KR" sz="1400" dirty="0"/>
              <a:t>.</a:t>
            </a:r>
          </a:p>
        </p:txBody>
      </p:sp>
      <p:pic>
        <p:nvPicPr>
          <p:cNvPr id="5" name="그림 4" descr="회로, 스크린샷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072DCA-265B-8512-4F13-C8D809E06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87" y="3017773"/>
            <a:ext cx="4584745" cy="290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84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2A28-D007-0F18-1651-46D4147BF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C657B1-9BC1-F471-737F-7AFD47CD6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ko-KR" altLang="en-US" dirty="0">
                <a:solidFill>
                  <a:srgbClr val="FFFFFF"/>
                </a:solidFill>
              </a:rPr>
              <a:t>임피던스 매칭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-2</a:t>
            </a:r>
            <a:r>
              <a:rPr lang="ko-KR" altLang="en-US" sz="2800" dirty="0"/>
              <a:t> 임피던스 매칭의 예시 </a:t>
            </a:r>
            <a:r>
              <a:rPr lang="en-US" altLang="ko-KR" sz="2800" dirty="0"/>
              <a:t>#SD Card</a:t>
            </a:r>
            <a:endParaRPr lang="ko-KR" altLang="en-US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4D17-A4ED-32FA-C539-2339F1D81A39}"/>
              </a:ext>
            </a:extLst>
          </p:cNvPr>
          <p:cNvSpPr txBox="1"/>
          <p:nvPr/>
        </p:nvSpPr>
        <p:spPr>
          <a:xfrm>
            <a:off x="5919176" y="3824819"/>
            <a:ext cx="694334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SD(</a:t>
            </a:r>
            <a:r>
              <a:rPr lang="ko-KR" altLang="en-US" sz="1400" b="1" dirty="0"/>
              <a:t>보안 디지털</a:t>
            </a:r>
            <a:r>
              <a:rPr lang="en-US" altLang="ko-KR" sz="1400" b="1" dirty="0"/>
              <a:t>) </a:t>
            </a:r>
            <a:r>
              <a:rPr lang="ko-KR" altLang="en-US" sz="1400" b="1" dirty="0"/>
              <a:t>카드</a:t>
            </a:r>
            <a:r>
              <a:rPr lang="en-US" altLang="ko-KR" sz="1400" b="1" dirty="0"/>
              <a:t>:</a:t>
            </a:r>
            <a:endParaRPr lang="ko-KR" altLang="en-US" sz="1400" dirty="0"/>
          </a:p>
          <a:p>
            <a:r>
              <a:rPr lang="ko-KR" altLang="en-US" sz="1400" u="sng" dirty="0" err="1"/>
              <a:t>차동</a:t>
            </a:r>
            <a:r>
              <a:rPr lang="ko-KR" altLang="en-US" sz="1400" u="sng" dirty="0"/>
              <a:t> 임피던스</a:t>
            </a:r>
            <a:r>
              <a:rPr lang="en-US" altLang="ko-KR" sz="1400" u="sng" dirty="0"/>
              <a:t>:</a:t>
            </a:r>
            <a:r>
              <a:rPr lang="ko-KR" altLang="en-US" sz="1400" dirty="0"/>
              <a:t> </a:t>
            </a:r>
            <a:r>
              <a:rPr lang="en-US" altLang="ko-KR" sz="1400" dirty="0"/>
              <a:t>50</a:t>
            </a:r>
            <a:r>
              <a:rPr lang="el-GR" altLang="ko-KR" sz="1400" dirty="0"/>
              <a:t>Ω</a:t>
            </a:r>
          </a:p>
          <a:p>
            <a:r>
              <a:rPr lang="ko-KR" altLang="en-US" sz="1400" u="sng" dirty="0"/>
              <a:t>단일 종단 임피던스</a:t>
            </a:r>
            <a:r>
              <a:rPr lang="en-US" altLang="ko-KR" sz="1400" u="sng" dirty="0"/>
              <a:t>:</a:t>
            </a:r>
            <a:r>
              <a:rPr lang="ko-KR" altLang="en-US" sz="1400" dirty="0"/>
              <a:t> </a:t>
            </a:r>
            <a:r>
              <a:rPr lang="en-US" altLang="ko-KR" sz="1400" dirty="0"/>
              <a:t>25</a:t>
            </a:r>
            <a:r>
              <a:rPr lang="el-GR" altLang="ko-KR" sz="1400" dirty="0"/>
              <a:t>Ω</a:t>
            </a:r>
          </a:p>
          <a:p>
            <a:r>
              <a:rPr lang="ko-KR" altLang="en-US" sz="1400" u="sng" dirty="0"/>
              <a:t>모범 사례</a:t>
            </a:r>
            <a:r>
              <a:rPr lang="en-US" altLang="ko-KR" sz="1400" u="sng" dirty="0"/>
              <a:t>:</a:t>
            </a:r>
            <a:r>
              <a:rPr lang="ko-KR" altLang="en-US" sz="1400" dirty="0"/>
              <a:t> 신호 반사를 방지하고 </a:t>
            </a:r>
            <a:r>
              <a:rPr lang="en-US" altLang="ko-KR" sz="1400" dirty="0"/>
              <a:t>SD </a:t>
            </a:r>
            <a:r>
              <a:rPr lang="ko-KR" altLang="en-US" sz="1400" dirty="0"/>
              <a:t>카드 인터페이스와의 안정적인 통신을 </a:t>
            </a:r>
            <a:endParaRPr lang="en-US" altLang="ko-KR" sz="1400" dirty="0"/>
          </a:p>
          <a:p>
            <a:r>
              <a:rPr lang="ko-KR" altLang="en-US" sz="1400" dirty="0"/>
              <a:t>보장하려면 지정된 임피던스 값으로 </a:t>
            </a:r>
            <a:r>
              <a:rPr lang="en-US" altLang="ko-KR" sz="1400" dirty="0"/>
              <a:t>PCB </a:t>
            </a:r>
            <a:r>
              <a:rPr lang="ko-KR" altLang="en-US" sz="1400" dirty="0" err="1"/>
              <a:t>트레이스를</a:t>
            </a:r>
            <a:r>
              <a:rPr lang="ko-KR" altLang="en-US" sz="1400" dirty="0"/>
              <a:t> 설계해야 한다</a:t>
            </a:r>
            <a:r>
              <a:rPr lang="en-US" altLang="ko-KR" sz="1400" dirty="0"/>
              <a:t>.</a:t>
            </a:r>
          </a:p>
        </p:txBody>
      </p:sp>
      <p:pic>
        <p:nvPicPr>
          <p:cNvPr id="5" name="그림 4" descr="전자제품, 회로, 전자 부품, 전자 공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5FC0B3-6A59-B310-2957-C39D3140C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38" y="3107239"/>
            <a:ext cx="5492108" cy="260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768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E80E7-7C6B-63DC-370E-69CA706A9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6921E5-72B0-9CF6-0A3F-A2E377932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ko-KR" altLang="en-US" dirty="0">
                <a:solidFill>
                  <a:srgbClr val="FFFFFF"/>
                </a:solidFill>
              </a:rPr>
              <a:t>임피던스 매칭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-3</a:t>
            </a:r>
            <a:r>
              <a:rPr lang="ko-KR" altLang="en-US" sz="2800" dirty="0"/>
              <a:t> 임피던스 선택에 영향을 미치는 요소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F128C0-038F-EAB7-F4D5-DD1C85981704}"/>
              </a:ext>
            </a:extLst>
          </p:cNvPr>
          <p:cNvSpPr txBox="1"/>
          <p:nvPr/>
        </p:nvSpPr>
        <p:spPr>
          <a:xfrm>
            <a:off x="484552" y="2738001"/>
            <a:ext cx="10326353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sz="1400" b="1" dirty="0"/>
              <a:t>A- </a:t>
            </a:r>
            <a:r>
              <a:rPr lang="ko-KR" altLang="en-US" sz="1400" b="1" dirty="0"/>
              <a:t>데이터 속도</a:t>
            </a:r>
            <a:r>
              <a:rPr lang="en-US" altLang="ko-KR" sz="1400" b="1" dirty="0"/>
              <a:t>:</a:t>
            </a:r>
          </a:p>
          <a:p>
            <a:r>
              <a:rPr lang="ko-KR" altLang="en-US" sz="1400" dirty="0"/>
              <a:t>데이터 속도가 높을수록 신호 저하를 방지하고 안정적인 통신을 보장하기 위해 보다 정밀한 임피던스 제어가 필요하다</a:t>
            </a:r>
            <a:r>
              <a:rPr lang="en-US" altLang="ko-KR" sz="1400" dirty="0"/>
              <a:t>.</a:t>
            </a:r>
          </a:p>
          <a:p>
            <a:br>
              <a:rPr lang="en-US" altLang="ko-KR" sz="1400" dirty="0"/>
            </a:br>
            <a:endParaRPr lang="en-US" altLang="ko-KR" sz="1400" dirty="0"/>
          </a:p>
          <a:p>
            <a:pPr latinLnBrk="0"/>
            <a:r>
              <a:rPr lang="en-US" altLang="ko-KR" sz="1400" b="1" dirty="0"/>
              <a:t>B- </a:t>
            </a:r>
            <a:r>
              <a:rPr lang="ko-KR" altLang="en-US" sz="1400" b="1" dirty="0"/>
              <a:t>케이블 길이</a:t>
            </a:r>
            <a:r>
              <a:rPr lang="en-US" altLang="ko-KR" sz="1400" b="1" dirty="0"/>
              <a:t>:</a:t>
            </a:r>
          </a:p>
          <a:p>
            <a:r>
              <a:rPr lang="ko-KR" altLang="en-US" sz="1400" dirty="0"/>
              <a:t>케이블 길이가 길면 신호 손실이 발생할 수 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확장된 전송 경로에서 신호 무결성을 유지하려면 임피던스 매칭이 중요하다</a:t>
            </a:r>
            <a:r>
              <a:rPr lang="en-US" altLang="ko-KR" sz="1400" dirty="0"/>
              <a:t>.</a:t>
            </a:r>
          </a:p>
          <a:p>
            <a:br>
              <a:rPr lang="en-US" altLang="ko-KR" sz="1400" dirty="0"/>
            </a:br>
            <a:endParaRPr lang="en-US" altLang="ko-KR" sz="1400" dirty="0"/>
          </a:p>
          <a:p>
            <a:pPr latinLnBrk="0"/>
            <a:r>
              <a:rPr lang="en-US" altLang="ko-KR" sz="1400" b="1" dirty="0"/>
              <a:t>C- </a:t>
            </a:r>
            <a:r>
              <a:rPr lang="ko-KR" altLang="en-US" sz="1400" b="1" dirty="0"/>
              <a:t>커넥터</a:t>
            </a:r>
            <a:r>
              <a:rPr lang="en-US" altLang="ko-KR" sz="1400" b="1" dirty="0"/>
              <a:t>:</a:t>
            </a:r>
          </a:p>
          <a:p>
            <a:r>
              <a:rPr lang="en-US" altLang="ko-KR" sz="1400" dirty="0"/>
              <a:t>USB, </a:t>
            </a:r>
            <a:r>
              <a:rPr lang="ko-KR" altLang="en-US" sz="1400" dirty="0"/>
              <a:t>이더넷</a:t>
            </a:r>
            <a:r>
              <a:rPr lang="en-US" altLang="ko-KR" sz="1400" dirty="0"/>
              <a:t>, HDMI </a:t>
            </a:r>
            <a:r>
              <a:rPr lang="ko-KR" altLang="en-US" sz="1400" dirty="0"/>
              <a:t>및 </a:t>
            </a:r>
            <a:r>
              <a:rPr lang="en-US" altLang="ko-KR" sz="1400" dirty="0"/>
              <a:t>SD </a:t>
            </a:r>
            <a:r>
              <a:rPr lang="ko-KR" altLang="en-US" sz="1400" dirty="0"/>
              <a:t>카드 슬롯을 포함하여 특정 임피던스 요구 사항이 함께 제공된다</a:t>
            </a:r>
            <a:r>
              <a:rPr lang="en-US" altLang="ko-KR" sz="1400" dirty="0"/>
              <a:t>. </a:t>
            </a:r>
          </a:p>
          <a:p>
            <a:r>
              <a:rPr lang="ko-KR" altLang="en-US" sz="1400" dirty="0"/>
              <a:t>원활한 데이터 전송을 위해서는 이러한 사양을 준수하는 것이 필수적이다</a:t>
            </a:r>
            <a:r>
              <a:rPr lang="en-US" altLang="ko-KR" sz="1400" dirty="0"/>
              <a:t>.</a:t>
            </a:r>
          </a:p>
          <a:p>
            <a:br>
              <a:rPr lang="en-US" altLang="ko-KR" sz="1400" dirty="0"/>
            </a:br>
            <a:endParaRPr lang="en-US" altLang="ko-KR" sz="1400" dirty="0"/>
          </a:p>
          <a:p>
            <a:pPr latinLnBrk="0"/>
            <a:r>
              <a:rPr lang="en-US" altLang="ko-KR" sz="1400" b="1" dirty="0"/>
              <a:t>D- PCB </a:t>
            </a:r>
            <a:r>
              <a:rPr lang="ko-KR" altLang="en-US" sz="1400" b="1" dirty="0"/>
              <a:t>재질</a:t>
            </a:r>
            <a:r>
              <a:rPr lang="en-US" altLang="ko-KR" sz="1400" b="1" dirty="0"/>
              <a:t>:</a:t>
            </a:r>
          </a:p>
          <a:p>
            <a:r>
              <a:rPr lang="en-US" altLang="ko-KR" sz="1400" dirty="0"/>
              <a:t>PCB </a:t>
            </a:r>
            <a:r>
              <a:rPr lang="ko-KR" altLang="en-US" sz="1400" dirty="0"/>
              <a:t>재료의 유전 특성은 특성 임피던스에 영향을 미칩니다</a:t>
            </a:r>
            <a:r>
              <a:rPr lang="en-US" altLang="ko-KR" sz="1400" dirty="0"/>
              <a:t>. </a:t>
            </a:r>
            <a:r>
              <a:rPr lang="ko-KR" altLang="en-US" sz="1400" dirty="0"/>
              <a:t>재료마다 임피던스 값이 다르기 때문에 </a:t>
            </a:r>
            <a:endParaRPr lang="en-US" altLang="ko-KR" sz="1400" dirty="0"/>
          </a:p>
          <a:p>
            <a:r>
              <a:rPr lang="ko-KR" altLang="en-US" sz="1400" dirty="0"/>
              <a:t>목표 임피던스에 맞는 재료를 선택하는 것이 중요하다</a:t>
            </a:r>
            <a:r>
              <a:rPr lang="en-US" altLang="ko-KR" sz="1400" dirty="0"/>
              <a:t>.</a:t>
            </a:r>
          </a:p>
          <a:p>
            <a:endParaRPr kumimoji="1"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1660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3E150-11C0-68BC-9AC5-4F5C0A42D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9D91-487E-DF58-B0D6-3F374AB42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ko-KR" altLang="en-US" dirty="0">
                <a:solidFill>
                  <a:srgbClr val="FFFFFF"/>
                </a:solidFill>
              </a:rPr>
              <a:t>임피던스 매칭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-4</a:t>
            </a:r>
            <a:r>
              <a:rPr lang="ko-KR" altLang="en-US" sz="2800" dirty="0"/>
              <a:t> 임피던스 매칭 모범 사례</a:t>
            </a:r>
            <a:endParaRPr lang="ko-KR" alt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EAB089-A28E-7C21-3646-9FB4D41EA4ED}"/>
              </a:ext>
            </a:extLst>
          </p:cNvPr>
          <p:cNvSpPr txBox="1"/>
          <p:nvPr/>
        </p:nvSpPr>
        <p:spPr>
          <a:xfrm>
            <a:off x="484552" y="2942201"/>
            <a:ext cx="8893781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sz="1400" b="1" dirty="0"/>
              <a:t>A- </a:t>
            </a:r>
            <a:r>
              <a:rPr lang="ko-KR" altLang="en-US" sz="1400" b="1" dirty="0"/>
              <a:t>디자인 전반의 일관성</a:t>
            </a:r>
            <a:r>
              <a:rPr lang="en-US" altLang="ko-KR" sz="1400" b="1" dirty="0"/>
              <a:t>:</a:t>
            </a:r>
          </a:p>
          <a:p>
            <a:r>
              <a:rPr lang="ko-KR" altLang="en-US" sz="1400" dirty="0" err="1"/>
              <a:t>트레이스</a:t>
            </a:r>
            <a:r>
              <a:rPr lang="en-US" altLang="ko-KR" sz="1400" dirty="0"/>
              <a:t>, </a:t>
            </a:r>
            <a:r>
              <a:rPr lang="ko-KR" altLang="en-US" sz="1400" dirty="0"/>
              <a:t>커넥터 및 케이블을 포함한 전체 신호 경로에서 일관된 임피던스 값을 유지해야 한다</a:t>
            </a:r>
            <a:r>
              <a:rPr lang="en-US" altLang="ko-KR" sz="1400" dirty="0"/>
              <a:t>.</a:t>
            </a:r>
          </a:p>
          <a:p>
            <a:br>
              <a:rPr lang="en-US" altLang="ko-KR" sz="1400" dirty="0"/>
            </a:br>
            <a:endParaRPr lang="en-US" altLang="ko-KR" sz="1400" dirty="0"/>
          </a:p>
          <a:p>
            <a:pPr latinLnBrk="0"/>
            <a:r>
              <a:rPr lang="en-US" altLang="ko-KR" sz="1400" b="1" dirty="0"/>
              <a:t>B- </a:t>
            </a:r>
            <a:r>
              <a:rPr lang="ko-KR" altLang="en-US" sz="1400" b="1" dirty="0"/>
              <a:t>제어된 임피던스 </a:t>
            </a:r>
            <a:r>
              <a:rPr lang="ko-KR" altLang="en-US" sz="1400" b="1" dirty="0" err="1"/>
              <a:t>트레이스의</a:t>
            </a:r>
            <a:r>
              <a:rPr lang="ko-KR" altLang="en-US" sz="1400" b="1" dirty="0"/>
              <a:t> 사용</a:t>
            </a:r>
            <a:r>
              <a:rPr lang="en-US" altLang="ko-KR" sz="1400" b="1" dirty="0"/>
              <a:t>:</a:t>
            </a:r>
          </a:p>
          <a:p>
            <a:r>
              <a:rPr lang="ko-KR" altLang="en-US" sz="1400" dirty="0"/>
              <a:t>고속 신호에 대해 제어된 임피던스 </a:t>
            </a:r>
            <a:r>
              <a:rPr lang="ko-KR" altLang="en-US" sz="1400" dirty="0" err="1"/>
              <a:t>트레이스를</a:t>
            </a:r>
            <a:r>
              <a:rPr lang="ko-KR" altLang="en-US" sz="1400" dirty="0"/>
              <a:t> 활용하여 반사 및 신호 왜곡을 최소화해야 한다</a:t>
            </a:r>
            <a:r>
              <a:rPr lang="en-US" altLang="ko-KR" sz="1400" dirty="0"/>
              <a:t>.</a:t>
            </a:r>
          </a:p>
          <a:p>
            <a:br>
              <a:rPr lang="en-US" altLang="ko-KR" sz="1400" dirty="0"/>
            </a:br>
            <a:endParaRPr lang="en-US" altLang="ko-KR" sz="1400" dirty="0"/>
          </a:p>
          <a:p>
            <a:pPr latinLnBrk="0"/>
            <a:r>
              <a:rPr lang="en-US" altLang="ko-KR" sz="1400" b="1" dirty="0"/>
              <a:t>C- </a:t>
            </a:r>
            <a:r>
              <a:rPr lang="ko-KR" altLang="en-US" sz="1400" b="1" dirty="0"/>
              <a:t>시뮬레이션 및 테스트</a:t>
            </a:r>
            <a:r>
              <a:rPr lang="en-US" altLang="ko-KR" sz="1400" b="1" dirty="0"/>
              <a:t>:</a:t>
            </a:r>
          </a:p>
          <a:p>
            <a:r>
              <a:rPr lang="ko-KR" altLang="en-US" sz="1400" dirty="0"/>
              <a:t>설계 단계에서 임피던스 시뮬레이션 및 측정을 수행하여 선택한 값을 검증하고 잠재적인 문제를 식별해야 한다</a:t>
            </a:r>
            <a:r>
              <a:rPr lang="en-US" altLang="ko-KR" sz="1400" dirty="0"/>
              <a:t>.</a:t>
            </a:r>
          </a:p>
          <a:p>
            <a:br>
              <a:rPr lang="en-US" altLang="ko-KR" sz="1400" dirty="0"/>
            </a:br>
            <a:endParaRPr lang="en-US" altLang="ko-KR" sz="1400" dirty="0"/>
          </a:p>
          <a:p>
            <a:pPr latinLnBrk="0"/>
            <a:r>
              <a:rPr lang="en-US" altLang="ko-KR" sz="1400" b="1" dirty="0"/>
              <a:t>D- </a:t>
            </a:r>
            <a:r>
              <a:rPr lang="ko-KR" altLang="en-US" sz="1400" b="1" dirty="0"/>
              <a:t>상담 사양</a:t>
            </a:r>
            <a:r>
              <a:rPr lang="en-US" altLang="ko-KR" sz="1400" b="1" dirty="0"/>
              <a:t>:</a:t>
            </a:r>
          </a:p>
          <a:p>
            <a:r>
              <a:rPr lang="ko-KR" altLang="en-US" sz="1400" dirty="0"/>
              <a:t>정확한 임피던스 요구 사항은 인터페이스 표준에서 제공하는 데이터시트와 사양을 참조 </a:t>
            </a:r>
            <a:r>
              <a:rPr lang="ko-KR" altLang="en-US" sz="1400" dirty="0" err="1"/>
              <a:t>해야한다</a:t>
            </a:r>
            <a:r>
              <a:rPr lang="en-US" altLang="ko-KR" sz="1400" dirty="0"/>
              <a:t>.</a:t>
            </a:r>
          </a:p>
          <a:p>
            <a:endParaRPr kumimoji="1"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63030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3D650-9C38-4102-1A60-F8DF237B7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48D5D5-14AE-14AF-2722-E1977C2F2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ko-KR" altLang="en-US" dirty="0">
                <a:solidFill>
                  <a:srgbClr val="FFFFFF"/>
                </a:solidFill>
              </a:rPr>
              <a:t>배선 길이 매칭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-1</a:t>
            </a:r>
            <a:r>
              <a:rPr lang="ko-KR" altLang="en-US" sz="2800" dirty="0"/>
              <a:t> 배선 길이 매칭의 중요성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53C4E2-EDB2-363A-7D67-BEA8B303A000}"/>
              </a:ext>
            </a:extLst>
          </p:cNvPr>
          <p:cNvSpPr txBox="1"/>
          <p:nvPr/>
        </p:nvSpPr>
        <p:spPr>
          <a:xfrm>
            <a:off x="260415" y="3038856"/>
            <a:ext cx="11317522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sz="1400" b="1" dirty="0"/>
              <a:t>A- </a:t>
            </a:r>
            <a:r>
              <a:rPr lang="ko-KR" altLang="en-US" sz="1400" b="1" dirty="0"/>
              <a:t>신호 타이밍</a:t>
            </a:r>
            <a:r>
              <a:rPr lang="en-US" altLang="ko-KR" sz="1400" b="1" dirty="0"/>
              <a:t>:</a:t>
            </a:r>
          </a:p>
          <a:p>
            <a:r>
              <a:rPr lang="ko-KR" altLang="en-US" sz="1400" dirty="0"/>
              <a:t>다양한 </a:t>
            </a:r>
            <a:r>
              <a:rPr lang="ko-KR" altLang="en-US" sz="1400" dirty="0" err="1"/>
              <a:t>트레이스에서</a:t>
            </a:r>
            <a:r>
              <a:rPr lang="ko-KR" altLang="en-US" sz="1400" dirty="0"/>
              <a:t> 일관된 신호 타이밍을 유지하려면 길이 일치가 중요하다</a:t>
            </a:r>
            <a:r>
              <a:rPr lang="en-US" altLang="ko-KR" sz="1400" dirty="0"/>
              <a:t>. </a:t>
            </a:r>
          </a:p>
          <a:p>
            <a:r>
              <a:rPr lang="ko-KR" altLang="en-US" sz="1400" dirty="0"/>
              <a:t>고속 애플리케이션에서는 </a:t>
            </a:r>
            <a:r>
              <a:rPr lang="ko-KR" altLang="en-US" sz="1400" dirty="0" err="1"/>
              <a:t>트레이스</a:t>
            </a:r>
            <a:r>
              <a:rPr lang="ko-KR" altLang="en-US" sz="1400" dirty="0"/>
              <a:t> 길이의 작은 변화라도 신호 왜곡을 초래하고 전체 시스템 성능을 저하시킬 수 있다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br>
              <a:rPr lang="ko-KR" altLang="en-US" sz="1400" dirty="0"/>
            </a:br>
            <a:endParaRPr lang="ko-KR" altLang="en-US" sz="1400" dirty="0"/>
          </a:p>
          <a:p>
            <a:pPr latinLnBrk="0"/>
            <a:r>
              <a:rPr lang="en-US" altLang="ko-KR" sz="1400" b="1" dirty="0"/>
              <a:t>B- </a:t>
            </a:r>
            <a:r>
              <a:rPr lang="ko-KR" altLang="en-US" sz="1400" b="1" dirty="0"/>
              <a:t>신호 무결성</a:t>
            </a:r>
            <a:r>
              <a:rPr lang="en-US" altLang="ko-KR" sz="1400" b="1" dirty="0"/>
              <a:t>:</a:t>
            </a:r>
          </a:p>
          <a:p>
            <a:r>
              <a:rPr lang="ko-KR" altLang="en-US" sz="1400" dirty="0"/>
              <a:t>길이 일치는 </a:t>
            </a:r>
            <a:r>
              <a:rPr lang="ko-KR" altLang="en-US" sz="1400" b="1" dirty="0"/>
              <a:t>신호 왜곡을 최소화하는 데 도움이 되며 </a:t>
            </a:r>
            <a:r>
              <a:rPr lang="ko-KR" altLang="en-US" sz="1400" dirty="0"/>
              <a:t>신호가 목적지에 동시에 도착하도록 보장한다</a:t>
            </a:r>
            <a:r>
              <a:rPr lang="en-US" altLang="ko-KR" sz="1400" dirty="0"/>
              <a:t>. </a:t>
            </a:r>
          </a:p>
          <a:p>
            <a:r>
              <a:rPr lang="ko-KR" altLang="en-US" sz="1400" dirty="0"/>
              <a:t>이는 </a:t>
            </a:r>
            <a:r>
              <a:rPr lang="en-US" altLang="ko-KR" sz="1400" dirty="0"/>
              <a:t>DDR </a:t>
            </a:r>
            <a:r>
              <a:rPr lang="ko-KR" altLang="en-US" sz="1400" dirty="0"/>
              <a:t>메모리</a:t>
            </a:r>
            <a:r>
              <a:rPr lang="en-US" altLang="ko-KR" sz="1400" dirty="0"/>
              <a:t>, </a:t>
            </a:r>
            <a:r>
              <a:rPr lang="ko-KR" altLang="en-US" sz="1400" dirty="0"/>
              <a:t>고속 직렬 버스 및 </a:t>
            </a:r>
            <a:r>
              <a:rPr lang="ko-KR" altLang="en-US" sz="1400" dirty="0" err="1"/>
              <a:t>차동</a:t>
            </a:r>
            <a:r>
              <a:rPr lang="ko-KR" altLang="en-US" sz="1400" dirty="0"/>
              <a:t> 신호와 같은 인터페이스에 특히 중요하다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br>
              <a:rPr lang="ko-KR" altLang="en-US" sz="1400" dirty="0"/>
            </a:br>
            <a:endParaRPr lang="ko-KR" altLang="en-US" sz="1400" dirty="0"/>
          </a:p>
          <a:p>
            <a:pPr latinLnBrk="0"/>
            <a:r>
              <a:rPr lang="en-US" altLang="ko-KR" sz="1400" b="1" dirty="0"/>
              <a:t>C- </a:t>
            </a:r>
            <a:r>
              <a:rPr lang="ko-KR" altLang="en-US" sz="1400" b="1" dirty="0"/>
              <a:t>누화 완화</a:t>
            </a:r>
            <a:r>
              <a:rPr lang="en-US" altLang="ko-KR" sz="1400" b="1" dirty="0"/>
              <a:t>:</a:t>
            </a:r>
          </a:p>
          <a:p>
            <a:r>
              <a:rPr lang="ko-KR" altLang="en-US" sz="1400" dirty="0" err="1"/>
              <a:t>차동</a:t>
            </a:r>
            <a:r>
              <a:rPr lang="ko-KR" altLang="en-US" sz="1400" dirty="0"/>
              <a:t> 쌍의 균형 잡힌 길이는 누화 위험을 줄여준다</a:t>
            </a:r>
            <a:r>
              <a:rPr lang="en-US" altLang="ko-KR" sz="1400" dirty="0"/>
              <a:t>. </a:t>
            </a:r>
          </a:p>
          <a:p>
            <a:r>
              <a:rPr lang="ko-KR" altLang="en-US" sz="1400" dirty="0"/>
              <a:t>잘 일치하는 </a:t>
            </a:r>
            <a:r>
              <a:rPr lang="ko-KR" altLang="en-US" sz="1400" dirty="0" err="1"/>
              <a:t>트레이스는</a:t>
            </a:r>
            <a:r>
              <a:rPr lang="ko-KR" altLang="en-US" sz="1400" dirty="0"/>
              <a:t> 신호 간의 의도된 위상 관계를 유지하고 </a:t>
            </a:r>
            <a:r>
              <a:rPr lang="ko-KR" altLang="en-US" sz="1400" b="1" dirty="0"/>
              <a:t>간섭을 방지하며 깨끗하고 안정적인 신호 경로를 보장하는 데 도움이 된다 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endParaRPr kumimoji="1"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81609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9AA2F-A9A9-444A-B1B8-90A18766B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F3324-867A-106C-3723-F82635D58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ko-KR" altLang="en-US" dirty="0">
                <a:solidFill>
                  <a:srgbClr val="FFFFFF"/>
                </a:solidFill>
              </a:rPr>
              <a:t>배선 길이 매칭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-2</a:t>
            </a:r>
            <a:r>
              <a:rPr lang="ko-KR" altLang="en-US" sz="2800" dirty="0"/>
              <a:t> 단일 종단 트랙의 길이 매칭</a:t>
            </a:r>
            <a:endParaRPr lang="ko-KR" alt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1491A6-6A14-8208-2A8A-B9CEC54B7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68" y="2417822"/>
            <a:ext cx="4489784" cy="18158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FAD0CC-8BD3-93F5-39E1-677A38B4A4FB}"/>
              </a:ext>
            </a:extLst>
          </p:cNvPr>
          <p:cNvSpPr txBox="1"/>
          <p:nvPr/>
        </p:nvSpPr>
        <p:spPr>
          <a:xfrm>
            <a:off x="353568" y="4347019"/>
            <a:ext cx="11354968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sz="1400" b="1" dirty="0"/>
              <a:t>A- </a:t>
            </a:r>
            <a:r>
              <a:rPr lang="ko-KR" altLang="en-US" sz="1400" b="1" dirty="0"/>
              <a:t>크리티컬 네트</a:t>
            </a:r>
            <a:r>
              <a:rPr lang="en-US" altLang="ko-KR" sz="1400" b="1" dirty="0"/>
              <a:t>:</a:t>
            </a:r>
          </a:p>
          <a:p>
            <a:r>
              <a:rPr lang="ko-KR" altLang="en-US" sz="1400" dirty="0"/>
              <a:t>시스템의 기능에 중요한 신호나 </a:t>
            </a:r>
            <a:r>
              <a:rPr lang="ko-KR" altLang="en-US" sz="1400" dirty="0" err="1"/>
              <a:t>트레이스를</a:t>
            </a:r>
            <a:r>
              <a:rPr lang="ko-KR" altLang="en-US" sz="1400" dirty="0"/>
              <a:t> 찾아 정확한 길이 매칭이 필요한 부분을 확인해야 한다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여기에는 </a:t>
            </a:r>
            <a:r>
              <a:rPr lang="ko-KR" altLang="en-US" sz="1400" dirty="0" err="1"/>
              <a:t>클록</a:t>
            </a:r>
            <a:r>
              <a:rPr lang="ko-KR" altLang="en-US" sz="1400" dirty="0"/>
              <a:t> 신호</a:t>
            </a:r>
            <a:r>
              <a:rPr lang="en-US" altLang="ko-KR" sz="1400" dirty="0"/>
              <a:t>, </a:t>
            </a:r>
            <a:r>
              <a:rPr lang="ko-KR" altLang="en-US" sz="1400" dirty="0"/>
              <a:t>주소 라인 또는 시스템 기능에 중요한 기타 신호가 포함될 수 있다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endParaRPr lang="ko-KR" altLang="en-US" sz="1400" dirty="0"/>
          </a:p>
          <a:p>
            <a:pPr latinLnBrk="0"/>
            <a:r>
              <a:rPr lang="en-US" altLang="ko-KR" sz="1400" b="1" dirty="0"/>
              <a:t>B- </a:t>
            </a:r>
            <a:r>
              <a:rPr lang="ko-KR" altLang="en-US" sz="1400" b="1" dirty="0"/>
              <a:t>공차 고려 사항</a:t>
            </a:r>
            <a:r>
              <a:rPr lang="en-US" altLang="ko-KR" sz="1400" b="1" dirty="0"/>
              <a:t>:</a:t>
            </a:r>
          </a:p>
          <a:p>
            <a:r>
              <a:rPr lang="ko-KR" altLang="en-US" sz="1400" dirty="0"/>
              <a:t>설계 신호 요구 사항에 따라 길이 불일치에 대한 허용 오차를 정의해야 한다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 </a:t>
            </a:r>
            <a:r>
              <a:rPr lang="ko-KR" altLang="en-US" sz="1400" dirty="0"/>
              <a:t>고속 인터페이스의 경우 더 엄격한 허용 오차가 일반적으로 필요하다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endParaRPr lang="ko-KR" altLang="en-US" sz="1400" dirty="0"/>
          </a:p>
          <a:p>
            <a:pPr latinLnBrk="0"/>
            <a:r>
              <a:rPr lang="en-US" altLang="ko-KR" sz="1400" b="1" dirty="0"/>
              <a:t>C- </a:t>
            </a:r>
            <a:r>
              <a:rPr lang="ko-KR" altLang="en-US" sz="1400" b="1" dirty="0"/>
              <a:t>라우팅 기술</a:t>
            </a:r>
            <a:r>
              <a:rPr lang="en-US" altLang="ko-KR" sz="1400" b="1" dirty="0"/>
              <a:t>:</a:t>
            </a:r>
          </a:p>
          <a:p>
            <a:r>
              <a:rPr lang="ko-KR" altLang="en-US" sz="1400" dirty="0"/>
              <a:t>신호 무결성을 유지하면서 </a:t>
            </a:r>
            <a:r>
              <a:rPr lang="ko-KR" altLang="en-US" sz="1400" dirty="0" err="1"/>
              <a:t>트레이스의</a:t>
            </a:r>
            <a:r>
              <a:rPr lang="ko-KR" altLang="en-US" sz="1400" dirty="0"/>
              <a:t> 길이를 조정하기 위해 굴곡형 라우팅</a:t>
            </a:r>
            <a:r>
              <a:rPr lang="en-US" altLang="ko-KR" sz="1400" dirty="0"/>
              <a:t>, </a:t>
            </a:r>
            <a:r>
              <a:rPr lang="ko-KR" altLang="en-US" sz="1400" dirty="0"/>
              <a:t>뱀형 라우팅</a:t>
            </a:r>
            <a:r>
              <a:rPr lang="en-US" altLang="ko-KR" sz="1400" dirty="0"/>
              <a:t>, </a:t>
            </a:r>
            <a:r>
              <a:rPr lang="ko-KR" altLang="en-US" sz="1400" dirty="0"/>
              <a:t>또는 교차 비아와 같은 라우팅 기법을 활용하면 좋다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endParaRPr kumimoji="1"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21042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E461B-91AE-24DA-D488-59106E364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B4545D-F052-72D2-90D2-06C99DFC3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ko-KR" altLang="en-US" dirty="0">
                <a:solidFill>
                  <a:srgbClr val="FFFFFF"/>
                </a:solidFill>
              </a:rPr>
              <a:t>배선 길이 매칭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-2</a:t>
            </a:r>
            <a:r>
              <a:rPr lang="ko-KR" altLang="en-US" sz="2800" dirty="0"/>
              <a:t> </a:t>
            </a:r>
            <a:r>
              <a:rPr lang="ko-KR" altLang="en-US" sz="2800" dirty="0" err="1"/>
              <a:t>차동</a:t>
            </a:r>
            <a:r>
              <a:rPr lang="ko-KR" altLang="en-US" sz="2800" dirty="0"/>
              <a:t> 쌍의 길이 매칭</a:t>
            </a:r>
            <a:endParaRPr lang="ko-KR" alt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5DDE92-8A86-76FF-3EE3-8C728789DFCF}"/>
              </a:ext>
            </a:extLst>
          </p:cNvPr>
          <p:cNvSpPr txBox="1"/>
          <p:nvPr/>
        </p:nvSpPr>
        <p:spPr>
          <a:xfrm>
            <a:off x="484552" y="4407979"/>
            <a:ext cx="1028146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sz="1400" b="1" dirty="0"/>
              <a:t>A-</a:t>
            </a:r>
            <a:r>
              <a:rPr lang="ko-KR" altLang="en-US" sz="1400" b="1" dirty="0"/>
              <a:t>쌍 </a:t>
            </a:r>
            <a:r>
              <a:rPr lang="ko-KR" altLang="en-US" sz="1400" b="1" dirty="0" err="1"/>
              <a:t>스큐</a:t>
            </a:r>
            <a:r>
              <a:rPr lang="en-US" altLang="ko-KR" sz="1400" b="1" dirty="0"/>
              <a:t>:</a:t>
            </a:r>
          </a:p>
          <a:p>
            <a:r>
              <a:rPr lang="ko-KR" altLang="en-US" sz="1400" dirty="0"/>
              <a:t>쌍 </a:t>
            </a:r>
            <a:r>
              <a:rPr lang="ko-KR" altLang="en-US" sz="1400" dirty="0" err="1"/>
              <a:t>스큐는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차동</a:t>
            </a:r>
            <a:r>
              <a:rPr lang="ko-KR" altLang="en-US" sz="1400" dirty="0"/>
              <a:t> 쌍의 두 </a:t>
            </a:r>
            <a:r>
              <a:rPr lang="ko-KR" altLang="en-US" sz="1400" dirty="0" err="1"/>
              <a:t>트레이스</a:t>
            </a:r>
            <a:r>
              <a:rPr lang="ko-KR" altLang="en-US" sz="1400" dirty="0"/>
              <a:t> 간의 길이 차이를 나타낸다</a:t>
            </a:r>
            <a:r>
              <a:rPr lang="en-US" altLang="ko-KR" sz="1400" dirty="0"/>
              <a:t>. </a:t>
            </a:r>
          </a:p>
          <a:p>
            <a:r>
              <a:rPr lang="ko-KR" altLang="en-US" sz="1400" dirty="0"/>
              <a:t>신호가 원하는 위상 관계로 수신기에 도착하도록 쌍 </a:t>
            </a:r>
            <a:r>
              <a:rPr lang="ko-KR" altLang="en-US" sz="1400" dirty="0" err="1"/>
              <a:t>스큐를</a:t>
            </a:r>
            <a:r>
              <a:rPr lang="ko-KR" altLang="en-US" sz="1400" dirty="0"/>
              <a:t> 최소화 </a:t>
            </a:r>
            <a:r>
              <a:rPr lang="ko-KR" altLang="en-US" sz="1400" dirty="0" err="1"/>
              <a:t>해야한다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endParaRPr lang="ko-KR" altLang="en-US" sz="1400" dirty="0"/>
          </a:p>
          <a:p>
            <a:pPr latinLnBrk="0"/>
            <a:r>
              <a:rPr lang="en-US" altLang="ko-KR" sz="1400" b="1" dirty="0"/>
              <a:t>B- </a:t>
            </a:r>
            <a:r>
              <a:rPr lang="ko-KR" altLang="en-US" sz="1400" b="1" dirty="0"/>
              <a:t>튜닝 기술</a:t>
            </a:r>
            <a:r>
              <a:rPr lang="en-US" altLang="ko-KR" sz="1400" b="1" dirty="0"/>
              <a:t>:</a:t>
            </a:r>
          </a:p>
          <a:p>
            <a:r>
              <a:rPr lang="ko-KR" altLang="en-US" sz="1400" dirty="0" err="1"/>
              <a:t>차동</a:t>
            </a:r>
            <a:r>
              <a:rPr lang="ko-KR" altLang="en-US" sz="1400" dirty="0"/>
              <a:t> 쌍의 </a:t>
            </a:r>
            <a:r>
              <a:rPr lang="ko-KR" altLang="en-US" sz="1400" dirty="0" err="1"/>
              <a:t>트레이스</a:t>
            </a:r>
            <a:r>
              <a:rPr lang="ko-KR" altLang="en-US" sz="1400" dirty="0"/>
              <a:t> 길이를 조정하기 위해 튜닝 기법을 사용해야 한다</a:t>
            </a:r>
            <a:r>
              <a:rPr lang="en-US" altLang="ko-KR" sz="1400" dirty="0"/>
              <a:t>. </a:t>
            </a:r>
          </a:p>
          <a:p>
            <a:r>
              <a:rPr lang="ko-KR" altLang="en-US" sz="1400" dirty="0"/>
              <a:t>이를 위해 한 </a:t>
            </a:r>
            <a:r>
              <a:rPr lang="ko-KR" altLang="en-US" sz="1400" dirty="0" err="1"/>
              <a:t>트레이스를</a:t>
            </a:r>
            <a:r>
              <a:rPr lang="ko-KR" altLang="en-US" sz="1400" dirty="0"/>
              <a:t> 연장하고 다른 </a:t>
            </a:r>
            <a:r>
              <a:rPr lang="ko-KR" altLang="en-US" sz="1400" dirty="0" err="1"/>
              <a:t>트레이스를</a:t>
            </a:r>
            <a:r>
              <a:rPr lang="ko-KR" altLang="en-US" sz="1400" dirty="0"/>
              <a:t> 단축하여 원하는 길이 매칭을 달성할 수 있다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endParaRPr lang="ko-KR" altLang="en-US" sz="1400" dirty="0"/>
          </a:p>
          <a:p>
            <a:pPr latinLnBrk="0"/>
            <a:r>
              <a:rPr lang="en-US" altLang="ko-KR" sz="1400" b="1" dirty="0"/>
              <a:t>C- </a:t>
            </a:r>
            <a:r>
              <a:rPr lang="ko-KR" altLang="en-US" sz="1400" b="1" dirty="0"/>
              <a:t>대칭 라우팅</a:t>
            </a:r>
            <a:r>
              <a:rPr lang="en-US" altLang="ko-KR" sz="1400" b="1" dirty="0"/>
              <a:t>:</a:t>
            </a:r>
          </a:p>
          <a:p>
            <a:r>
              <a:rPr lang="ko-KR" altLang="en-US" sz="1400" dirty="0" err="1"/>
              <a:t>차동</a:t>
            </a:r>
            <a:r>
              <a:rPr lang="ko-KR" altLang="en-US" sz="1400" dirty="0"/>
              <a:t> 신호 쌍의 </a:t>
            </a:r>
            <a:r>
              <a:rPr lang="ko-KR" altLang="en-US" sz="1400" dirty="0" err="1"/>
              <a:t>트레이스를</a:t>
            </a:r>
            <a:r>
              <a:rPr lang="ko-KR" altLang="en-US" sz="1400" dirty="0"/>
              <a:t> 대칭적으로 배선하면 특성 임피던스를 유지하고</a:t>
            </a:r>
            <a:r>
              <a:rPr lang="en-US" altLang="ko-KR" sz="1400" dirty="0"/>
              <a:t>, </a:t>
            </a:r>
            <a:r>
              <a:rPr lang="ko-KR" altLang="en-US" sz="1400" dirty="0"/>
              <a:t>공통 모드 노이즈의 위험을 줄이는 데 효과적이다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0F96217-2894-6902-A772-757EF7F91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94" y="2316480"/>
            <a:ext cx="2456467" cy="192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120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4867F-009F-B9E4-D6AF-9FA262F8C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0918F4-0E66-000D-074D-B2950A9D3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ko-KR" altLang="en-US" dirty="0">
                <a:solidFill>
                  <a:srgbClr val="FFFFFF"/>
                </a:solidFill>
              </a:rPr>
              <a:t>배선 길이 매칭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-2</a:t>
            </a:r>
            <a:r>
              <a:rPr lang="ko-KR" altLang="en-US" sz="2800" dirty="0"/>
              <a:t> 길이 매칭 모범 사례</a:t>
            </a:r>
            <a:endParaRPr lang="ko-KR" alt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AB678-633E-E6E6-B7AB-BA6E4A634294}"/>
              </a:ext>
            </a:extLst>
          </p:cNvPr>
          <p:cNvSpPr txBox="1"/>
          <p:nvPr/>
        </p:nvSpPr>
        <p:spPr>
          <a:xfrm>
            <a:off x="484552" y="3134086"/>
            <a:ext cx="9028434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 sz="1400" b="1" dirty="0"/>
              <a:t>A- </a:t>
            </a:r>
            <a:r>
              <a:rPr lang="ko-KR" altLang="en-US" sz="1400" b="1" dirty="0"/>
              <a:t>설계 규칙 검사</a:t>
            </a:r>
            <a:r>
              <a:rPr lang="en-US" altLang="ko-KR" sz="1400" b="1" dirty="0"/>
              <a:t>(DRC) </a:t>
            </a:r>
            <a:r>
              <a:rPr lang="ko-KR" altLang="en-US" sz="1400" b="1" dirty="0"/>
              <a:t>사용</a:t>
            </a:r>
            <a:r>
              <a:rPr lang="en-US" altLang="ko-KR" sz="1400" b="1" dirty="0"/>
              <a:t>:</a:t>
            </a:r>
          </a:p>
          <a:p>
            <a:r>
              <a:rPr lang="ko-KR" altLang="en-US" sz="1400" dirty="0"/>
              <a:t>설계 단계에서 길이 불일치나 규칙 위반을 식별하고 수정하기 위해 </a:t>
            </a:r>
            <a:r>
              <a:rPr lang="en-US" altLang="ko-KR" sz="1400" dirty="0"/>
              <a:t>DRC </a:t>
            </a:r>
            <a:r>
              <a:rPr lang="ko-KR" altLang="en-US" sz="1400" dirty="0"/>
              <a:t>검사를 실행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pPr latinLnBrk="0"/>
            <a:r>
              <a:rPr lang="en-US" altLang="ko-KR" sz="1400" b="1" dirty="0"/>
              <a:t>B- </a:t>
            </a:r>
            <a:r>
              <a:rPr lang="ko-KR" altLang="en-US" sz="1400" b="1" dirty="0"/>
              <a:t>신호 무결성 도구 활용</a:t>
            </a:r>
            <a:r>
              <a:rPr lang="en-US" altLang="ko-KR" sz="1400" b="1" dirty="0"/>
              <a:t>:</a:t>
            </a:r>
          </a:p>
          <a:p>
            <a:r>
              <a:rPr lang="ko-KR" altLang="en-US" sz="1400" dirty="0"/>
              <a:t>신호 무결성 시뮬레이션 도구를 활용하여 길이 불일치가 미치는 영향을 분석하고</a:t>
            </a:r>
            <a:r>
              <a:rPr lang="en-US" altLang="ko-KR" sz="1400" dirty="0"/>
              <a:t>, </a:t>
            </a:r>
          </a:p>
          <a:p>
            <a:r>
              <a:rPr lang="ko-KR" altLang="en-US" sz="1400" dirty="0"/>
              <a:t>그에 따라 </a:t>
            </a:r>
            <a:r>
              <a:rPr lang="ko-KR" altLang="en-US" sz="1400" dirty="0" err="1"/>
              <a:t>트레이스를</a:t>
            </a:r>
            <a:r>
              <a:rPr lang="ko-KR" altLang="en-US" sz="1400" dirty="0"/>
              <a:t> 조정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endParaRPr lang="ko-KR" altLang="en-US" sz="1400" dirty="0"/>
          </a:p>
          <a:p>
            <a:pPr latinLnBrk="0"/>
            <a:r>
              <a:rPr lang="en-US" altLang="ko-KR" sz="1400" b="1" dirty="0"/>
              <a:t>C- </a:t>
            </a:r>
            <a:r>
              <a:rPr lang="ko-KR" altLang="en-US" sz="1400" b="1" dirty="0"/>
              <a:t>일관된 유전체 재료</a:t>
            </a:r>
            <a:r>
              <a:rPr lang="en-US" altLang="ko-KR" sz="1400" b="1" dirty="0"/>
              <a:t>:</a:t>
            </a:r>
          </a:p>
          <a:p>
            <a:r>
              <a:rPr lang="ko-KR" altLang="en-US" sz="1400" dirty="0"/>
              <a:t>쌍 내 </a:t>
            </a:r>
            <a:r>
              <a:rPr lang="ko-KR" altLang="en-US" sz="1400" dirty="0" err="1"/>
              <a:t>트레이스의</a:t>
            </a:r>
            <a:r>
              <a:rPr lang="ko-KR" altLang="en-US" sz="1400" dirty="0"/>
              <a:t> 유사한 신호 전파 속도를 보장하기 위해 일관된 유전체 재료를 사용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endParaRPr lang="ko-KR" altLang="en-US" sz="1400" dirty="0"/>
          </a:p>
          <a:p>
            <a:pPr latinLnBrk="0"/>
            <a:r>
              <a:rPr lang="en-US" altLang="ko-KR" sz="1400" b="1" dirty="0"/>
              <a:t>D- </a:t>
            </a:r>
            <a:r>
              <a:rPr lang="ko-KR" altLang="en-US" sz="1400" b="1" dirty="0"/>
              <a:t>연속 반복</a:t>
            </a:r>
            <a:r>
              <a:rPr lang="en-US" altLang="ko-KR" sz="1400" b="1" dirty="0"/>
              <a:t>:</a:t>
            </a:r>
          </a:p>
          <a:p>
            <a:r>
              <a:rPr lang="ko-KR" altLang="en-US" sz="1400" dirty="0"/>
              <a:t>시뮬레이션 결과와 실제 측정값을 기반으로 레이아웃을 지속적으로 반복하고 개선하여 최적의 길이 일치를 달성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endParaRPr lang="ko-KR" alt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B5A7939-85C1-5984-1F3F-BA76213B9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212" y="2694432"/>
            <a:ext cx="4796327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344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F9303-4F75-EEB1-3574-A2F823E17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18EBD-3478-C22C-5F7D-2D5C96E0D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</a:t>
            </a:r>
            <a:r>
              <a:rPr lang="ko-KR" altLang="en-US" dirty="0">
                <a:solidFill>
                  <a:srgbClr val="FFFFFF"/>
                </a:solidFill>
              </a:rPr>
              <a:t>임피던스 계산 방법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-1</a:t>
            </a:r>
            <a:r>
              <a:rPr lang="ko-KR" altLang="en-US" sz="2800" dirty="0"/>
              <a:t> </a:t>
            </a:r>
            <a:r>
              <a:rPr lang="en-US" altLang="ko-KR" sz="2800" dirty="0"/>
              <a:t>PCB</a:t>
            </a:r>
            <a:r>
              <a:rPr lang="ko-KR" altLang="en-US" sz="2800" dirty="0"/>
              <a:t> 업체 제공</a:t>
            </a:r>
            <a:endParaRPr lang="ko-KR" altLang="en-US" dirty="0">
              <a:latin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B1B9EC5-CC82-509C-4BFD-D39EA51B6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3429000"/>
            <a:ext cx="6016220" cy="24707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7E7A4D-2342-97B5-4E69-46A135E972A1}"/>
              </a:ext>
            </a:extLst>
          </p:cNvPr>
          <p:cNvSpPr txBox="1"/>
          <p:nvPr/>
        </p:nvSpPr>
        <p:spPr>
          <a:xfrm>
            <a:off x="6821424" y="4341232"/>
            <a:ext cx="44422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PCB </a:t>
            </a:r>
            <a:r>
              <a:rPr kumimoji="1" lang="ko-KR" altLang="en-US" dirty="0"/>
              <a:t>업체에서 제공 할 경우 해당 계산기를</a:t>
            </a:r>
            <a:endParaRPr kumimoji="1" lang="en-US" altLang="ko-KR" dirty="0"/>
          </a:p>
          <a:p>
            <a:r>
              <a:rPr kumimoji="1" lang="ko-KR" altLang="en-US" dirty="0"/>
              <a:t>사용 </a:t>
            </a:r>
            <a:r>
              <a:rPr kumimoji="1" lang="ko-KR" altLang="en-US" dirty="0" err="1"/>
              <a:t>하는것이</a:t>
            </a:r>
            <a:r>
              <a:rPr kumimoji="1" lang="ko-KR" altLang="en-US" dirty="0"/>
              <a:t> 가장 정확하다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0165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966CA-8B8C-D3CA-61A7-DE9719359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2E3FE2-D3BE-31CF-91EF-480493DC3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</a:t>
            </a:r>
            <a:r>
              <a:rPr lang="ko-KR" altLang="en-US" dirty="0">
                <a:solidFill>
                  <a:srgbClr val="FFFFFF"/>
                </a:solidFill>
              </a:rPr>
              <a:t>임피던스 계산 방법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-2</a:t>
            </a:r>
            <a:r>
              <a:rPr lang="ko-KR" altLang="en-US" sz="2800" dirty="0"/>
              <a:t> </a:t>
            </a:r>
            <a:r>
              <a:rPr lang="ko-KR" altLang="en-US" sz="2800" dirty="0" err="1"/>
              <a:t>스택업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5F11935-41D0-CCD5-ADCA-9BE37A74B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30" y="2454275"/>
            <a:ext cx="6261100" cy="4038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C35644-02AE-AA29-366B-93282160925A}"/>
              </a:ext>
            </a:extLst>
          </p:cNvPr>
          <p:cNvSpPr txBox="1"/>
          <p:nvPr/>
        </p:nvSpPr>
        <p:spPr>
          <a:xfrm>
            <a:off x="7077456" y="4150409"/>
            <a:ext cx="41981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JLCPCB</a:t>
            </a:r>
            <a:r>
              <a:rPr kumimoji="1" lang="ko-KR" altLang="en-US" dirty="0"/>
              <a:t>에서는 임피던스 계산에 필요한</a:t>
            </a:r>
            <a:endParaRPr kumimoji="1" lang="en-US" altLang="ko-KR" dirty="0"/>
          </a:p>
          <a:p>
            <a:r>
              <a:rPr kumimoji="1" lang="ko-KR" altLang="en-US" dirty="0"/>
              <a:t>물질별 </a:t>
            </a:r>
            <a:r>
              <a:rPr kumimoji="1" lang="ko-KR" altLang="en-US" dirty="0" err="1"/>
              <a:t>유전률과</a:t>
            </a:r>
            <a:r>
              <a:rPr kumimoji="1" lang="ko-KR" altLang="en-US" dirty="0"/>
              <a:t> 두께를 제공한다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0293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2914D5-E6C9-77D6-0FD5-1CB9BC7E6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8AEA54F-8279-4EDE-9B7B-BC13782DB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622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626DC2C-2F2A-342E-630E-4FDE21178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4" y="385614"/>
            <a:ext cx="5785608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1119290337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2087</TotalTime>
  <Words>984</Words>
  <Application>Microsoft Macintosh PowerPoint</Application>
  <PresentationFormat>와이드스크린</PresentationFormat>
  <Paragraphs>122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Arial</vt:lpstr>
      <vt:lpstr>Avenir Next LT Pro</vt:lpstr>
      <vt:lpstr>Bahnschrift</vt:lpstr>
      <vt:lpstr>MatrixVTI</vt:lpstr>
      <vt:lpstr>Artwork 세미나 </vt:lpstr>
      <vt:lpstr>PowerPoint 프레젠테이션</vt:lpstr>
      <vt:lpstr>1. 임피던스 매칭 1-1 임피던스 매칭의 필요성</vt:lpstr>
      <vt:lpstr>1. 임피던스 매칭 1-2 디지털 인터페이스에서의 임피던스 이해</vt:lpstr>
      <vt:lpstr>1. 임피던스 매칭 1-2 임피던스 매칭의 예시 #DRAM</vt:lpstr>
      <vt:lpstr>1. 임피던스 매칭 1-2 임피던스 매칭의 예시 #USB</vt:lpstr>
      <vt:lpstr>1. 임피던스 매칭 1-2 임피던스 매칭의 예시 #이더넷</vt:lpstr>
      <vt:lpstr>1. 임피던스 매칭 1-2 임피던스 매칭의 예시 #HDMI</vt:lpstr>
      <vt:lpstr>1. 임피던스 매칭 1-2 임피던스 매칭의 예시 #SD Card</vt:lpstr>
      <vt:lpstr>1. 임피던스 매칭 1-3 임피던스 선택에 영향을 미치는 요소</vt:lpstr>
      <vt:lpstr>1. 임피던스 매칭 1-4 임피던스 매칭 모범 사례</vt:lpstr>
      <vt:lpstr>2. 배선 길이 매칭 2-1 배선 길이 매칭의 중요성</vt:lpstr>
      <vt:lpstr>2. 배선 길이 매칭 2-2 단일 종단 트랙의 길이 매칭</vt:lpstr>
      <vt:lpstr>2. 배선 길이 매칭 2-2 차동 쌍의 길이 매칭</vt:lpstr>
      <vt:lpstr>2. 배선 길이 매칭 2-2 길이 매칭 모범 사례</vt:lpstr>
      <vt:lpstr>3. 임피던스 계산 방법 3-1 PCB 업체 제공</vt:lpstr>
      <vt:lpstr>3. 임피던스 계산 방법 3-2 스택업</vt:lpstr>
      <vt:lpstr>예시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 Processor 세미나</dc:title>
  <dc:creator>mta</dc:creator>
  <cp:lastModifiedBy>mta</cp:lastModifiedBy>
  <cp:revision>715</cp:revision>
  <dcterms:created xsi:type="dcterms:W3CDTF">2023-04-01T05:56:39Z</dcterms:created>
  <dcterms:modified xsi:type="dcterms:W3CDTF">2025-11-05T15:42:49Z</dcterms:modified>
</cp:coreProperties>
</file>