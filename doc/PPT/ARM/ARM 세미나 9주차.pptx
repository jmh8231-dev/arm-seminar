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0" r:id="rId1"/>
  </p:sldMasterIdLst>
  <p:notesMasterIdLst>
    <p:notesMasterId r:id="rId37"/>
  </p:notesMasterIdLst>
  <p:sldIdLst>
    <p:sldId id="256" r:id="rId2"/>
    <p:sldId id="405" r:id="rId3"/>
    <p:sldId id="258" r:id="rId4"/>
    <p:sldId id="463" r:id="rId5"/>
    <p:sldId id="464" r:id="rId6"/>
    <p:sldId id="470" r:id="rId7"/>
    <p:sldId id="465" r:id="rId8"/>
    <p:sldId id="466" r:id="rId9"/>
    <p:sldId id="467" r:id="rId10"/>
    <p:sldId id="468" r:id="rId11"/>
    <p:sldId id="469" r:id="rId12"/>
    <p:sldId id="471" r:id="rId13"/>
    <p:sldId id="472" r:id="rId14"/>
    <p:sldId id="473" r:id="rId15"/>
    <p:sldId id="475" r:id="rId16"/>
    <p:sldId id="474" r:id="rId17"/>
    <p:sldId id="476" r:id="rId18"/>
    <p:sldId id="477" r:id="rId19"/>
    <p:sldId id="478" r:id="rId20"/>
    <p:sldId id="459" r:id="rId21"/>
    <p:sldId id="479" r:id="rId22"/>
    <p:sldId id="480" r:id="rId23"/>
    <p:sldId id="482" r:id="rId24"/>
    <p:sldId id="481" r:id="rId25"/>
    <p:sldId id="483" r:id="rId26"/>
    <p:sldId id="484" r:id="rId27"/>
    <p:sldId id="485" r:id="rId28"/>
    <p:sldId id="486" r:id="rId29"/>
    <p:sldId id="488" r:id="rId30"/>
    <p:sldId id="489" r:id="rId31"/>
    <p:sldId id="490" r:id="rId32"/>
    <p:sldId id="493" r:id="rId33"/>
    <p:sldId id="492" r:id="rId34"/>
    <p:sldId id="491" r:id="rId35"/>
    <p:sldId id="494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3AECD4F-9523-4815-827E-2B8DD5C14A03}">
          <p14:sldIdLst>
            <p14:sldId id="256"/>
            <p14:sldId id="405"/>
            <p14:sldId id="258"/>
            <p14:sldId id="463"/>
            <p14:sldId id="464"/>
            <p14:sldId id="470"/>
            <p14:sldId id="465"/>
            <p14:sldId id="466"/>
            <p14:sldId id="467"/>
            <p14:sldId id="468"/>
            <p14:sldId id="469"/>
            <p14:sldId id="471"/>
            <p14:sldId id="472"/>
            <p14:sldId id="473"/>
            <p14:sldId id="475"/>
            <p14:sldId id="474"/>
            <p14:sldId id="476"/>
            <p14:sldId id="477"/>
            <p14:sldId id="478"/>
            <p14:sldId id="459"/>
            <p14:sldId id="479"/>
            <p14:sldId id="480"/>
            <p14:sldId id="482"/>
            <p14:sldId id="481"/>
            <p14:sldId id="483"/>
            <p14:sldId id="484"/>
            <p14:sldId id="485"/>
            <p14:sldId id="486"/>
            <p14:sldId id="488"/>
            <p14:sldId id="489"/>
            <p14:sldId id="490"/>
            <p14:sldId id="493"/>
            <p14:sldId id="492"/>
            <p14:sldId id="491"/>
            <p14:sldId id="4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727" autoAdjust="0"/>
    <p:restoredTop sz="94661"/>
  </p:normalViewPr>
  <p:slideViewPr>
    <p:cSldViewPr snapToGrid="0">
      <p:cViewPr varScale="1">
        <p:scale>
          <a:sx n="199" d="100"/>
          <a:sy n="199" d="100"/>
        </p:scale>
        <p:origin x="10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A3A56-EDB2-4B73-A1CB-5609952E432E}" type="datetimeFigureOut">
              <a:rPr lang="ko-KR" altLang="en-US" smtClean="0"/>
              <a:t>2025. 12. 28.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DC4E7-C879-4C34-B87B-3BCA38CC4A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586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199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0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2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5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9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12/28/25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5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12/28/25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5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12/28/25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9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09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5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50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74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69A71A3-950D-4899-B79B-35F2758BD331}"/>
              </a:ext>
            </a:extLst>
          </p:cNvPr>
          <p:cNvGrpSpPr/>
          <p:nvPr userDrawn="1"/>
        </p:nvGrpSpPr>
        <p:grpSpPr>
          <a:xfrm>
            <a:off x="0" y="1207336"/>
            <a:ext cx="12192000" cy="4467863"/>
            <a:chOff x="0" y="1207336"/>
            <a:chExt cx="12192000" cy="4467863"/>
          </a:xfrm>
        </p:grpSpPr>
        <p:sp>
          <p:nvSpPr>
            <p:cNvPr id="33" name="Flowchart: Delay 24">
              <a:extLst>
                <a:ext uri="{FF2B5EF4-FFF2-40B4-BE49-F238E27FC236}">
                  <a16:creationId xmlns:a16="http://schemas.microsoft.com/office/drawing/2014/main" id="{928187B2-0394-40AE-9F9C-6682AC71596C}"/>
                </a:ext>
              </a:extLst>
            </p:cNvPr>
            <p:cNvSpPr/>
            <p:nvPr userDrawn="1"/>
          </p:nvSpPr>
          <p:spPr>
            <a:xfrm flipH="1">
              <a:off x="2613003" y="3441616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Flowchart: Delay 24">
              <a:extLst>
                <a:ext uri="{FF2B5EF4-FFF2-40B4-BE49-F238E27FC236}">
                  <a16:creationId xmlns:a16="http://schemas.microsoft.com/office/drawing/2014/main" id="{355D9AC9-E7B7-459E-925B-0047C675B750}"/>
                </a:ext>
              </a:extLst>
            </p:cNvPr>
            <p:cNvSpPr/>
            <p:nvPr userDrawn="1"/>
          </p:nvSpPr>
          <p:spPr>
            <a:xfrm>
              <a:off x="9491472" y="1379494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302FB5C-BDE1-4891-8E91-CB3F868629BB}"/>
                </a:ext>
              </a:extLst>
            </p:cNvPr>
            <p:cNvSpPr/>
            <p:nvPr userDrawn="1"/>
          </p:nvSpPr>
          <p:spPr>
            <a:xfrm>
              <a:off x="4416552" y="1207336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rgbClr val="BAC82F"/>
                </a:gs>
                <a:gs pos="100000">
                  <a:srgbClr val="0C6D8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9DE4F0-7E7E-4423-A407-CD6485ACBB4F}"/>
                </a:ext>
              </a:extLst>
            </p:cNvPr>
            <p:cNvSpPr/>
            <p:nvPr userDrawn="1"/>
          </p:nvSpPr>
          <p:spPr>
            <a:xfrm>
              <a:off x="0" y="1207336"/>
              <a:ext cx="4416552" cy="356616"/>
            </a:xfrm>
            <a:prstGeom prst="rect">
              <a:avLst/>
            </a:prstGeom>
            <a:gradFill flip="none" rotWithShape="1">
              <a:gsLst>
                <a:gs pos="0">
                  <a:srgbClr val="F2C020"/>
                </a:gs>
                <a:gs pos="100000">
                  <a:srgbClr val="BAC82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ED74833-8EE3-4FA9-B6D2-03710E410482}"/>
                </a:ext>
              </a:extLst>
            </p:cNvPr>
            <p:cNvSpPr/>
            <p:nvPr userDrawn="1"/>
          </p:nvSpPr>
          <p:spPr>
            <a:xfrm>
              <a:off x="4416552" y="3269385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005B59-B78D-469E-BAA4-E7B2A61E103D}"/>
                </a:ext>
              </a:extLst>
            </p:cNvPr>
            <p:cNvSpPr/>
            <p:nvPr userDrawn="1"/>
          </p:nvSpPr>
          <p:spPr>
            <a:xfrm>
              <a:off x="4414968" y="5318583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52000">
                  <a:schemeClr val="accent3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0BE4BEF-834D-4D0F-8E96-F1F8E6600C46}"/>
                </a:ext>
              </a:extLst>
            </p:cNvPr>
            <p:cNvSpPr/>
            <p:nvPr userDrawn="1"/>
          </p:nvSpPr>
          <p:spPr>
            <a:xfrm>
              <a:off x="9448800" y="5317275"/>
              <a:ext cx="2743200" cy="356616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4D6C00-E83E-4187-903F-A0A515BA9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38" y="2079876"/>
            <a:ext cx="3052087" cy="1475598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STYLE</a:t>
            </a:r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F0DE95-4ED7-482F-BB4E-C1238B352D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1963" y="3587769"/>
            <a:ext cx="1726129" cy="29159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1" i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20XX-20XX</a:t>
            </a:r>
            <a:endParaRPr lang="ru-RU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F135EA3-D982-467F-B90A-B791DFDDA8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3" y="3927199"/>
            <a:ext cx="1726129" cy="37857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3 Years Plan</a:t>
            </a:r>
            <a:endParaRPr lang="ru-RU" dirty="0"/>
          </a:p>
        </p:txBody>
      </p:sp>
      <p:sp>
        <p:nvSpPr>
          <p:cNvPr id="106" name="Picture Placeholder 104">
            <a:extLst>
              <a:ext uri="{FF2B5EF4-FFF2-40B4-BE49-F238E27FC236}">
                <a16:creationId xmlns:a16="http://schemas.microsoft.com/office/drawing/2014/main" id="{4580320F-7723-4672-AB19-22C87ECD53D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461963" y="5725379"/>
            <a:ext cx="950912" cy="685800"/>
          </a:xfrm>
          <a:ln w="3556">
            <a:solidFill>
              <a:srgbClr val="454D55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ko-KR" altLang="en-US"/>
              <a:t>그림을 추가하려면 아이콘을 클릭하십시오</a:t>
            </a:r>
            <a:endParaRPr lang="ru-RU"/>
          </a:p>
        </p:txBody>
      </p:sp>
      <p:sp>
        <p:nvSpPr>
          <p:cNvPr id="108" name="Text Placeholder 42">
            <a:extLst>
              <a:ext uri="{FF2B5EF4-FFF2-40B4-BE49-F238E27FC236}">
                <a16:creationId xmlns:a16="http://schemas.microsoft.com/office/drawing/2014/main" id="{F6CA33C8-1786-4D07-8C52-AE1469894B6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565129" y="863644"/>
            <a:ext cx="1044000" cy="1044000"/>
          </a:xfrm>
          <a:prstGeom prst="ellipse">
            <a:avLst/>
          </a:prstGeom>
          <a:solidFill>
            <a:srgbClr val="BAC82F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44" name="Text Placeholder 42">
            <a:extLst>
              <a:ext uri="{FF2B5EF4-FFF2-40B4-BE49-F238E27FC236}">
                <a16:creationId xmlns:a16="http://schemas.microsoft.com/office/drawing/2014/main" id="{62E3BBD0-72BD-45D7-BE15-8B93AFB862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14968" y="84398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rgbClr val="BAC82F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C695E72E-773D-407A-AFA4-EF90ADF9D1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78435" y="436306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BAC82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7463FB1C-AFEB-4EAE-B84D-A1613AF5BA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78434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12DFAD2F-3ED1-46BF-B662-2E96A42C48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59136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alpha val="60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22FB247-DB8F-4B67-B9EA-5741E1DDBEE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2681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81BF3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CE2C8800-C93B-4E93-9AE2-9CBFC1E6D76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2680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CC1B1148-CFC2-4FF7-8B7C-9502EB6500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03304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60559160-7568-4A5B-88B4-DBB3C42D5D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55391" y="43779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2CA05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ED30C6D-348A-4701-A27D-F10DFC175AC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55390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6" name="Text Placeholder 42">
            <a:extLst>
              <a:ext uri="{FF2B5EF4-FFF2-40B4-BE49-F238E27FC236}">
                <a16:creationId xmlns:a16="http://schemas.microsoft.com/office/drawing/2014/main" id="{DC934A70-FE40-4A89-9799-1A67234666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7472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AB11D018-DEEE-4BCE-B5F0-2B33DD39A6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06873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1B866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085539ED-B933-484F-8ECB-700829A52C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06872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3" name="Text Placeholder 42">
            <a:extLst>
              <a:ext uri="{FF2B5EF4-FFF2-40B4-BE49-F238E27FC236}">
                <a16:creationId xmlns:a16="http://schemas.microsoft.com/office/drawing/2014/main" id="{F3728A77-BAED-49CA-87A0-DFCB220B3A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05088" y="1917406"/>
            <a:ext cx="1044000" cy="1044000"/>
          </a:xfrm>
          <a:prstGeom prst="ellipse">
            <a:avLst/>
          </a:prstGeom>
          <a:solidFill>
            <a:schemeClr val="tx1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D7526F27-FC58-40E7-A76A-47A27D2325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47472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0D030018-A573-45D1-B6EF-210F3CF92D5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105170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0C6D8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1FC8372-90CA-42B7-A237-0BC81F2687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05169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8" name="Text Placeholder 42">
            <a:extLst>
              <a:ext uri="{FF2B5EF4-FFF2-40B4-BE49-F238E27FC236}">
                <a16:creationId xmlns:a16="http://schemas.microsoft.com/office/drawing/2014/main" id="{242D0BB2-4F17-4A8D-87A7-FADA2CAEC6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3304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7F7CC596-D7AD-4DCE-B864-BB1A6A7C8B1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55390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403474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28E66912-ACE9-4007-9A2B-050DC9408A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55389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9" name="Text Placeholder 42">
            <a:extLst>
              <a:ext uri="{FF2B5EF4-FFF2-40B4-BE49-F238E27FC236}">
                <a16:creationId xmlns:a16="http://schemas.microsoft.com/office/drawing/2014/main" id="{CC1EC2BE-5D73-4D49-B2F2-4DA2785D6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59136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1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441FE3C4-7737-4EB6-9280-FAD8852FB4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20978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571B6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70EF49EC-F8D8-463F-B786-F2C04C33AEE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20977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997AC0B1-99FC-455E-A896-3C370BB38C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4968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D66EAED5-741C-44D6-840F-C90C1AF74A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71198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6F0066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7887B0FE-2AB8-455F-8EC7-C8F31FEA27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071197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5" name="Text Placeholder 42">
            <a:extLst>
              <a:ext uri="{FF2B5EF4-FFF2-40B4-BE49-F238E27FC236}">
                <a16:creationId xmlns:a16="http://schemas.microsoft.com/office/drawing/2014/main" id="{6F1AC56E-6618-4728-A6EA-8B021EB6BCF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88092" y="3979528"/>
            <a:ext cx="1044000" cy="1044000"/>
          </a:xfrm>
          <a:prstGeom prst="ellipse">
            <a:avLst/>
          </a:prstGeom>
          <a:solidFill>
            <a:schemeClr val="tx2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60" name="Text Placeholder 42">
            <a:extLst>
              <a:ext uri="{FF2B5EF4-FFF2-40B4-BE49-F238E27FC236}">
                <a16:creationId xmlns:a16="http://schemas.microsoft.com/office/drawing/2014/main" id="{DB4C9C65-90B1-4A40-BB7B-DE799076D1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14968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6" name="Text Placeholder 7">
            <a:extLst>
              <a:ext uri="{FF2B5EF4-FFF2-40B4-BE49-F238E27FC236}">
                <a16:creationId xmlns:a16="http://schemas.microsoft.com/office/drawing/2014/main" id="{E9ED50CB-058A-4C6B-A8E2-0536EC0E40D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75657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04D14365-5F59-4F4F-B237-26A11A2DDD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075656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3" name="Text Placeholder 42">
            <a:extLst>
              <a:ext uri="{FF2B5EF4-FFF2-40B4-BE49-F238E27FC236}">
                <a16:creationId xmlns:a16="http://schemas.microsoft.com/office/drawing/2014/main" id="{CFA7DBCF-F797-4B29-8C96-7AC1602B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59136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3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100" name="Text Placeholder 7">
            <a:extLst>
              <a:ext uri="{FF2B5EF4-FFF2-40B4-BE49-F238E27FC236}">
                <a16:creationId xmlns:a16="http://schemas.microsoft.com/office/drawing/2014/main" id="{07524528-CBB1-40C1-A6F2-855A4D9947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423464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1" name="Text Placeholder 7">
            <a:extLst>
              <a:ext uri="{FF2B5EF4-FFF2-40B4-BE49-F238E27FC236}">
                <a16:creationId xmlns:a16="http://schemas.microsoft.com/office/drawing/2014/main" id="{41F799BD-659E-472B-98A7-7C06C2F7458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23463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2" name="Text Placeholder 42">
            <a:extLst>
              <a:ext uri="{FF2B5EF4-FFF2-40B4-BE49-F238E27FC236}">
                <a16:creationId xmlns:a16="http://schemas.microsoft.com/office/drawing/2014/main" id="{113ADCA9-C0A6-4FAB-A09E-4DECBD41D7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3304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4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8" name="Text Placeholder 7">
            <a:extLst>
              <a:ext uri="{FF2B5EF4-FFF2-40B4-BE49-F238E27FC236}">
                <a16:creationId xmlns:a16="http://schemas.microsoft.com/office/drawing/2014/main" id="{3EC66011-3B65-49CC-8886-E2CCFBFFAB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759849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E8611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3B2B5959-E5CC-42A7-B797-463098BE629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59848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1" name="Text Placeholder 42">
            <a:extLst>
              <a:ext uri="{FF2B5EF4-FFF2-40B4-BE49-F238E27FC236}">
                <a16:creationId xmlns:a16="http://schemas.microsoft.com/office/drawing/2014/main" id="{91E8A179-36A3-4D0A-96E7-689F93F9B8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7472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5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102" name="Text Placeholder 7">
            <a:extLst>
              <a:ext uri="{FF2B5EF4-FFF2-40B4-BE49-F238E27FC236}">
                <a16:creationId xmlns:a16="http://schemas.microsoft.com/office/drawing/2014/main" id="{9FDC66A0-D1C5-4C83-BBEE-D079881FADA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07656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3" name="Text Placeholder 7">
            <a:extLst>
              <a:ext uri="{FF2B5EF4-FFF2-40B4-BE49-F238E27FC236}">
                <a16:creationId xmlns:a16="http://schemas.microsoft.com/office/drawing/2014/main" id="{E4E5E736-BFFC-4245-916F-5861101288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07655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110" name="Text Placeholder 42">
            <a:extLst>
              <a:ext uri="{FF2B5EF4-FFF2-40B4-BE49-F238E27FC236}">
                <a16:creationId xmlns:a16="http://schemas.microsoft.com/office/drawing/2014/main" id="{74922A2C-30D3-4ED0-8443-C57494EB428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293432" y="4973439"/>
            <a:ext cx="1044000" cy="1044000"/>
          </a:xfrm>
          <a:prstGeom prst="ellipse">
            <a:avLst/>
          </a:prstGeom>
          <a:solidFill>
            <a:schemeClr val="accent5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3E081-530B-464A-B47C-C858A60E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373A1-F9A6-4E7C-A04F-22454F3A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5888" y="550858"/>
            <a:ext cx="2743200" cy="176716"/>
          </a:xfrm>
          <a:prstGeom prst="rect">
            <a:avLst/>
          </a:prstGeom>
        </p:spPr>
        <p:txBody>
          <a:bodyPr/>
          <a:lstStyle/>
          <a:p>
            <a:fld id="{F0BF70C0-85C8-4782-A2DC-740B0F58DBF8}" type="datetime1">
              <a:rPr lang="ru-RU" smtClean="0"/>
              <a:t>28.12.2025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BF57F-FEA7-4D09-AA29-F32AA557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428B-5ACF-4E79-A091-05E2328DA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181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12/28/25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19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03" r:id="rId6"/>
    <p:sldLayoutId id="2147483899" r:id="rId7"/>
    <p:sldLayoutId id="2147483900" r:id="rId8"/>
    <p:sldLayoutId id="2147483901" r:id="rId9"/>
    <p:sldLayoutId id="2147483902" r:id="rId10"/>
    <p:sldLayoutId id="2147483904" r:id="rId11"/>
    <p:sldLayoutId id="2147483918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EB309-3929-FF0E-BDEF-07DD47014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1439" y="1673361"/>
            <a:ext cx="5230446" cy="1227221"/>
          </a:xfrm>
        </p:spPr>
        <p:txBody>
          <a:bodyPr anchor="ctr">
            <a:normAutofit fontScale="90000"/>
          </a:bodyPr>
          <a:lstStyle/>
          <a:p>
            <a:r>
              <a:rPr lang="en-US" altLang="ko-KR" dirty="0"/>
              <a:t>ARM Processor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1026" name="Picture 2" descr="Cortex-M4">
            <a:extLst>
              <a:ext uri="{FF2B5EF4-FFF2-40B4-BE49-F238E27FC236}">
                <a16:creationId xmlns:a16="http://schemas.microsoft.com/office/drawing/2014/main" id="{1F1D1580-B74F-5C60-C967-772F8BEE37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" r="10734" b="-4"/>
          <a:stretch/>
        </p:blipFill>
        <p:spPr bwMode="auto">
          <a:xfrm>
            <a:off x="6095998" y="0"/>
            <a:ext cx="609600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5D9FB2-EF99-4CCA-9CDB-EB444E8BDB51}"/>
              </a:ext>
            </a:extLst>
          </p:cNvPr>
          <p:cNvSpPr txBox="1"/>
          <p:nvPr/>
        </p:nvSpPr>
        <p:spPr>
          <a:xfrm>
            <a:off x="1048811" y="6398251"/>
            <a:ext cx="500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/>
              <a:t>Robotics </a:t>
            </a:r>
            <a:r>
              <a:rPr lang="ko-KR" altLang="en-US" b="1" dirty="0"/>
              <a:t>정명훈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983F3-D723-6F86-C98E-DCC005282A53}"/>
              </a:ext>
            </a:extLst>
          </p:cNvPr>
          <p:cNvSpPr txBox="1"/>
          <p:nvPr/>
        </p:nvSpPr>
        <p:spPr>
          <a:xfrm>
            <a:off x="3850105" y="2346585"/>
            <a:ext cx="2709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세미나 </a:t>
            </a:r>
            <a:r>
              <a:rPr lang="en-US" altLang="ko-KR" dirty="0">
                <a:solidFill>
                  <a:schemeClr val="bg1"/>
                </a:solidFill>
              </a:rPr>
              <a:t>9</a:t>
            </a:r>
            <a:r>
              <a:rPr lang="ko-KR" altLang="en-US" dirty="0">
                <a:solidFill>
                  <a:schemeClr val="bg1"/>
                </a:solidFill>
              </a:rPr>
              <a:t>주차</a:t>
            </a:r>
          </a:p>
        </p:txBody>
      </p:sp>
    </p:spTree>
    <p:extLst>
      <p:ext uri="{BB962C8B-B14F-4D97-AF65-F5344CB8AC3E}">
        <p14:creationId xmlns:p14="http://schemas.microsoft.com/office/powerpoint/2010/main" val="267008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CB4C-B5E1-4756-815D-BC6EC8E7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92" y="189332"/>
            <a:ext cx="11534862" cy="686113"/>
          </a:xfrm>
        </p:spPr>
        <p:txBody>
          <a:bodyPr>
            <a:noAutofit/>
          </a:bodyPr>
          <a:lstStyle/>
          <a:p>
            <a:r>
              <a:rPr lang="en-US" altLang="ko-KR" sz="4400" dirty="0"/>
              <a:t>ARM Processor Seminar Roadmap</a:t>
            </a:r>
            <a:endParaRPr lang="ru-RU" sz="4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306A44-50E7-4C10-ABF1-71CE55A094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8041" y="2905510"/>
            <a:ext cx="1044000" cy="1044000"/>
          </a:xfrm>
        </p:spPr>
        <p:txBody>
          <a:bodyPr/>
          <a:lstStyle/>
          <a:p>
            <a:r>
              <a:rPr lang="en-US" dirty="0"/>
              <a:t>1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5D376EC-609C-46F1-A4A6-22B3BCBA977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036976" y="4067055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ARM </a:t>
            </a:r>
            <a:r>
              <a:rPr lang="ko-KR" altLang="en-US" dirty="0"/>
              <a:t>프로세서 개요</a:t>
            </a:r>
            <a:endParaRPr lang="ru-RU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BD9AA2-DFE1-412D-BB95-7989BA1E603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9113" y="2930232"/>
            <a:ext cx="1044000" cy="1044000"/>
          </a:xfrm>
        </p:spPr>
        <p:txBody>
          <a:bodyPr/>
          <a:lstStyle/>
          <a:p>
            <a:r>
              <a:rPr lang="en-US" b="1" dirty="0"/>
              <a:t>2</a:t>
            </a:r>
            <a:r>
              <a:rPr lang="ko-KR" altLang="en-US" b="1" dirty="0"/>
              <a:t>주</a:t>
            </a:r>
            <a:endParaRPr lang="ru-RU" b="1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B5D9C5D-1FCA-4D88-ADCB-481D203B846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147106" y="2531331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dirty="0"/>
              <a:t>*</a:t>
            </a:r>
            <a:r>
              <a:rPr lang="en-US" dirty="0"/>
              <a:t>UART </a:t>
            </a:r>
            <a:r>
              <a:rPr lang="ko-KR" altLang="en-US" dirty="0"/>
              <a:t>통신</a:t>
            </a:r>
            <a:endParaRPr lang="ru-R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DDFF132-912B-4B2B-B3E5-D1AB199B58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32758" y="2924536"/>
            <a:ext cx="1044000" cy="1044000"/>
          </a:xfrm>
        </p:spPr>
        <p:txBody>
          <a:bodyPr/>
          <a:lstStyle/>
          <a:p>
            <a:r>
              <a:rPr lang="en-US" dirty="0"/>
              <a:t>3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7AEBAB8-BDEB-4E4A-B443-829D3C340CA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191693" y="4067055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 dirty="0"/>
              <a:t>CLCD </a:t>
            </a:r>
            <a:r>
              <a:rPr lang="ko-KR" altLang="en-US" dirty="0"/>
              <a:t>출력</a:t>
            </a:r>
            <a:endParaRPr lang="en-US" altLang="ko-K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950DBC3-6438-47ED-BA7E-BBD7E08290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08888" y="2902597"/>
            <a:ext cx="1044000" cy="1044000"/>
          </a:xfrm>
        </p:spPr>
        <p:txBody>
          <a:bodyPr/>
          <a:lstStyle/>
          <a:p>
            <a:r>
              <a:rPr lang="en-US" dirty="0"/>
              <a:t>4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1435C51-CB8E-41E5-8C00-34ADCC273A3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367823" y="252824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ADC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DAC</a:t>
            </a:r>
            <a:endParaRPr lang="ru-RU" altLang="ko-KR" dirty="0"/>
          </a:p>
        </p:txBody>
      </p: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7C0ECD94-A4CB-4FB7-A7F7-AA32C0ED85D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5</a:t>
            </a:r>
            <a:r>
              <a:rPr lang="ko-KR" altLang="en-US" dirty="0"/>
              <a:t>주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0624EF-8210-444B-9BC7-2C144038C2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08888" y="4965034"/>
            <a:ext cx="1044000" cy="1044000"/>
          </a:xfrm>
        </p:spPr>
        <p:txBody>
          <a:bodyPr/>
          <a:lstStyle/>
          <a:p>
            <a:r>
              <a:rPr lang="en-US" altLang="ko-KR" dirty="0"/>
              <a:t>6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F4A9D67-1B01-4CF8-AC0D-C7E518691F6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367823" y="455650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PWM</a:t>
            </a:r>
            <a:endParaRPr lang="ru-RU" altLang="ko-KR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073D15E-3E59-4781-BA50-8D741A373A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574000" y="4975694"/>
            <a:ext cx="1044000" cy="1044000"/>
          </a:xfrm>
        </p:spPr>
        <p:txBody>
          <a:bodyPr/>
          <a:lstStyle/>
          <a:p>
            <a:r>
              <a:rPr lang="en-US" dirty="0"/>
              <a:t>7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183E534-6B6A-4814-BF59-57A6E38C5B0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232935" y="6121335"/>
            <a:ext cx="1726129" cy="659592"/>
          </a:xfrm>
        </p:spPr>
        <p:txBody>
          <a:bodyPr>
            <a:normAutofit/>
          </a:bodyPr>
          <a:lstStyle/>
          <a:p>
            <a:r>
              <a:rPr lang="en-US" altLang="ko-KR" dirty="0"/>
              <a:t>USB Mass Storage</a:t>
            </a:r>
            <a:endParaRPr lang="ru-RU" altLang="ko-KR" dirty="0"/>
          </a:p>
          <a:p>
            <a:endParaRPr lang="ru-R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ACEF7EF-E8CB-4008-A749-3586789460E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88170" y="4965034"/>
            <a:ext cx="1044000" cy="1044000"/>
          </a:xfrm>
        </p:spPr>
        <p:txBody>
          <a:bodyPr/>
          <a:lstStyle/>
          <a:p>
            <a:r>
              <a:rPr lang="en-US" dirty="0"/>
              <a:t>8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6FA5D30-6CB0-4EEA-AB74-670C4C1A6E0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098048" y="4603665"/>
            <a:ext cx="1726129" cy="294537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accent1"/>
                </a:solidFill>
              </a:rPr>
              <a:t>SDIO &amp; FATFS</a:t>
            </a:r>
            <a:endParaRPr lang="ru-RU" altLang="ko-KR" dirty="0">
              <a:solidFill>
                <a:schemeClr val="accent1"/>
              </a:solidFill>
            </a:endParaRP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A15ADFC7-484C-4FB9-A3C1-CDAA545F73F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8040" y="4970360"/>
            <a:ext cx="1044000" cy="1044000"/>
          </a:xfrm>
        </p:spPr>
        <p:txBody>
          <a:bodyPr/>
          <a:lstStyle/>
          <a:p>
            <a:r>
              <a:rPr lang="en-US" dirty="0"/>
              <a:t>9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22CF05B5-E92D-4FD2-A21C-956D8E8321A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9036976" y="6121335"/>
            <a:ext cx="1726129" cy="659592"/>
          </a:xfrm>
        </p:spPr>
        <p:txBody>
          <a:bodyPr>
            <a:normAutofit/>
          </a:bodyPr>
          <a:lstStyle/>
          <a:p>
            <a:r>
              <a:rPr lang="en-US" altLang="ko-KR" b="1" dirty="0"/>
              <a:t>SPI</a:t>
            </a:r>
            <a:r>
              <a:rPr lang="ko-KR" altLang="en-US" b="1" dirty="0"/>
              <a:t> </a:t>
            </a:r>
            <a:r>
              <a:rPr lang="en-US" altLang="ko-KR" b="1" dirty="0"/>
              <a:t>&amp;</a:t>
            </a:r>
            <a:r>
              <a:rPr lang="ko-KR" altLang="en-US" b="1" dirty="0"/>
              <a:t> </a:t>
            </a:r>
            <a:r>
              <a:rPr lang="en-US" altLang="ko-KR" b="1" dirty="0"/>
              <a:t>I2C</a:t>
            </a:r>
            <a:endParaRPr lang="ru-RU" altLang="ko-KR" b="1" dirty="0"/>
          </a:p>
        </p:txBody>
      </p:sp>
      <p:sp>
        <p:nvSpPr>
          <p:cNvPr id="97" name="Text Placeholder 32">
            <a:extLst>
              <a:ext uri="{FF2B5EF4-FFF2-40B4-BE49-F238E27FC236}">
                <a16:creationId xmlns:a16="http://schemas.microsoft.com/office/drawing/2014/main" id="{258CED2E-C5E4-5EE0-63E5-C9113E4295E9}"/>
              </a:ext>
            </a:extLst>
          </p:cNvPr>
          <p:cNvSpPr txBox="1">
            <a:spLocks/>
          </p:cNvSpPr>
          <p:nvPr/>
        </p:nvSpPr>
        <p:spPr>
          <a:xfrm>
            <a:off x="1456489" y="4399390"/>
            <a:ext cx="595872" cy="204276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571B6D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*</a:t>
            </a:r>
            <a:r>
              <a:rPr lang="en-US" altLang="ko-KR" dirty="0"/>
              <a:t>Timer</a:t>
            </a:r>
            <a:endParaRPr lang="ru-RU" altLang="ko-KR" dirty="0"/>
          </a:p>
          <a:p>
            <a:endParaRPr lang="en-US" altLang="ko-KR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EFF00B-D1F5-341B-BF95-B94155C8B634}"/>
              </a:ext>
            </a:extLst>
          </p:cNvPr>
          <p:cNvSpPr txBox="1"/>
          <p:nvPr/>
        </p:nvSpPr>
        <p:spPr>
          <a:xfrm>
            <a:off x="8669225" y="6530168"/>
            <a:ext cx="31005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*</a:t>
            </a:r>
            <a:r>
              <a:rPr lang="ko-KR" altLang="en-US" sz="1200" dirty="0"/>
              <a:t>  실무에 특화된 응용문제가 존재하는 </a:t>
            </a:r>
            <a:r>
              <a:rPr lang="ko-KR" altLang="en-US" sz="1200" dirty="0" err="1"/>
              <a:t>회차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7717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번호, 스크린샷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ED45D8-3899-0050-A6F0-C1797435F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680" y="0"/>
            <a:ext cx="6335702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BB31C44-31E4-68F2-5A5B-2780DCE514E0}"/>
              </a:ext>
            </a:extLst>
          </p:cNvPr>
          <p:cNvSpPr/>
          <p:nvPr/>
        </p:nvSpPr>
        <p:spPr>
          <a:xfrm>
            <a:off x="8985" y="0"/>
            <a:ext cx="2764302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25FA6-C969-F6F7-C840-477882525D7E}"/>
              </a:ext>
            </a:extLst>
          </p:cNvPr>
          <p:cNvSpPr txBox="1"/>
          <p:nvPr/>
        </p:nvSpPr>
        <p:spPr>
          <a:xfrm>
            <a:off x="201818" y="998384"/>
            <a:ext cx="2378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세미나 로드맵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ko-KR" altLang="en-US" sz="2000" dirty="0">
                <a:solidFill>
                  <a:schemeClr val="bg1"/>
                </a:solidFill>
              </a:rPr>
              <a:t>상세</a:t>
            </a:r>
            <a:r>
              <a:rPr lang="en-US" altLang="ko-KR" sz="2000" dirty="0">
                <a:solidFill>
                  <a:schemeClr val="bg1"/>
                </a:solidFill>
              </a:rPr>
              <a:t>)</a:t>
            </a:r>
            <a:r>
              <a:rPr lang="en-US" altLang="ko-KR" sz="1600" dirty="0">
                <a:solidFill>
                  <a:schemeClr val="bg1"/>
                </a:solidFill>
              </a:rPr>
              <a:t>    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A67160-6AFB-A3C4-BE10-2EBDA448F4BD}"/>
              </a:ext>
            </a:extLst>
          </p:cNvPr>
          <p:cNvSpPr/>
          <p:nvPr/>
        </p:nvSpPr>
        <p:spPr>
          <a:xfrm>
            <a:off x="4154506" y="4377097"/>
            <a:ext cx="6182050" cy="49544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394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DBCB-DC37-2ED8-7610-D3830606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D22C4-2A50-3ACB-4332-C9459717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SPI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-0 MCU </a:t>
            </a:r>
            <a:r>
              <a:rPr lang="ko-KR" altLang="en-US" sz="2800" dirty="0"/>
              <a:t>내부 </a:t>
            </a:r>
            <a:r>
              <a:rPr lang="en-US" altLang="ko-KR" sz="2800" dirty="0"/>
              <a:t>SPI </a:t>
            </a:r>
            <a:r>
              <a:rPr lang="ko-KR" altLang="en-US" sz="2800" dirty="0"/>
              <a:t>하드웨어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02828-F993-3B3C-4DFE-D5E498F05A0E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A09FADF-0BB0-586F-2BDD-42C71F51CDAA}"/>
              </a:ext>
            </a:extLst>
          </p:cNvPr>
          <p:cNvGrpSpPr/>
          <p:nvPr/>
        </p:nvGrpSpPr>
        <p:grpSpPr>
          <a:xfrm>
            <a:off x="2032976" y="2656782"/>
            <a:ext cx="7772400" cy="4006391"/>
            <a:chOff x="2107489" y="2557614"/>
            <a:chExt cx="7772400" cy="400639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FEF1B27-9172-2110-F8AB-B344E4F74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07489" y="2557614"/>
              <a:ext cx="7772400" cy="4006391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32E3258-3719-9160-445F-200410C9E4C6}"/>
                </a:ext>
              </a:extLst>
            </p:cNvPr>
            <p:cNvSpPr/>
            <p:nvPr/>
          </p:nvSpPr>
          <p:spPr>
            <a:xfrm>
              <a:off x="2731753" y="4971714"/>
              <a:ext cx="1974530" cy="252516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78B0B70-44C4-C063-F693-8107C2AE24F3}"/>
                </a:ext>
              </a:extLst>
            </p:cNvPr>
            <p:cNvSpPr/>
            <p:nvPr/>
          </p:nvSpPr>
          <p:spPr>
            <a:xfrm>
              <a:off x="7066093" y="4659977"/>
              <a:ext cx="2762107" cy="436363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17044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DAF03-ECC6-41B6-67F5-4AFAB91A6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D0839D-1118-C2A4-042D-330C1F110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SPI(Serial Peripheral Interface)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1-1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SPI </a:t>
            </a:r>
            <a:r>
              <a:rPr lang="ko-KR" altLang="en-US" sz="2800" dirty="0">
                <a:latin typeface="+mn-lt"/>
              </a:rPr>
              <a:t>통신 프로토콜</a:t>
            </a:r>
            <a:r>
              <a:rPr lang="en-US" altLang="ko-KR" sz="2800" dirty="0">
                <a:latin typeface="+mn-lt"/>
              </a:rPr>
              <a:t> </a:t>
            </a:r>
            <a:r>
              <a:rPr lang="ko-KR" altLang="en-US" sz="2800" dirty="0">
                <a:latin typeface="+mn-lt"/>
              </a:rPr>
              <a:t>개요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AE990-6B56-1860-8920-63862A9E9D7E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9C7769-09C4-C941-7264-B6F258F4C3C7}"/>
              </a:ext>
            </a:extLst>
          </p:cNvPr>
          <p:cNvSpPr txBox="1"/>
          <p:nvPr/>
        </p:nvSpPr>
        <p:spPr>
          <a:xfrm>
            <a:off x="1173069" y="2905651"/>
            <a:ext cx="949221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SPI</a:t>
            </a:r>
            <a:r>
              <a:rPr lang="en-US" altLang="ko-KR" dirty="0"/>
              <a:t>(Serial Peripheral Interface)</a:t>
            </a:r>
          </a:p>
          <a:p>
            <a:pPr marL="800100" lvl="1" indent="-342900">
              <a:buAutoNum type="arabicPeriod"/>
            </a:pPr>
            <a:r>
              <a:rPr kumimoji="1" lang="ko-KR" altLang="en-US" dirty="0" err="1"/>
              <a:t>모토로라에</a:t>
            </a:r>
            <a:r>
              <a:rPr kumimoji="1" lang="ko-KR" altLang="en-US" dirty="0"/>
              <a:t> 의해 발표된 통신 규격으로 하드웨어 적으로 전송 속도를</a:t>
            </a:r>
            <a:br>
              <a:rPr kumimoji="1" lang="en-US" altLang="ko-KR" dirty="0"/>
            </a:br>
            <a:r>
              <a:rPr kumimoji="1" lang="ko-KR" altLang="en-US" dirty="0"/>
              <a:t>최대로 얻기 위한 목적으로 설계되었다</a:t>
            </a:r>
            <a:r>
              <a:rPr kumimoji="1" lang="en-US" altLang="ko-KR" dirty="0"/>
              <a:t>.</a:t>
            </a:r>
          </a:p>
          <a:p>
            <a:pPr marL="800100" lvl="1" indent="-342900">
              <a:buAutoNum type="arabicPeriod"/>
            </a:pPr>
            <a:r>
              <a:rPr kumimoji="1" lang="en-US" altLang="ko-KR" dirty="0"/>
              <a:t>Clock</a:t>
            </a:r>
            <a:r>
              <a:rPr kumimoji="1" lang="ko-KR" altLang="en-US" dirty="0"/>
              <a:t>을 사용하는 통신방식으로써 동기화된 직렬 통신 방식을 사용한다</a:t>
            </a:r>
            <a:r>
              <a:rPr kumimoji="1" lang="en-US" altLang="ko-KR" dirty="0"/>
              <a:t>.</a:t>
            </a:r>
          </a:p>
          <a:p>
            <a:pPr marL="800100" lvl="1" indent="-342900">
              <a:buAutoNum type="arabicPeriod"/>
            </a:pPr>
            <a:r>
              <a:rPr kumimoji="1" lang="ko-KR" altLang="en-US" dirty="0"/>
              <a:t>하나의 </a:t>
            </a:r>
            <a:r>
              <a:rPr kumimoji="1" lang="en-US" altLang="ko-KR" dirty="0"/>
              <a:t>Master</a:t>
            </a:r>
            <a:r>
              <a:rPr kumimoji="1" lang="ko-KR" altLang="en-US" dirty="0"/>
              <a:t>와 다수의 </a:t>
            </a:r>
            <a:r>
              <a:rPr kumimoji="1" lang="en-US" altLang="ko-KR" dirty="0"/>
              <a:t>Slave</a:t>
            </a:r>
            <a:r>
              <a:rPr kumimoji="1" lang="ko-KR" altLang="en-US" dirty="0"/>
              <a:t>가 연결되는 구조이다</a:t>
            </a:r>
            <a:r>
              <a:rPr kumimoji="1" lang="en-US" altLang="ko-KR" dirty="0"/>
              <a:t>.</a:t>
            </a:r>
          </a:p>
          <a:p>
            <a:pPr marL="800100" lvl="1" indent="-342900">
              <a:buAutoNum type="arabicPeriod"/>
            </a:pPr>
            <a:r>
              <a:rPr kumimoji="1" lang="en-US" altLang="ko-KR" dirty="0"/>
              <a:t>Full Duplex</a:t>
            </a:r>
            <a:r>
              <a:rPr kumimoji="1" lang="ko-KR" altLang="en-US" dirty="0"/>
              <a:t> 통신이 가능하다</a:t>
            </a:r>
            <a:r>
              <a:rPr kumimoji="1" lang="en-US" altLang="ko-KR" dirty="0"/>
              <a:t>.</a:t>
            </a:r>
          </a:p>
          <a:p>
            <a:pPr marL="800100" lvl="1" indent="-342900">
              <a:buFontTx/>
              <a:buAutoNum type="arabicPeriod"/>
            </a:pPr>
            <a:r>
              <a:rPr kumimoji="1" lang="ko-KR" altLang="en-US" dirty="0"/>
              <a:t>사용 되는 신호선은 다음과 같다</a:t>
            </a:r>
            <a:r>
              <a:rPr kumimoji="1" lang="en-US" altLang="ko-KR" dirty="0"/>
              <a:t>(Full Duplex </a:t>
            </a:r>
            <a:r>
              <a:rPr kumimoji="1" lang="ko-KR" altLang="en-US" dirty="0"/>
              <a:t>기준 </a:t>
            </a:r>
            <a:r>
              <a:rPr kumimoji="1" lang="en-US" altLang="ko-KR" dirty="0"/>
              <a:t>4</a:t>
            </a:r>
            <a:r>
              <a:rPr kumimoji="1" lang="ko-KR" altLang="en-US" dirty="0"/>
              <a:t>개</a:t>
            </a:r>
            <a:r>
              <a:rPr kumimoji="1" lang="en-US" altLang="ko-KR" dirty="0"/>
              <a:t>).</a:t>
            </a:r>
            <a:br>
              <a:rPr kumimoji="1" lang="en-US" altLang="ko-KR" dirty="0"/>
            </a:br>
            <a:r>
              <a:rPr kumimoji="1" lang="en-US" altLang="ko-KR" dirty="0"/>
              <a:t>NSS(Negative Slave Select) – Slave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선택하는 신호</a:t>
            </a:r>
            <a:r>
              <a:rPr kumimoji="1" lang="en-US" altLang="ko-KR" dirty="0"/>
              <a:t>(CS, SS</a:t>
            </a:r>
            <a:r>
              <a:rPr kumimoji="1" lang="ko-KR" altLang="en-US" dirty="0"/>
              <a:t> 등 여러 단어로 불린다</a:t>
            </a:r>
            <a:r>
              <a:rPr kumimoji="1" lang="en-US" altLang="ko-KR" dirty="0"/>
              <a:t>.)</a:t>
            </a:r>
            <a:br>
              <a:rPr kumimoji="1" lang="en-US" altLang="ko-KR" dirty="0"/>
            </a:br>
            <a:r>
              <a:rPr kumimoji="1" lang="en-US" altLang="ko-KR" dirty="0"/>
              <a:t>SCLK(Serial Clock) – Clock</a:t>
            </a:r>
            <a:r>
              <a:rPr kumimoji="1" lang="ko-KR" altLang="en-US" dirty="0"/>
              <a:t> 신호</a:t>
            </a:r>
            <a:r>
              <a:rPr kumimoji="1" lang="en-US" altLang="ko-KR" dirty="0"/>
              <a:t>(from Master)</a:t>
            </a:r>
            <a:br>
              <a:rPr kumimoji="1" lang="en-US" altLang="ko-KR" dirty="0"/>
            </a:br>
            <a:r>
              <a:rPr kumimoji="1" lang="en-US" altLang="ko-KR" dirty="0"/>
              <a:t>MISO(Master Input Slave Output) - Master</a:t>
            </a:r>
            <a:r>
              <a:rPr kumimoji="1" lang="ko-KR" altLang="en-US" dirty="0"/>
              <a:t> 기준 수신 선로</a:t>
            </a:r>
            <a:br>
              <a:rPr kumimoji="1" lang="en-US" altLang="ko-KR" dirty="0"/>
            </a:br>
            <a:r>
              <a:rPr kumimoji="1" lang="en-US" altLang="ko-KR" dirty="0"/>
              <a:t>MISO(Master Output Slave Input) - Master</a:t>
            </a:r>
            <a:r>
              <a:rPr kumimoji="1" lang="ko-KR" altLang="en-US" dirty="0"/>
              <a:t> 기준 송신 선로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98578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8B498-8464-0BD9-3665-668370134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C59A50-8C11-0646-6CCB-560527B6B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SPI(Serial Peripheral Interface)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1-2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SPI </a:t>
            </a:r>
            <a:r>
              <a:rPr lang="ko-KR" altLang="en-US" sz="2800" dirty="0">
                <a:latin typeface="+mn-lt"/>
              </a:rPr>
              <a:t>통신방식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A51678-8084-6996-79D6-34121773FB64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E68A87C-66EA-8322-C661-BF517E9B2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41" y="2544983"/>
            <a:ext cx="4694008" cy="3947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869E41-2533-8A6B-D3B8-E5BEB0188726}"/>
              </a:ext>
            </a:extLst>
          </p:cNvPr>
          <p:cNvSpPr txBox="1"/>
          <p:nvPr/>
        </p:nvSpPr>
        <p:spPr>
          <a:xfrm>
            <a:off x="6477532" y="3087768"/>
            <a:ext cx="576382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SPI</a:t>
            </a:r>
            <a:r>
              <a:rPr kumimoji="1" lang="ko-KR" altLang="en-US" dirty="0"/>
              <a:t>는 동기식 신호로써 클럭 신호가 존재한다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 err="1"/>
              <a:t>전이중</a:t>
            </a:r>
            <a:r>
              <a:rPr kumimoji="1" lang="ko-KR" altLang="en-US" dirty="0"/>
              <a:t> 통신을 하기 위해서는 최소 </a:t>
            </a:r>
            <a:r>
              <a:rPr kumimoji="1" lang="en-US" altLang="ko-KR" dirty="0"/>
              <a:t>4</a:t>
            </a:r>
            <a:r>
              <a:rPr kumimoji="1" lang="ko-KR" altLang="en-US" dirty="0"/>
              <a:t>개의 신호선이</a:t>
            </a:r>
            <a:br>
              <a:rPr kumimoji="1" lang="en-US" altLang="ko-KR" dirty="0"/>
            </a:br>
            <a:r>
              <a:rPr kumimoji="1" lang="ko-KR" altLang="en-US" dirty="0"/>
              <a:t>필요하다</a:t>
            </a:r>
            <a:r>
              <a:rPr kumimoji="1" lang="en-US" altLang="ko-KR" dirty="0"/>
              <a:t>(</a:t>
            </a:r>
            <a:r>
              <a:rPr kumimoji="1" lang="ko-KR" altLang="en-US" dirty="0" err="1"/>
              <a:t>반이중</a:t>
            </a:r>
            <a:r>
              <a:rPr kumimoji="1" lang="ko-KR" altLang="en-US" dirty="0"/>
              <a:t> 통신은 </a:t>
            </a:r>
            <a:r>
              <a:rPr kumimoji="1" lang="en-US" altLang="ko-KR" dirty="0"/>
              <a:t>3</a:t>
            </a:r>
            <a:r>
              <a:rPr kumimoji="1" lang="ko-KR" altLang="en-US" dirty="0"/>
              <a:t>개</a:t>
            </a:r>
            <a:r>
              <a:rPr kumimoji="1" lang="en-US" altLang="ko-KR" dirty="0"/>
              <a:t>).</a:t>
            </a:r>
            <a:br>
              <a:rPr kumimoji="1" lang="en-US" altLang="ko-KR" dirty="0"/>
            </a:b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Master Slave</a:t>
            </a:r>
            <a:r>
              <a:rPr kumimoji="1" lang="ko-KR" altLang="en-US" dirty="0"/>
              <a:t>로 나눠져 있으며</a:t>
            </a:r>
            <a:br>
              <a:rPr kumimoji="1" lang="en-US" altLang="ko-KR" dirty="0"/>
            </a:br>
            <a:r>
              <a:rPr kumimoji="1" lang="en-US" altLang="ko-KR" dirty="0"/>
              <a:t>SCK, SS,</a:t>
            </a:r>
            <a:r>
              <a:rPr kumimoji="1" lang="ko-KR" altLang="en-US" dirty="0"/>
              <a:t> </a:t>
            </a:r>
            <a:r>
              <a:rPr kumimoji="1" lang="en-US" altLang="ko-KR" dirty="0"/>
              <a:t>MOSI</a:t>
            </a:r>
            <a:r>
              <a:rPr kumimoji="1" lang="ko-KR" altLang="en-US" dirty="0"/>
              <a:t> 신호는 </a:t>
            </a:r>
            <a:r>
              <a:rPr kumimoji="1" lang="en-US" altLang="ko-KR" dirty="0"/>
              <a:t>Master</a:t>
            </a:r>
            <a:r>
              <a:rPr kumimoji="1" lang="ko-KR" altLang="en-US" dirty="0"/>
              <a:t>에서만 제어 가능하다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Slave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SS </a:t>
            </a:r>
            <a:r>
              <a:rPr kumimoji="1" lang="ko-KR" altLang="en-US" dirty="0"/>
              <a:t>신호가 </a:t>
            </a:r>
            <a:r>
              <a:rPr kumimoji="1" lang="en-US" altLang="ko-KR" dirty="0"/>
              <a:t>LOW</a:t>
            </a:r>
            <a:r>
              <a:rPr kumimoji="1" lang="ko-KR" altLang="en-US" dirty="0"/>
              <a:t>가 아닌 경우</a:t>
            </a:r>
            <a:r>
              <a:rPr kumimoji="1" lang="en-US" altLang="ko-KR" dirty="0"/>
              <a:t>,</a:t>
            </a:r>
            <a:br>
              <a:rPr kumimoji="1" lang="en-US" altLang="ko-KR" dirty="0"/>
            </a:br>
            <a:r>
              <a:rPr kumimoji="1" lang="ko-KR" altLang="en-US" dirty="0"/>
              <a:t>통신 선로에 데이터를 모두 무시한다</a:t>
            </a:r>
            <a:r>
              <a:rPr kumimoji="1"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347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2139-C468-469A-B9D7-16D21E6EE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A2FE0-FEB2-9856-238B-EE279F26F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en-US" altLang="ko-KR" dirty="0"/>
              <a:t>SPI(Serial Peripheral Interface)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1-2</a:t>
            </a:r>
            <a:r>
              <a:rPr lang="ko-KR" altLang="en-US" sz="2800" dirty="0">
                <a:latin typeface="+mn-lt"/>
              </a:rPr>
              <a:t> </a:t>
            </a:r>
            <a:r>
              <a:rPr lang="ko-KR" altLang="en-US" sz="2800" dirty="0" err="1">
                <a:latin typeface="+mn-lt"/>
              </a:rPr>
              <a:t>전이중</a:t>
            </a:r>
            <a:r>
              <a:rPr lang="en-US" altLang="ko-KR" sz="2800" dirty="0">
                <a:latin typeface="+mn-lt"/>
              </a:rPr>
              <a:t> </a:t>
            </a:r>
            <a:r>
              <a:rPr lang="ko-KR" altLang="en-US" sz="2800" dirty="0">
                <a:latin typeface="+mn-lt"/>
              </a:rPr>
              <a:t>통신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E3C4B9-1CAF-9D42-C3D1-A0446FE5E047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9F5EAF-2A10-3B07-F5AD-662A3DEBEF8A}"/>
              </a:ext>
            </a:extLst>
          </p:cNvPr>
          <p:cNvSpPr txBox="1"/>
          <p:nvPr/>
        </p:nvSpPr>
        <p:spPr>
          <a:xfrm>
            <a:off x="5919176" y="3134489"/>
            <a:ext cx="608006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 err="1"/>
              <a:t>전이중</a:t>
            </a:r>
            <a:r>
              <a:rPr kumimoji="1" lang="ko-KR" altLang="en-US" dirty="0"/>
              <a:t> 통신이란 송신과 수신이 동시에 가능한</a:t>
            </a:r>
            <a:br>
              <a:rPr kumimoji="1" lang="en-US" altLang="ko-KR" dirty="0"/>
            </a:br>
            <a:r>
              <a:rPr kumimoji="1" lang="ko-KR" altLang="en-US" dirty="0"/>
              <a:t>통신 기법이다</a:t>
            </a:r>
            <a:r>
              <a:rPr kumimoji="1" lang="en-US" altLang="ko-KR" dirty="0"/>
              <a:t>(ex.</a:t>
            </a:r>
            <a:r>
              <a:rPr kumimoji="1" lang="ko-KR" altLang="en-US" dirty="0"/>
              <a:t> 전화기</a:t>
            </a:r>
            <a:r>
              <a:rPr kumimoji="1" lang="en-US" altLang="ko-KR" dirty="0"/>
              <a:t>).</a:t>
            </a:r>
            <a:br>
              <a:rPr kumimoji="1" lang="en-US" altLang="ko-KR" dirty="0"/>
            </a:b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 err="1"/>
              <a:t>전이중</a:t>
            </a:r>
            <a:r>
              <a:rPr kumimoji="1" lang="ko-KR" altLang="en-US" dirty="0"/>
              <a:t> 통신을 하기 위해서는 </a:t>
            </a:r>
            <a:r>
              <a:rPr kumimoji="1" lang="en-US" altLang="ko-KR" dirty="0"/>
              <a:t>Marster</a:t>
            </a:r>
            <a:r>
              <a:rPr kumimoji="1" lang="ko-KR" altLang="en-US" dirty="0"/>
              <a:t> 관점에서</a:t>
            </a:r>
            <a:br>
              <a:rPr kumimoji="1" lang="en-US" altLang="ko-KR" dirty="0"/>
            </a:br>
            <a:r>
              <a:rPr kumimoji="1" lang="en-US" altLang="ko-KR" dirty="0"/>
              <a:t>MISO(</a:t>
            </a:r>
            <a:r>
              <a:rPr kumimoji="1" lang="ko-KR" altLang="en-US" dirty="0"/>
              <a:t>수신</a:t>
            </a:r>
            <a:r>
              <a:rPr kumimoji="1" lang="en-US" altLang="ko-KR" dirty="0"/>
              <a:t>),</a:t>
            </a:r>
            <a:r>
              <a:rPr kumimoji="1" lang="ko-KR" altLang="en-US" dirty="0"/>
              <a:t> </a:t>
            </a:r>
            <a:r>
              <a:rPr kumimoji="1" lang="en-US" altLang="ko-KR" dirty="0"/>
              <a:t>MOSI(</a:t>
            </a:r>
            <a:r>
              <a:rPr kumimoji="1" lang="ko-KR" altLang="en-US" dirty="0"/>
              <a:t>송신</a:t>
            </a:r>
            <a:r>
              <a:rPr kumimoji="1" lang="en-US" altLang="ko-KR" dirty="0"/>
              <a:t>)</a:t>
            </a:r>
            <a:r>
              <a:rPr kumimoji="1" lang="ko-KR" altLang="en-US" dirty="0"/>
              <a:t> 선로가 연결 되어 있어야 한다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만약 외부 </a:t>
            </a:r>
            <a:r>
              <a:rPr kumimoji="1" lang="en-US" altLang="ko-KR" dirty="0"/>
              <a:t>ADC </a:t>
            </a:r>
            <a:r>
              <a:rPr kumimoji="1" lang="ko-KR" altLang="en-US" dirty="0"/>
              <a:t>같이 값을 지속적으로 수신 하면서</a:t>
            </a:r>
            <a:br>
              <a:rPr kumimoji="1" lang="en-US" altLang="ko-KR" dirty="0"/>
            </a:br>
            <a:r>
              <a:rPr kumimoji="1" lang="en-US" altLang="ko-KR" dirty="0"/>
              <a:t>config data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 송신 하려면 </a:t>
            </a:r>
            <a:r>
              <a:rPr kumimoji="1" lang="ko-KR" altLang="en-US" dirty="0" err="1"/>
              <a:t>전이중</a:t>
            </a:r>
            <a:r>
              <a:rPr kumimoji="1" lang="ko-KR" altLang="en-US" dirty="0"/>
              <a:t> 방식으로 연결되어</a:t>
            </a:r>
            <a:br>
              <a:rPr kumimoji="1" lang="en-US" altLang="ko-KR" dirty="0"/>
            </a:br>
            <a:r>
              <a:rPr kumimoji="1" lang="ko-KR" altLang="en-US" dirty="0"/>
              <a:t>있어야 한다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endParaRPr kumimoji="1"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318182E-984A-0B0A-FCBA-7123E8311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63" y="3429000"/>
            <a:ext cx="49403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919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823CA-D01C-D601-2FFA-CB1E683E0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0A604B-952A-3FB2-2EA2-081CB747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en-US" altLang="ko-KR" dirty="0"/>
              <a:t>SPI(Serial Peripheral Interface)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1-2</a:t>
            </a:r>
            <a:r>
              <a:rPr lang="ko-KR" altLang="en-US" sz="2800" dirty="0">
                <a:latin typeface="+mn-lt"/>
              </a:rPr>
              <a:t> </a:t>
            </a:r>
            <a:r>
              <a:rPr lang="ko-KR" altLang="en-US" sz="2800" dirty="0" err="1">
                <a:latin typeface="+mn-lt"/>
              </a:rPr>
              <a:t>반이중</a:t>
            </a:r>
            <a:r>
              <a:rPr lang="en-US" altLang="ko-KR" sz="2800" dirty="0">
                <a:latin typeface="+mn-lt"/>
              </a:rPr>
              <a:t> </a:t>
            </a:r>
            <a:r>
              <a:rPr lang="ko-KR" altLang="en-US" sz="2800" dirty="0">
                <a:latin typeface="+mn-lt"/>
              </a:rPr>
              <a:t>통신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CFC00A-456B-AF7E-F8AF-2B9C39845D50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EC06DA-2BF1-036C-195B-903AF2560D18}"/>
              </a:ext>
            </a:extLst>
          </p:cNvPr>
          <p:cNvSpPr txBox="1"/>
          <p:nvPr/>
        </p:nvSpPr>
        <p:spPr>
          <a:xfrm>
            <a:off x="5881105" y="2986903"/>
            <a:ext cx="631089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 err="1"/>
              <a:t>반이중</a:t>
            </a:r>
            <a:r>
              <a:rPr kumimoji="1" lang="ko-KR" altLang="en-US" dirty="0"/>
              <a:t> 통신이란 송신과 수신이 동시에 불가능한</a:t>
            </a:r>
            <a:br>
              <a:rPr kumimoji="1" lang="en-US" altLang="ko-KR" dirty="0"/>
            </a:br>
            <a:r>
              <a:rPr kumimoji="1" lang="ko-KR" altLang="en-US" dirty="0"/>
              <a:t>통신 기법이다</a:t>
            </a:r>
            <a:r>
              <a:rPr kumimoji="1" lang="en-US" altLang="ko-KR" dirty="0"/>
              <a:t>(ex.</a:t>
            </a:r>
            <a:r>
              <a:rPr kumimoji="1" lang="ko-KR" altLang="en-US" dirty="0"/>
              <a:t> 무전기</a:t>
            </a:r>
            <a:r>
              <a:rPr kumimoji="1" lang="en-US" altLang="ko-KR" dirty="0"/>
              <a:t>).</a:t>
            </a:r>
            <a:br>
              <a:rPr kumimoji="1" lang="en-US" altLang="ko-KR" dirty="0"/>
            </a:b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 err="1"/>
              <a:t>전이중</a:t>
            </a:r>
            <a:r>
              <a:rPr kumimoji="1" lang="ko-KR" altLang="en-US" dirty="0"/>
              <a:t> 통신을 하기 위해서는 </a:t>
            </a:r>
            <a:r>
              <a:rPr kumimoji="1" lang="en-US" altLang="ko-KR" dirty="0"/>
              <a:t>Marster</a:t>
            </a:r>
            <a:r>
              <a:rPr kumimoji="1" lang="ko-KR" altLang="en-US" dirty="0"/>
              <a:t> 관점에서</a:t>
            </a:r>
            <a:br>
              <a:rPr kumimoji="1" lang="en-US" altLang="ko-KR" dirty="0"/>
            </a:br>
            <a:r>
              <a:rPr kumimoji="1" lang="en-US" altLang="ko-KR" dirty="0"/>
              <a:t>MISO(</a:t>
            </a:r>
            <a:r>
              <a:rPr kumimoji="1" lang="ko-KR" altLang="en-US" dirty="0"/>
              <a:t>수신</a:t>
            </a:r>
            <a:r>
              <a:rPr kumimoji="1" lang="en-US" altLang="ko-KR" dirty="0"/>
              <a:t>),</a:t>
            </a:r>
            <a:r>
              <a:rPr kumimoji="1" lang="ko-KR" altLang="en-US" dirty="0"/>
              <a:t> </a:t>
            </a:r>
            <a:r>
              <a:rPr kumimoji="1" lang="en-US" altLang="ko-KR" dirty="0"/>
              <a:t>MOSI(</a:t>
            </a:r>
            <a:r>
              <a:rPr kumimoji="1" lang="ko-KR" altLang="en-US" dirty="0"/>
              <a:t>송신</a:t>
            </a:r>
            <a:r>
              <a:rPr kumimoji="1" lang="en-US" altLang="ko-KR" dirty="0"/>
              <a:t>)</a:t>
            </a:r>
            <a:r>
              <a:rPr kumimoji="1" lang="ko-KR" altLang="en-US" dirty="0"/>
              <a:t> 선로가 연결 되어 있어야 하지만</a:t>
            </a:r>
            <a:r>
              <a:rPr kumimoji="1" lang="en-US" altLang="ko-KR" dirty="0"/>
              <a:t>,</a:t>
            </a:r>
            <a:br>
              <a:rPr kumimoji="1" lang="en-US" altLang="ko-KR" dirty="0"/>
            </a:br>
            <a:r>
              <a:rPr kumimoji="1" lang="ko-KR" altLang="en-US" dirty="0" err="1"/>
              <a:t>반이중</a:t>
            </a:r>
            <a:r>
              <a:rPr kumimoji="1" lang="ko-KR" altLang="en-US" dirty="0"/>
              <a:t> 통신은 </a:t>
            </a:r>
            <a:r>
              <a:rPr kumimoji="1" lang="en-US" altLang="ko-KR" dirty="0"/>
              <a:t>MOSI</a:t>
            </a:r>
            <a:r>
              <a:rPr kumimoji="1" lang="ko-KR" altLang="en-US" dirty="0"/>
              <a:t>핀을 통해 송수신 하게 된다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출력과 </a:t>
            </a:r>
            <a:r>
              <a:rPr kumimoji="1" lang="ko-KR" altLang="en-US" dirty="0" err="1"/>
              <a:t>입력기</a:t>
            </a:r>
            <a:r>
              <a:rPr kumimoji="1" lang="ko-KR" altLang="en-US" dirty="0"/>
              <a:t> 비동기 적으로 바뀔 수 </a:t>
            </a:r>
            <a:r>
              <a:rPr kumimoji="1" lang="ko-KR" altLang="en-US" dirty="0" err="1"/>
              <a:t>있기때문에</a:t>
            </a:r>
            <a:r>
              <a:rPr kumimoji="1" lang="en-US" altLang="ko-KR" dirty="0"/>
              <a:t> Master</a:t>
            </a:r>
            <a:br>
              <a:rPr kumimoji="1" lang="en-US" altLang="ko-KR" dirty="0"/>
            </a:br>
            <a:r>
              <a:rPr kumimoji="1" lang="ko-KR" altLang="en-US" dirty="0"/>
              <a:t>와 </a:t>
            </a:r>
            <a:r>
              <a:rPr kumimoji="1" lang="en-US" altLang="ko-KR" dirty="0"/>
              <a:t>Slave</a:t>
            </a:r>
            <a:r>
              <a:rPr kumimoji="1" lang="ko-KR" altLang="en-US" dirty="0"/>
              <a:t>간 쇼트의 위험이 있어 중간에 직렬 저항을 추가</a:t>
            </a:r>
            <a:br>
              <a:rPr kumimoji="1" lang="en-US" altLang="ko-KR" dirty="0"/>
            </a:br>
            <a:r>
              <a:rPr kumimoji="1" lang="ko-KR" altLang="en-US" dirty="0"/>
              <a:t>해야 한다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endParaRPr kumimoji="1"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786C7F5-8702-92BB-A97E-D255C10EA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38" y="2986903"/>
            <a:ext cx="4724341" cy="297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72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8A41F-1DEA-6832-8CDF-28D7A9EFB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27A35-980B-5172-1491-CE128C0FB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en-US" altLang="ko-KR" dirty="0"/>
              <a:t>SPI(Serial Peripheral Interface)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1-2</a:t>
            </a:r>
            <a:r>
              <a:rPr lang="ko-KR" altLang="en-US" sz="2800" dirty="0">
                <a:latin typeface="+mn-lt"/>
              </a:rPr>
              <a:t> 그 외 통신 방법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DAB407-940A-EC68-699B-548EA645FE21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B70AE4-923E-D4D5-15B3-24DABED4B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813538"/>
            <a:ext cx="6001060" cy="33868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EE5AAD-B1C2-D3D0-22F4-4C9944D12EA5}"/>
              </a:ext>
            </a:extLst>
          </p:cNvPr>
          <p:cNvSpPr txBox="1"/>
          <p:nvPr/>
        </p:nvSpPr>
        <p:spPr>
          <a:xfrm>
            <a:off x="6535082" y="3429000"/>
            <a:ext cx="550823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만약 </a:t>
            </a:r>
            <a:r>
              <a:rPr kumimoji="1" lang="en-US" altLang="ko-KR" dirty="0"/>
              <a:t>Slave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LCD</a:t>
            </a:r>
            <a:r>
              <a:rPr kumimoji="1" lang="ko-KR" altLang="en-US" dirty="0"/>
              <a:t>와 같이 데이터를 받기만</a:t>
            </a:r>
            <a:br>
              <a:rPr kumimoji="1" lang="en-US" altLang="ko-KR" dirty="0"/>
            </a:br>
            <a:r>
              <a:rPr kumimoji="1" lang="en-US" altLang="ko-KR" dirty="0"/>
              <a:t>(</a:t>
            </a:r>
            <a:r>
              <a:rPr kumimoji="1" lang="ko-KR" altLang="en-US" dirty="0"/>
              <a:t>수신</a:t>
            </a:r>
            <a:r>
              <a:rPr kumimoji="1" lang="en-US" altLang="ko-KR" dirty="0"/>
              <a:t>)</a:t>
            </a:r>
            <a:r>
              <a:rPr kumimoji="1" lang="ko-KR" altLang="en-US" dirty="0"/>
              <a:t>해도 된다면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Transmit-Only</a:t>
            </a:r>
            <a:r>
              <a:rPr kumimoji="1" lang="ko-KR" altLang="en-US" dirty="0"/>
              <a:t> </a:t>
            </a:r>
            <a:r>
              <a:rPr kumimoji="1" lang="en-US" altLang="ko-KR" dirty="0"/>
              <a:t>Mode</a:t>
            </a:r>
            <a:r>
              <a:rPr kumimoji="1" lang="ko-KR" altLang="en-US" dirty="0"/>
              <a:t>로</a:t>
            </a:r>
            <a:br>
              <a:rPr kumimoji="1" lang="en-US" altLang="ko-KR" dirty="0"/>
            </a:br>
            <a:r>
              <a:rPr kumimoji="1" lang="ko-KR" altLang="en-US" dirty="0"/>
              <a:t>설정하여 핀을 절약할 수 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이때는 입력</a:t>
            </a:r>
            <a:r>
              <a:rPr kumimoji="1" lang="en-US" altLang="ko-KR" dirty="0"/>
              <a:t>,</a:t>
            </a:r>
            <a:r>
              <a:rPr kumimoji="1" lang="ko-KR" altLang="en-US" dirty="0"/>
              <a:t> 출력이 고정이므로 회로적으로</a:t>
            </a:r>
            <a:br>
              <a:rPr kumimoji="1" lang="en-US" altLang="ko-KR" dirty="0"/>
            </a:br>
            <a:r>
              <a:rPr kumimoji="1" lang="ko-KR" altLang="en-US" dirty="0"/>
              <a:t>문제가 될 만한 요소가 없어 </a:t>
            </a:r>
            <a:r>
              <a:rPr kumimoji="1" lang="en-US" altLang="ko-KR" dirty="0"/>
              <a:t>MISO</a:t>
            </a:r>
            <a:r>
              <a:rPr kumimoji="1" lang="ko-KR" altLang="en-US" dirty="0"/>
              <a:t> 핀만 제외 된다</a:t>
            </a:r>
            <a:r>
              <a:rPr kumimoji="1"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4037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D672F-9E2F-0E5D-D097-66944D7CD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EC1510-06E7-755F-A6B0-8B3257335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en-US" altLang="ko-KR" dirty="0"/>
              <a:t>SPI(Serial Peripheral Interface)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1-3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Multi-slave </a:t>
            </a:r>
            <a:r>
              <a:rPr lang="ko-KR" altLang="en-US" sz="2800" dirty="0">
                <a:latin typeface="+mn-lt"/>
              </a:rPr>
              <a:t>통신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15F9B0-E9DB-0020-3BC2-6E84FE83A2DF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D7AD5A-05E5-4FE5-090A-0D6C9D8BA8BA}"/>
              </a:ext>
            </a:extLst>
          </p:cNvPr>
          <p:cNvSpPr txBox="1"/>
          <p:nvPr/>
        </p:nvSpPr>
        <p:spPr>
          <a:xfrm>
            <a:off x="5857275" y="3367316"/>
            <a:ext cx="599394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만약 </a:t>
            </a:r>
            <a:r>
              <a:rPr kumimoji="1" lang="en-US" altLang="ko-KR" dirty="0"/>
              <a:t>Slave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2</a:t>
            </a:r>
            <a:r>
              <a:rPr kumimoji="1" lang="ko-KR" altLang="en-US" dirty="0"/>
              <a:t>개 이상이라면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통신에 필요한</a:t>
            </a:r>
            <a:br>
              <a:rPr kumimoji="1" lang="en-US" altLang="ko-KR" dirty="0"/>
            </a:br>
            <a:r>
              <a:rPr kumimoji="1" lang="en-US" altLang="ko-KR" dirty="0"/>
              <a:t>SCK, MOSI, MISO </a:t>
            </a:r>
            <a:r>
              <a:rPr kumimoji="1" lang="ko-KR" altLang="en-US" dirty="0"/>
              <a:t>핀들을 공통 버스로 연결하고</a:t>
            </a:r>
            <a:br>
              <a:rPr kumimoji="1" lang="en-US" altLang="ko-KR" dirty="0"/>
            </a:br>
            <a:r>
              <a:rPr kumimoji="1" lang="en-US" altLang="ko-KR" dirty="0"/>
              <a:t>Slave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선택하기 위한 </a:t>
            </a:r>
            <a:r>
              <a:rPr kumimoji="1" lang="en-US" altLang="ko-KR" dirty="0"/>
              <a:t>SS(CS)</a:t>
            </a:r>
            <a:r>
              <a:rPr kumimoji="1" lang="ko-KR" altLang="en-US" dirty="0"/>
              <a:t>만 개별적으로 연결한다</a:t>
            </a:r>
            <a:r>
              <a:rPr kumimoji="1"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Slave</a:t>
            </a:r>
            <a:r>
              <a:rPr kumimoji="1" lang="ko-KR" altLang="en-US" dirty="0"/>
              <a:t>마다 요구되는 </a:t>
            </a:r>
            <a:r>
              <a:rPr kumimoji="1" lang="en-US" altLang="ko-KR" dirty="0"/>
              <a:t>SPI Mode, CLK </a:t>
            </a:r>
            <a:r>
              <a:rPr kumimoji="1" lang="ko-KR" altLang="en-US" dirty="0"/>
              <a:t>주파수가</a:t>
            </a:r>
            <a:br>
              <a:rPr kumimoji="1" lang="en-US" altLang="ko-KR" dirty="0"/>
            </a:br>
            <a:r>
              <a:rPr kumimoji="1" lang="ko-KR" altLang="en-US" dirty="0"/>
              <a:t>다를 수 있으므로 </a:t>
            </a:r>
            <a:r>
              <a:rPr kumimoji="1" lang="en-US" altLang="ko-KR" dirty="0"/>
              <a:t>Slave</a:t>
            </a:r>
            <a:r>
              <a:rPr kumimoji="1" lang="ko-KR" altLang="en-US" dirty="0"/>
              <a:t>가 전환 된다면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그에 맞춰</a:t>
            </a:r>
            <a:br>
              <a:rPr kumimoji="1" lang="en-US" altLang="ko-KR" dirty="0"/>
            </a:br>
            <a:r>
              <a:rPr kumimoji="1" lang="en-US" altLang="ko-KR" dirty="0"/>
              <a:t>SPI </a:t>
            </a:r>
            <a:r>
              <a:rPr kumimoji="1" lang="ko-KR" altLang="en-US" dirty="0"/>
              <a:t>설정도 변경 되어야 한다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endParaRPr kumimoji="1" lang="en-US" altLang="ko-KR" dirty="0"/>
          </a:p>
        </p:txBody>
      </p:sp>
      <p:pic>
        <p:nvPicPr>
          <p:cNvPr id="7" name="그림 6" descr="텍스트, 도표, 평면도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904D65-8163-FC4C-396B-B60807C7D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060" y="2359740"/>
            <a:ext cx="4370284" cy="423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124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28A97-727E-8765-C5CD-79E8A2F46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18C9C8-54D1-675E-8D89-0FB569D4F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en-US" altLang="ko-KR" dirty="0"/>
              <a:t>SPI(Serial Peripheral Interface)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1-4 SPI </a:t>
            </a:r>
            <a:r>
              <a:rPr lang="ko-KR" altLang="en-US" sz="2800" dirty="0">
                <a:latin typeface="+mn-lt"/>
              </a:rPr>
              <a:t>통신 </a:t>
            </a:r>
            <a:r>
              <a:rPr lang="en-US" altLang="ko-KR" sz="2800" dirty="0">
                <a:latin typeface="+mn-lt"/>
              </a:rPr>
              <a:t>Mode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59FDA9-7A9C-FE6B-A7F4-AE201F1F7D78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E5E0503-4C15-85A8-83D7-565ED8878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513823"/>
            <a:ext cx="7772400" cy="39229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0AFED9-E360-2EB1-3FDB-826D9D1DBD34}"/>
              </a:ext>
            </a:extLst>
          </p:cNvPr>
          <p:cNvSpPr txBox="1"/>
          <p:nvPr/>
        </p:nvSpPr>
        <p:spPr>
          <a:xfrm>
            <a:off x="2209800" y="6453617"/>
            <a:ext cx="9660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* </a:t>
            </a:r>
            <a:r>
              <a:rPr kumimoji="1" lang="en-US" altLang="ko-KR" b="1" dirty="0"/>
              <a:t>SPI Mode </a:t>
            </a:r>
            <a:r>
              <a:rPr kumimoji="1" lang="ko-KR" altLang="en-US" b="1" dirty="0"/>
              <a:t>별로 데이터 전송 시점이 달라지기 때문에 꼭 </a:t>
            </a:r>
            <a:r>
              <a:rPr kumimoji="1" lang="en-US" altLang="ko-KR" b="1" dirty="0"/>
              <a:t>Slave</a:t>
            </a:r>
            <a:r>
              <a:rPr kumimoji="1" lang="ko-KR" altLang="en-US" b="1" dirty="0"/>
              <a:t> 데이터시트를 참고해야 한다</a:t>
            </a:r>
            <a:r>
              <a:rPr kumimoji="1" lang="en-US" altLang="ko-KR" b="1" dirty="0"/>
              <a:t>.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417397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D0E59-DC2F-3115-5FE0-69D417BC3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3963F5-56A8-EBD4-6718-FDB824EA0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en-US" altLang="ko-KR" dirty="0"/>
              <a:t>VS1003B</a:t>
            </a:r>
            <a:br>
              <a:rPr lang="en-US" altLang="ko-KR" dirty="0"/>
            </a:br>
            <a:r>
              <a:rPr lang="en-US" altLang="ko-KR" sz="2800" dirty="0">
                <a:latin typeface="+mn-lt"/>
              </a:rPr>
              <a:t>2-1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VS1003B?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E5DBE5-FCA9-5A73-84AA-02D0236144FF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43001-7412-660E-D2EB-054B302ED96A}"/>
              </a:ext>
            </a:extLst>
          </p:cNvPr>
          <p:cNvSpPr txBox="1"/>
          <p:nvPr/>
        </p:nvSpPr>
        <p:spPr>
          <a:xfrm>
            <a:off x="6528688" y="3551982"/>
            <a:ext cx="499207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VS1003B</a:t>
            </a:r>
            <a:r>
              <a:rPr kumimoji="1" lang="ko-KR" altLang="en-US" dirty="0"/>
              <a:t>는 </a:t>
            </a:r>
            <a:r>
              <a:rPr kumimoji="1" lang="ko-KR" altLang="en-US" dirty="0" err="1"/>
              <a:t>필란드</a:t>
            </a:r>
            <a:r>
              <a:rPr kumimoji="1" lang="ko-KR" altLang="en-US" dirty="0"/>
              <a:t> </a:t>
            </a:r>
            <a:r>
              <a:rPr kumimoji="1" lang="en-US" altLang="ko-KR" dirty="0"/>
              <a:t>VLSI</a:t>
            </a:r>
            <a:r>
              <a:rPr kumimoji="1" lang="ko-KR" altLang="en-US" dirty="0"/>
              <a:t>사에서 개발한 </a:t>
            </a:r>
            <a:br>
              <a:rPr kumimoji="1" lang="en-US" altLang="ko-KR" dirty="0"/>
            </a:br>
            <a:r>
              <a:rPr kumimoji="1" lang="ko-KR" altLang="en-US" dirty="0"/>
              <a:t>단일 칩 </a:t>
            </a:r>
            <a:r>
              <a:rPr kumimoji="1" lang="en-US" altLang="ko-KR" dirty="0"/>
              <a:t>MP3 </a:t>
            </a:r>
            <a:r>
              <a:rPr kumimoji="1" lang="ko-KR" altLang="en-US" dirty="0"/>
              <a:t>오디오 코덱이다</a:t>
            </a:r>
            <a:r>
              <a:rPr kumimoji="1"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주로 </a:t>
            </a:r>
            <a:r>
              <a:rPr kumimoji="1" lang="en-US" altLang="ko-KR" dirty="0"/>
              <a:t>MCU</a:t>
            </a:r>
            <a:r>
              <a:rPr kumimoji="1" lang="ko-KR" altLang="en-US" dirty="0"/>
              <a:t>와 연결하여 오디오를 재생하거나</a:t>
            </a:r>
            <a:r>
              <a:rPr kumimoji="1" lang="en-US" altLang="ko-KR" dirty="0"/>
              <a:t>,</a:t>
            </a:r>
            <a:br>
              <a:rPr kumimoji="1" lang="en-US" altLang="ko-KR" dirty="0"/>
            </a:br>
            <a:r>
              <a:rPr kumimoji="1" lang="ko-KR" altLang="en-US" dirty="0"/>
              <a:t>녹음하는데 사용된다</a:t>
            </a:r>
            <a:r>
              <a:rPr kumimoji="1" lang="en-US" altLang="ko-KR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F607B87-F443-6890-C926-540B508FD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733" y="2760668"/>
            <a:ext cx="3908847" cy="305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58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5C4D5-44B9-54BA-B99C-C0B4D1878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7207EB-CD09-5F03-0EF2-2F5F77E4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en-US" altLang="ko-KR" dirty="0"/>
              <a:t>VS1003B</a:t>
            </a:r>
            <a:br>
              <a:rPr lang="en-US" altLang="ko-KR" dirty="0"/>
            </a:br>
            <a:r>
              <a:rPr lang="en-US" altLang="ko-KR" sz="2800" dirty="0">
                <a:latin typeface="+mn-lt"/>
              </a:rPr>
              <a:t>2-2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SPI </a:t>
            </a:r>
            <a:r>
              <a:rPr lang="ko-KR" altLang="en-US" sz="2800" dirty="0">
                <a:latin typeface="+mn-lt"/>
              </a:rPr>
              <a:t>통신 규격 </a:t>
            </a:r>
            <a:r>
              <a:rPr lang="en-US" altLang="ko-KR" sz="2800" dirty="0">
                <a:latin typeface="+mn-lt"/>
              </a:rPr>
              <a:t>#SCLK Frequency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E002EB-DF75-6249-370E-275387AD969F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9CD378-C723-436B-A611-17732B5346DB}"/>
              </a:ext>
            </a:extLst>
          </p:cNvPr>
          <p:cNvSpPr txBox="1"/>
          <p:nvPr/>
        </p:nvSpPr>
        <p:spPr>
          <a:xfrm>
            <a:off x="5612479" y="3279357"/>
            <a:ext cx="621195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VS1003B</a:t>
            </a:r>
            <a:r>
              <a:rPr kumimoji="1" lang="ko-KR" altLang="en-US" dirty="0"/>
              <a:t> 데이터시트상 </a:t>
            </a:r>
            <a:br>
              <a:rPr kumimoji="1" lang="en-US" altLang="ko-KR" dirty="0"/>
            </a:br>
            <a:r>
              <a:rPr kumimoji="1" lang="ko-KR" altLang="en-US" dirty="0"/>
              <a:t>읽기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CLKI/7</a:t>
            </a:r>
            <a:r>
              <a:rPr kumimoji="1" lang="ko-KR" altLang="en-US" dirty="0"/>
              <a:t> </a:t>
            </a:r>
            <a:r>
              <a:rPr kumimoji="1" lang="en-US" altLang="ko-KR" dirty="0"/>
              <a:t>|</a:t>
            </a:r>
            <a:r>
              <a:rPr kumimoji="1" lang="ko-KR" altLang="en-US" dirty="0"/>
              <a:t> 쓰기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CLKI/4</a:t>
            </a:r>
            <a:r>
              <a:rPr kumimoji="1" lang="ko-KR" altLang="en-US" dirty="0"/>
              <a:t>로 되어있다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이때</a:t>
            </a:r>
            <a:br>
              <a:rPr kumimoji="1" lang="en-US" altLang="ko-KR" dirty="0"/>
            </a:br>
            <a:r>
              <a:rPr kumimoji="1" lang="en-US" altLang="ko-KR" dirty="0"/>
              <a:t>CLKI</a:t>
            </a:r>
            <a:r>
              <a:rPr kumimoji="1" lang="ko-KR" altLang="en-US" dirty="0"/>
              <a:t>는 칩 내부 동작 주파수로써 설정에 따라 달라지므로</a:t>
            </a:r>
            <a:br>
              <a:rPr kumimoji="1" lang="en-US" altLang="ko-KR" dirty="0"/>
            </a:br>
            <a:r>
              <a:rPr kumimoji="1" lang="en-US" altLang="ko-KR" dirty="0"/>
              <a:t>36MHz</a:t>
            </a:r>
            <a:r>
              <a:rPr kumimoji="1" lang="ko-KR" altLang="en-US" dirty="0"/>
              <a:t>로 가정하고 계산해보면 다음과 같다</a:t>
            </a:r>
            <a:r>
              <a:rPr kumimoji="1"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SPI Input Clock Frequency</a:t>
            </a:r>
            <a:br>
              <a:rPr kumimoji="1" lang="en-US" altLang="ko-KR" dirty="0"/>
            </a:br>
            <a:r>
              <a:rPr kumimoji="1" lang="ko-KR" altLang="en-US" dirty="0"/>
              <a:t>읽기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5.14MHz | </a:t>
            </a:r>
            <a:r>
              <a:rPr kumimoji="1" lang="ko-KR" altLang="en-US" dirty="0"/>
              <a:t>쓰기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9.0MHz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이중 더 느린 </a:t>
            </a:r>
            <a:r>
              <a:rPr kumimoji="1" lang="en-US" altLang="ko-KR" dirty="0"/>
              <a:t>5.14MHz</a:t>
            </a:r>
            <a:r>
              <a:rPr kumimoji="1" lang="ko-KR" altLang="en-US" dirty="0"/>
              <a:t>로 맞춰 </a:t>
            </a:r>
            <a:r>
              <a:rPr kumimoji="1" lang="en-US" altLang="ko-KR" dirty="0"/>
              <a:t>SPI SCLK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구성해야</a:t>
            </a:r>
            <a:br>
              <a:rPr kumimoji="1" lang="en-US" altLang="ko-KR" dirty="0"/>
            </a:br>
            <a:r>
              <a:rPr kumimoji="1" lang="ko-KR" altLang="en-US" dirty="0"/>
              <a:t>안전하다</a:t>
            </a:r>
            <a:r>
              <a:rPr kumimoji="1" lang="en-US" altLang="ko-KR" dirty="0"/>
              <a:t>.</a:t>
            </a:r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B3F60E-AA62-F894-DB2C-11294B705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64" y="2704917"/>
            <a:ext cx="4902579" cy="200560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CB30901-12C2-9489-A5D3-8E67E831A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64" y="4659978"/>
            <a:ext cx="4785591" cy="207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269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A49ED-7682-4A95-9A86-46CF30246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9EEDED-D337-CF1B-9CCD-3B9411E2D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en-US" altLang="ko-KR" dirty="0"/>
              <a:t>VS1003B</a:t>
            </a:r>
            <a:br>
              <a:rPr lang="en-US" altLang="ko-KR" dirty="0"/>
            </a:br>
            <a:r>
              <a:rPr lang="en-US" altLang="ko-KR" sz="2800" dirty="0">
                <a:latin typeface="+mn-lt"/>
              </a:rPr>
              <a:t>2-2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SPI </a:t>
            </a:r>
            <a:r>
              <a:rPr lang="ko-KR" altLang="en-US" sz="2800" dirty="0">
                <a:latin typeface="+mn-lt"/>
              </a:rPr>
              <a:t>통신 규격 </a:t>
            </a:r>
            <a:r>
              <a:rPr lang="en-US" altLang="ko-KR" sz="2800" dirty="0">
                <a:latin typeface="+mn-lt"/>
              </a:rPr>
              <a:t>#SPI Mode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5ED0E1-07B1-1F6B-0671-E54A24745989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944D7-91C9-2E0B-FB26-8AAEB89A9ED3}"/>
              </a:ext>
            </a:extLst>
          </p:cNvPr>
          <p:cNvSpPr txBox="1"/>
          <p:nvPr/>
        </p:nvSpPr>
        <p:spPr>
          <a:xfrm>
            <a:off x="6096000" y="3321150"/>
            <a:ext cx="562320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VS1003B </a:t>
            </a:r>
            <a:r>
              <a:rPr kumimoji="1" lang="ko-KR" altLang="en-US" dirty="0"/>
              <a:t>데이터시트에 </a:t>
            </a:r>
            <a:r>
              <a:rPr kumimoji="1" lang="en-US" altLang="ko-KR" dirty="0"/>
              <a:t>SPI Mode</a:t>
            </a:r>
            <a:r>
              <a:rPr kumimoji="1" lang="ko-KR" altLang="en-US" dirty="0"/>
              <a:t>가 명시되어</a:t>
            </a:r>
            <a:br>
              <a:rPr kumimoji="1" lang="en-US" altLang="ko-KR" dirty="0"/>
            </a:br>
            <a:r>
              <a:rPr kumimoji="1" lang="ko-KR" altLang="en-US" dirty="0"/>
              <a:t>있지 않지만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타이밍도를 통해 유추 가능하다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1.</a:t>
            </a:r>
            <a:r>
              <a:rPr kumimoji="1" lang="ko-KR" altLang="en-US" dirty="0"/>
              <a:t> </a:t>
            </a:r>
            <a:r>
              <a:rPr kumimoji="1" lang="en-US" altLang="ko-KR" dirty="0"/>
              <a:t>SCLK</a:t>
            </a:r>
            <a:r>
              <a:rPr kumimoji="1" lang="ko-KR" altLang="en-US" dirty="0"/>
              <a:t>가 통신을 하지 </a:t>
            </a:r>
            <a:r>
              <a:rPr kumimoji="1" lang="ko-KR" altLang="en-US" dirty="0" err="1"/>
              <a:t>않을때</a:t>
            </a:r>
            <a:r>
              <a:rPr kumimoji="1" lang="ko-KR" altLang="en-US" dirty="0"/>
              <a:t> </a:t>
            </a:r>
            <a:r>
              <a:rPr kumimoji="1" lang="en-US" altLang="ko-KR" dirty="0"/>
              <a:t>LOW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위치함</a:t>
            </a:r>
            <a:br>
              <a:rPr kumimoji="1" lang="en-US" altLang="ko-KR" dirty="0"/>
            </a:br>
            <a:r>
              <a:rPr kumimoji="1" lang="en-US" altLang="ko-KR" dirty="0"/>
              <a:t>CPOL = LOW</a:t>
            </a:r>
            <a:br>
              <a:rPr kumimoji="1" lang="en-US" altLang="ko-KR" dirty="0"/>
            </a:br>
            <a:r>
              <a:rPr kumimoji="1" lang="en-US" altLang="ko-KR" dirty="0"/>
              <a:t>2. SCLK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1</a:t>
            </a:r>
            <a:r>
              <a:rPr kumimoji="1" lang="ko-KR" altLang="en-US" dirty="0"/>
              <a:t>번 </a:t>
            </a:r>
            <a:r>
              <a:rPr kumimoji="1" lang="ko-KR" altLang="en-US" dirty="0" err="1"/>
              <a:t>엣지에서</a:t>
            </a:r>
            <a:r>
              <a:rPr kumimoji="1" lang="ko-KR" altLang="en-US" dirty="0"/>
              <a:t> 데이터 전송이 시작되므로</a:t>
            </a:r>
            <a:br>
              <a:rPr kumimoji="1" lang="en-US" altLang="ko-KR" dirty="0"/>
            </a:br>
            <a:r>
              <a:rPr kumimoji="1" lang="en-US" altLang="ko-KR" dirty="0"/>
              <a:t>CPHA = 1Edge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따라서 설정해줘야 하는 </a:t>
            </a:r>
            <a:r>
              <a:rPr kumimoji="1" lang="en-US" altLang="ko-KR" dirty="0"/>
              <a:t>Mode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Mode 0 </a:t>
            </a:r>
            <a:r>
              <a:rPr kumimoji="1" lang="ko-KR" altLang="en-US" dirty="0"/>
              <a:t>이다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endParaRPr kumimoji="1" lang="en-US" altLang="ko-KR" dirty="0"/>
          </a:p>
        </p:txBody>
      </p:sp>
      <p:pic>
        <p:nvPicPr>
          <p:cNvPr id="7" name="그림 6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C2143D-55CC-0677-1733-69EEA8AF6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89" y="3228817"/>
            <a:ext cx="5706811" cy="286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173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1EE50-6D83-3043-7420-C9095A46C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64137-FF49-0570-CDA5-8D12052B7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en-US" altLang="ko-KR" dirty="0"/>
              <a:t>VS1003B</a:t>
            </a:r>
            <a:br>
              <a:rPr lang="en-US" altLang="ko-KR" dirty="0"/>
            </a:br>
            <a:r>
              <a:rPr lang="en-US" altLang="ko-KR" sz="2800" dirty="0">
                <a:latin typeface="+mn-lt"/>
              </a:rPr>
              <a:t>2-3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PINMAP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57D32-528A-E978-CE1D-4F2890050F98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ED49BF0-3395-A263-9AE5-176EBA809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863" y="2630599"/>
            <a:ext cx="4174379" cy="38622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30E726-282B-B88E-5F02-88F5CA33174C}"/>
              </a:ext>
            </a:extLst>
          </p:cNvPr>
          <p:cNvSpPr txBox="1"/>
          <p:nvPr/>
        </p:nvSpPr>
        <p:spPr>
          <a:xfrm>
            <a:off x="5845182" y="2630599"/>
            <a:ext cx="58757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SPI1_SCLK: PA5		DREQ: PE11</a:t>
            </a:r>
          </a:p>
          <a:p>
            <a:r>
              <a:rPr kumimoji="1" lang="en-US" altLang="ko-KR" dirty="0"/>
              <a:t>SPI1_MISO: PA6		</a:t>
            </a:r>
            <a:r>
              <a:rPr kumimoji="1" lang="en-US" altLang="ko-KR" dirty="0" err="1"/>
              <a:t>xRESET</a:t>
            </a:r>
            <a:r>
              <a:rPr kumimoji="1" lang="en-US" altLang="ko-KR" dirty="0"/>
              <a:t>: PE12</a:t>
            </a:r>
          </a:p>
          <a:p>
            <a:r>
              <a:rPr kumimoji="1" lang="en-US" altLang="ko-KR" dirty="0"/>
              <a:t>SPI1_MOSI: PA7		</a:t>
            </a:r>
            <a:r>
              <a:rPr kumimoji="1" lang="en-US" altLang="ko-KR" dirty="0" err="1"/>
              <a:t>xDCS</a:t>
            </a:r>
            <a:r>
              <a:rPr kumimoji="1" lang="en-US" altLang="ko-KR" dirty="0"/>
              <a:t>: PE13</a:t>
            </a:r>
          </a:p>
          <a:p>
            <a:r>
              <a:rPr kumimoji="1" lang="en-US" altLang="ko-KR" dirty="0"/>
              <a:t>SPI1_CS: PE10</a:t>
            </a:r>
          </a:p>
          <a:p>
            <a:endParaRPr kumimoji="1"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48F248-6672-E93E-E9D8-14624C4471C9}"/>
              </a:ext>
            </a:extLst>
          </p:cNvPr>
          <p:cNvSpPr txBox="1"/>
          <p:nvPr/>
        </p:nvSpPr>
        <p:spPr>
          <a:xfrm>
            <a:off x="5845182" y="3921901"/>
            <a:ext cx="613020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DREQ</a:t>
            </a:r>
            <a:br>
              <a:rPr kumimoji="1" lang="en-US" altLang="ko-KR" dirty="0"/>
            </a:br>
            <a:r>
              <a:rPr kumimoji="1" lang="ko-KR" altLang="en-US" dirty="0"/>
              <a:t>코덱이 데이터를 받을 준비가 되었는지 알려주는 핀</a:t>
            </a:r>
            <a:br>
              <a:rPr kumimoji="1" lang="en-US" altLang="ko-KR" dirty="0"/>
            </a:br>
            <a:r>
              <a:rPr kumimoji="1" lang="en-US" altLang="ko-KR" dirty="0"/>
              <a:t>(</a:t>
            </a:r>
            <a:r>
              <a:rPr kumimoji="1" lang="ko-KR" altLang="en-US" dirty="0"/>
              <a:t>만약 준비가 된다면 </a:t>
            </a:r>
            <a:r>
              <a:rPr kumimoji="1" lang="en-US" altLang="ko-KR" dirty="0"/>
              <a:t>HIGH</a:t>
            </a:r>
            <a:r>
              <a:rPr kumimoji="1" lang="ko-KR" altLang="en-US" dirty="0"/>
              <a:t>가 출력된다</a:t>
            </a:r>
            <a:r>
              <a:rPr kumimoji="1" lang="en-US" altLang="ko-KR" dirty="0"/>
              <a:t>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 err="1"/>
              <a:t>xRESET</a:t>
            </a:r>
            <a:br>
              <a:rPr kumimoji="1" lang="en-US" altLang="ko-KR" dirty="0"/>
            </a:br>
            <a:r>
              <a:rPr kumimoji="1" lang="ko-KR" altLang="en-US" dirty="0"/>
              <a:t>하드웨어 </a:t>
            </a:r>
            <a:r>
              <a:rPr kumimoji="1" lang="ko-KR" altLang="en-US" dirty="0" err="1"/>
              <a:t>리셋핀</a:t>
            </a:r>
            <a:r>
              <a:rPr kumimoji="1" lang="en-US" altLang="ko-KR" dirty="0"/>
              <a:t>(LOW </a:t>
            </a:r>
            <a:r>
              <a:rPr kumimoji="1" lang="ko-KR" altLang="en-US" dirty="0"/>
              <a:t>신호를 주면 리셋 된다</a:t>
            </a:r>
            <a:r>
              <a:rPr kumimoji="1" lang="en-US" altLang="ko-KR" dirty="0"/>
              <a:t>.)</a:t>
            </a:r>
            <a:br>
              <a:rPr kumimoji="1" lang="en-US" altLang="ko-KR" dirty="0"/>
            </a:b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 err="1"/>
              <a:t>xDCS</a:t>
            </a:r>
            <a:br>
              <a:rPr kumimoji="1" lang="en-US" altLang="ko-KR" dirty="0"/>
            </a:br>
            <a:r>
              <a:rPr kumimoji="1" lang="ko-KR" altLang="en-US" dirty="0"/>
              <a:t>만약 이 핀으로 </a:t>
            </a:r>
            <a:r>
              <a:rPr kumimoji="1" lang="en-US" altLang="ko-KR" dirty="0"/>
              <a:t>LOW </a:t>
            </a:r>
            <a:r>
              <a:rPr kumimoji="1" lang="ko-KR" altLang="en-US" dirty="0"/>
              <a:t>신호가 인가되면 코덱은 현재</a:t>
            </a:r>
            <a:br>
              <a:rPr kumimoji="1" lang="en-US" altLang="ko-KR" dirty="0"/>
            </a:br>
            <a:r>
              <a:rPr kumimoji="1" lang="ko-KR" altLang="en-US" dirty="0"/>
              <a:t>수신중인 데이터가 음악 데이터라고 판단하여 재생한다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6572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A8EDD-747D-C0EE-C7C6-66E8A4B5C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DB47E-CD24-7240-6E1A-DC82DE97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3-1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 err="1">
                <a:latin typeface="+mn-lt"/>
              </a:rPr>
              <a:t>CubeMX</a:t>
            </a:r>
            <a:r>
              <a:rPr lang="en-US" altLang="ko-KR" sz="2800" dirty="0">
                <a:latin typeface="+mn-lt"/>
              </a:rPr>
              <a:t> </a:t>
            </a:r>
            <a:r>
              <a:rPr lang="ko-KR" altLang="en-US" sz="2800" dirty="0">
                <a:latin typeface="+mn-lt"/>
              </a:rPr>
              <a:t>설정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E1E45-5E68-2C55-74BA-C04B8ADC5E8C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91D36BD-4B82-BA2E-DABC-08D67B37B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3258692"/>
            <a:ext cx="6709154" cy="24332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E5B900-9786-D76A-88A7-709C7E82B9D9}"/>
              </a:ext>
            </a:extLst>
          </p:cNvPr>
          <p:cNvSpPr txBox="1"/>
          <p:nvPr/>
        </p:nvSpPr>
        <p:spPr>
          <a:xfrm>
            <a:off x="7508285" y="3258692"/>
            <a:ext cx="4199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DAC </a:t>
            </a:r>
            <a:r>
              <a:rPr kumimoji="1" lang="ko-KR" altLang="en-US" dirty="0" err="1"/>
              <a:t>출력핀이</a:t>
            </a:r>
            <a:r>
              <a:rPr kumimoji="1" lang="ko-KR" altLang="en-US" dirty="0"/>
              <a:t> </a:t>
            </a:r>
            <a:r>
              <a:rPr kumimoji="1" lang="en-US" altLang="ko-KR" dirty="0"/>
              <a:t>VS1003</a:t>
            </a:r>
            <a:r>
              <a:rPr kumimoji="1" lang="ko-KR" altLang="en-US" dirty="0"/>
              <a:t>핀과 충돌되므로</a:t>
            </a:r>
            <a:endParaRPr kumimoji="1" lang="en-US" altLang="ko-KR" dirty="0"/>
          </a:p>
          <a:p>
            <a:r>
              <a:rPr kumimoji="1" lang="ko-KR" altLang="en-US" dirty="0"/>
              <a:t>반드시 비활성화 해주어야 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0929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10249-64F9-712F-0B3E-7EA09EC53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6718C0-5098-D38C-614B-901BF7B4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3-1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 err="1">
                <a:latin typeface="+mn-lt"/>
              </a:rPr>
              <a:t>CubeMX</a:t>
            </a:r>
            <a:r>
              <a:rPr lang="en-US" altLang="ko-KR" sz="2800" dirty="0">
                <a:latin typeface="+mn-lt"/>
              </a:rPr>
              <a:t> </a:t>
            </a:r>
            <a:r>
              <a:rPr lang="ko-KR" altLang="en-US" sz="2800" dirty="0">
                <a:latin typeface="+mn-lt"/>
              </a:rPr>
              <a:t>설정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691E2F-D5AE-A91F-211D-AE342840DC48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59BBC00-821D-22B5-D85F-7D42E827C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88" y="2538136"/>
            <a:ext cx="7772400" cy="38743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3B6A3A-2CB2-1907-3F44-45267B197FBD}"/>
              </a:ext>
            </a:extLst>
          </p:cNvPr>
          <p:cNvSpPr txBox="1"/>
          <p:nvPr/>
        </p:nvSpPr>
        <p:spPr>
          <a:xfrm>
            <a:off x="8217734" y="3413483"/>
            <a:ext cx="393569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전이중</a:t>
            </a:r>
            <a:r>
              <a:rPr kumimoji="1" lang="ko-KR" altLang="en-US" dirty="0"/>
              <a:t> 통신을 하기 위해</a:t>
            </a:r>
            <a:br>
              <a:rPr kumimoji="1" lang="en-US" altLang="ko-KR" dirty="0"/>
            </a:br>
            <a:r>
              <a:rPr kumimoji="1" lang="en-US" altLang="ko-KR" dirty="0"/>
              <a:t>SPI1</a:t>
            </a:r>
            <a:r>
              <a:rPr kumimoji="1" lang="ko-KR" altLang="en-US" dirty="0"/>
              <a:t>을 </a:t>
            </a:r>
            <a:r>
              <a:rPr kumimoji="1" lang="en-US" altLang="ko-KR" dirty="0"/>
              <a:t>Full-Duplex Master</a:t>
            </a:r>
            <a:r>
              <a:rPr kumimoji="1" lang="ko-KR" altLang="en-US" dirty="0"/>
              <a:t> 모드로</a:t>
            </a:r>
            <a:br>
              <a:rPr kumimoji="1" lang="en-US" altLang="ko-KR" dirty="0"/>
            </a:br>
            <a:r>
              <a:rPr kumimoji="1" lang="ko-KR" altLang="en-US" dirty="0"/>
              <a:t>활성화 해준다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이때 자동 설정되는 핀이 앞서 정의된</a:t>
            </a:r>
            <a:br>
              <a:rPr kumimoji="1" lang="en-US" altLang="ko-KR" dirty="0"/>
            </a:br>
            <a:r>
              <a:rPr kumimoji="1" lang="ko-KR" altLang="en-US" dirty="0" err="1"/>
              <a:t>핀맵과</a:t>
            </a:r>
            <a:r>
              <a:rPr kumimoji="1" lang="ko-KR" altLang="en-US" dirty="0"/>
              <a:t> 일치하는지 확인해야 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807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713BD-7169-A4AD-C53F-B2A4F415C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FAD8A-355F-886B-792E-2149E9DD5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3-1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 err="1">
                <a:latin typeface="+mn-lt"/>
              </a:rPr>
              <a:t>CubeMX</a:t>
            </a:r>
            <a:r>
              <a:rPr lang="en-US" altLang="ko-KR" sz="2800" dirty="0">
                <a:latin typeface="+mn-lt"/>
              </a:rPr>
              <a:t> </a:t>
            </a:r>
            <a:r>
              <a:rPr lang="ko-KR" altLang="en-US" sz="2800" dirty="0">
                <a:latin typeface="+mn-lt"/>
              </a:rPr>
              <a:t>설정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01EF62-0A6B-7020-F5CB-BDF23852B9CD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413C4-86C7-A791-E7E4-479FEF11016D}"/>
              </a:ext>
            </a:extLst>
          </p:cNvPr>
          <p:cNvSpPr txBox="1"/>
          <p:nvPr/>
        </p:nvSpPr>
        <p:spPr>
          <a:xfrm>
            <a:off x="7239390" y="3429000"/>
            <a:ext cx="4778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SPI </a:t>
            </a:r>
            <a:r>
              <a:rPr kumimoji="1" lang="ko-KR" altLang="en-US" dirty="0"/>
              <a:t>통신 파라미터는 앞서 계산한 결과에 맞춰</a:t>
            </a:r>
            <a:br>
              <a:rPr kumimoji="1" lang="en-US" altLang="ko-KR" dirty="0"/>
            </a:br>
            <a:r>
              <a:rPr kumimoji="1" lang="ko-KR" altLang="en-US" dirty="0"/>
              <a:t>설정해 준다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1C84FC6-8846-00C4-1197-0DE4EDD9E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855546"/>
            <a:ext cx="65405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776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1F91C-F800-B023-BE6E-9F7A503E2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CBBC6-EB31-C068-CCA0-97500BE76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3-1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 err="1">
                <a:latin typeface="+mn-lt"/>
              </a:rPr>
              <a:t>CubeMX</a:t>
            </a:r>
            <a:r>
              <a:rPr lang="en-US" altLang="ko-KR" sz="2800" dirty="0">
                <a:latin typeface="+mn-lt"/>
              </a:rPr>
              <a:t> </a:t>
            </a:r>
            <a:r>
              <a:rPr lang="ko-KR" altLang="en-US" sz="2800" dirty="0">
                <a:latin typeface="+mn-lt"/>
              </a:rPr>
              <a:t>설정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19CB96-9385-1F49-B10B-B4E833849C54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A6FC15-55D0-CE32-2D49-FD5356B19F29}"/>
              </a:ext>
            </a:extLst>
          </p:cNvPr>
          <p:cNvSpPr txBox="1"/>
          <p:nvPr/>
        </p:nvSpPr>
        <p:spPr>
          <a:xfrm>
            <a:off x="7239390" y="3429000"/>
            <a:ext cx="477887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SPI </a:t>
            </a:r>
            <a:r>
              <a:rPr kumimoji="1" lang="ko-KR" altLang="en-US" dirty="0"/>
              <a:t>통신 파라미터는 앞서 계산한 결과에 맞춰</a:t>
            </a:r>
            <a:br>
              <a:rPr kumimoji="1" lang="en-US" altLang="ko-KR" dirty="0"/>
            </a:br>
            <a:r>
              <a:rPr kumimoji="1" lang="ko-KR" altLang="en-US" dirty="0"/>
              <a:t>설정해 준다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CS</a:t>
            </a:r>
            <a:r>
              <a:rPr kumimoji="1" lang="ko-KR" altLang="en-US" dirty="0"/>
              <a:t> 신호 생성 타입을 소프트웨어 방식으로</a:t>
            </a:r>
            <a:br>
              <a:rPr kumimoji="1" lang="en-US" altLang="ko-KR" dirty="0"/>
            </a:br>
            <a:r>
              <a:rPr kumimoji="1" lang="ko-KR" altLang="en-US" dirty="0"/>
              <a:t>설정해준다</a:t>
            </a:r>
            <a:r>
              <a:rPr kumimoji="1" lang="en-US" altLang="ko-KR" dirty="0"/>
              <a:t>(</a:t>
            </a:r>
            <a:r>
              <a:rPr kumimoji="1" lang="ko-KR" altLang="en-US" dirty="0"/>
              <a:t>기본값 소프트웨어</a:t>
            </a:r>
            <a:r>
              <a:rPr kumimoji="1" lang="en-US" altLang="ko-KR" dirty="0"/>
              <a:t>).</a:t>
            </a:r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D13D4EB-2CAD-8D9B-0206-967124474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855546"/>
            <a:ext cx="6540500" cy="28702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26CAE65-3B76-1D03-81CC-17E29AAD39F1}"/>
              </a:ext>
            </a:extLst>
          </p:cNvPr>
          <p:cNvSpPr/>
          <p:nvPr/>
        </p:nvSpPr>
        <p:spPr>
          <a:xfrm>
            <a:off x="548061" y="3753516"/>
            <a:ext cx="3915234" cy="1170176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C42B98-6BB4-D379-0FDC-FC0CDFA94063}"/>
              </a:ext>
            </a:extLst>
          </p:cNvPr>
          <p:cNvSpPr/>
          <p:nvPr/>
        </p:nvSpPr>
        <p:spPr>
          <a:xfrm>
            <a:off x="548061" y="5164859"/>
            <a:ext cx="3915234" cy="15986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64439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AD81B-2115-D1FD-6972-35A23BEA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6" descr="회로판">
            <a:extLst>
              <a:ext uri="{FF2B5EF4-FFF2-40B4-BE49-F238E27FC236}">
                <a16:creationId xmlns:a16="http://schemas.microsoft.com/office/drawing/2014/main" id="{638EE6DE-901A-49FB-D236-5EF89F7FAD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427BB374-7D4B-145C-CCCA-9D508B51B7D8}"/>
              </a:ext>
            </a:extLst>
          </p:cNvPr>
          <p:cNvSpPr/>
          <p:nvPr/>
        </p:nvSpPr>
        <p:spPr>
          <a:xfrm>
            <a:off x="0" y="0"/>
            <a:ext cx="12192000" cy="2295592"/>
          </a:xfrm>
          <a:prstGeom prst="rect">
            <a:avLst/>
          </a:prstGeom>
          <a:solidFill>
            <a:srgbClr val="4659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24AFB3-2137-405A-75EF-3123B1714BE7}"/>
              </a:ext>
            </a:extLst>
          </p:cNvPr>
          <p:cNvSpPr txBox="1"/>
          <p:nvPr/>
        </p:nvSpPr>
        <p:spPr>
          <a:xfrm>
            <a:off x="5494308" y="240075"/>
            <a:ext cx="1203383" cy="1815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ko-KR" alt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85793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78EDD-085F-B451-B357-06E36208E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2580D1-882C-B909-EBE1-B0133D92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I2C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-1 MCU </a:t>
            </a:r>
            <a:r>
              <a:rPr lang="ko-KR" altLang="en-US" sz="2800" dirty="0"/>
              <a:t>내부 </a:t>
            </a:r>
            <a:r>
              <a:rPr lang="en-US" altLang="ko-KR" sz="2800" dirty="0"/>
              <a:t>I2C </a:t>
            </a:r>
            <a:r>
              <a:rPr lang="ko-KR" altLang="en-US" sz="2800" dirty="0"/>
              <a:t>하드웨어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63EBD-02C0-0D9E-302E-8ABE8D12D40B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2C92525-CB43-7463-0DE2-81F58E7A1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976" y="2656782"/>
            <a:ext cx="7772400" cy="400639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7D205DA-D225-C975-F69C-207D5FBB8644}"/>
              </a:ext>
            </a:extLst>
          </p:cNvPr>
          <p:cNvSpPr/>
          <p:nvPr/>
        </p:nvSpPr>
        <p:spPr>
          <a:xfrm>
            <a:off x="7043269" y="5141102"/>
            <a:ext cx="2388479" cy="64583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29249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D2E2D-4961-6933-3514-C80180A32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F4F25B-8184-29F1-8F1A-B68F34128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I2C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-2 I2C </a:t>
            </a:r>
            <a:r>
              <a:rPr lang="ko-KR" altLang="en-US" sz="2800" dirty="0"/>
              <a:t>통신 프로토콜</a:t>
            </a:r>
            <a:r>
              <a:rPr lang="en-US" altLang="ko-KR" sz="2800" dirty="0"/>
              <a:t> </a:t>
            </a:r>
            <a:r>
              <a:rPr lang="ko-KR" altLang="en-US" sz="2800" dirty="0"/>
              <a:t>개요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CA45FA-C7E9-F695-0123-A91922DFAB17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11992E-AB72-4AE9-3F2C-096A4954047C}"/>
              </a:ext>
            </a:extLst>
          </p:cNvPr>
          <p:cNvSpPr txBox="1"/>
          <p:nvPr/>
        </p:nvSpPr>
        <p:spPr>
          <a:xfrm>
            <a:off x="1324725" y="2997984"/>
            <a:ext cx="954254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dirty="0"/>
              <a:t>I2C(Inter-Integrated Circuit)</a:t>
            </a:r>
            <a:br>
              <a:rPr kumimoji="1" lang="en-US" altLang="ko-KR" dirty="0"/>
            </a:br>
            <a:r>
              <a:rPr kumimoji="1" lang="ko-KR" altLang="en-US" dirty="0"/>
              <a:t> </a:t>
            </a:r>
            <a:r>
              <a:rPr kumimoji="1" lang="en-US" altLang="ko-KR" dirty="0"/>
              <a:t>1.</a:t>
            </a:r>
            <a:r>
              <a:rPr kumimoji="1" lang="ko-KR" altLang="en-US" dirty="0"/>
              <a:t> 필립스에 의해 발표된 통신 규격으로 </a:t>
            </a:r>
            <a:r>
              <a:rPr kumimoji="1" lang="en-US" altLang="ko-KR" dirty="0"/>
              <a:t>IC</a:t>
            </a:r>
            <a:r>
              <a:rPr kumimoji="1" lang="ko-KR" altLang="en-US" dirty="0"/>
              <a:t>간의 통신을 위한 최소한의 신호 선으로 다수의</a:t>
            </a:r>
            <a:br>
              <a:rPr kumimoji="1" lang="en-US" altLang="ko-KR" dirty="0"/>
            </a:br>
            <a:r>
              <a:rPr kumimoji="1" lang="ko-KR" altLang="en-US" dirty="0"/>
              <a:t>장치를 연결하기 위한 목적으로 설계되었다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ko-KR" altLang="en-US" dirty="0"/>
              <a:t> </a:t>
            </a:r>
            <a:r>
              <a:rPr kumimoji="1" lang="en-US" altLang="ko-KR" dirty="0"/>
              <a:t>2.</a:t>
            </a:r>
            <a:r>
              <a:rPr kumimoji="1" lang="ko-KR" altLang="en-US" dirty="0"/>
              <a:t> </a:t>
            </a:r>
            <a:r>
              <a:rPr kumimoji="1" lang="en-US" altLang="ko-KR" dirty="0"/>
              <a:t>Clock</a:t>
            </a:r>
            <a:r>
              <a:rPr kumimoji="1" lang="ko-KR" altLang="en-US" dirty="0"/>
              <a:t>을 사용하는 통신방식으로써 동기화된 직렬 통신 방식을 사용한다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ko-KR" altLang="en-US" dirty="0"/>
              <a:t> </a:t>
            </a:r>
            <a:r>
              <a:rPr kumimoji="1" lang="en-US" altLang="ko-KR" dirty="0"/>
              <a:t>3.</a:t>
            </a:r>
            <a:r>
              <a:rPr kumimoji="1" lang="ko-KR" altLang="en-US" dirty="0"/>
              <a:t> 하나 또는 다수의 </a:t>
            </a:r>
            <a:r>
              <a:rPr kumimoji="1" lang="en-US" altLang="ko-KR" dirty="0"/>
              <a:t>Master</a:t>
            </a:r>
            <a:r>
              <a:rPr kumimoji="1" lang="ko-KR" altLang="en-US" dirty="0"/>
              <a:t>와 다수의 </a:t>
            </a:r>
            <a:r>
              <a:rPr kumimoji="1" lang="en-US" altLang="ko-KR" dirty="0"/>
              <a:t>Slave</a:t>
            </a:r>
            <a:r>
              <a:rPr kumimoji="1" lang="ko-KR" altLang="en-US" dirty="0"/>
              <a:t>가 연결되는 구조이다</a:t>
            </a:r>
            <a:r>
              <a:rPr kumimoji="1" lang="en-US" altLang="ko-KR" dirty="0"/>
              <a:t>(Multi-Master </a:t>
            </a:r>
            <a:r>
              <a:rPr kumimoji="1" lang="ko-KR" altLang="en-US" dirty="0"/>
              <a:t>지원</a:t>
            </a:r>
            <a:r>
              <a:rPr kumimoji="1" lang="en-US" altLang="ko-KR" dirty="0"/>
              <a:t>).</a:t>
            </a:r>
            <a:br>
              <a:rPr kumimoji="1" lang="en-US" altLang="ko-KR" dirty="0"/>
            </a:br>
            <a:r>
              <a:rPr kumimoji="1" lang="ko-KR" altLang="en-US" dirty="0"/>
              <a:t> </a:t>
            </a:r>
            <a:r>
              <a:rPr kumimoji="1" lang="en-US" altLang="ko-KR" dirty="0"/>
              <a:t>4.</a:t>
            </a:r>
            <a:r>
              <a:rPr kumimoji="1" lang="ko-KR" altLang="en-US" dirty="0"/>
              <a:t> </a:t>
            </a:r>
            <a:r>
              <a:rPr kumimoji="1" lang="en-US" altLang="ko-KR" dirty="0"/>
              <a:t>Half-Duplex </a:t>
            </a:r>
            <a:r>
              <a:rPr kumimoji="1" lang="ko-KR" altLang="en-US" dirty="0"/>
              <a:t>통신만 가능하다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ko-KR" altLang="en-US" dirty="0"/>
              <a:t> </a:t>
            </a:r>
            <a:r>
              <a:rPr kumimoji="1" lang="en-US" altLang="ko-KR" dirty="0"/>
              <a:t>5.</a:t>
            </a:r>
            <a:r>
              <a:rPr kumimoji="1" lang="ko-KR" altLang="en-US" dirty="0"/>
              <a:t> 사용되는 신호선은 다음과 같다</a:t>
            </a:r>
            <a:r>
              <a:rPr kumimoji="1" lang="en-US" altLang="ko-KR" dirty="0"/>
              <a:t>(only 2wire).</a:t>
            </a:r>
            <a:br>
              <a:rPr kumimoji="1" lang="en-US" altLang="ko-KR" dirty="0"/>
            </a:br>
            <a:r>
              <a:rPr kumimoji="1" lang="en-US" altLang="ko-KR" dirty="0"/>
              <a:t>	SDA(Serial Data) – </a:t>
            </a:r>
            <a:r>
              <a:rPr kumimoji="1" lang="ko-KR" altLang="en-US" dirty="0"/>
              <a:t>데이터 송수신 선로</a:t>
            </a:r>
            <a:r>
              <a:rPr kumimoji="1" lang="en-US" altLang="ko-KR" dirty="0"/>
              <a:t>(Master-Slave </a:t>
            </a:r>
            <a:r>
              <a:rPr kumimoji="1" lang="ko-KR" altLang="en-US" dirty="0"/>
              <a:t>양방향</a:t>
            </a:r>
            <a:r>
              <a:rPr kumimoji="1" lang="en-US" altLang="ko-KR" dirty="0"/>
              <a:t>)</a:t>
            </a:r>
            <a:br>
              <a:rPr kumimoji="1" lang="en-US" altLang="ko-KR" dirty="0"/>
            </a:br>
            <a:r>
              <a:rPr kumimoji="1" lang="en-US" altLang="ko-KR" dirty="0"/>
              <a:t>	SCL(Serial Clock)– Clock </a:t>
            </a:r>
            <a:r>
              <a:rPr kumimoji="1" lang="ko-KR" altLang="en-US" dirty="0"/>
              <a:t>신호</a:t>
            </a:r>
            <a:r>
              <a:rPr kumimoji="1" lang="en-US" altLang="ko-KR" dirty="0"/>
              <a:t>(from Master)</a:t>
            </a:r>
          </a:p>
        </p:txBody>
      </p:sp>
    </p:spTree>
    <p:extLst>
      <p:ext uri="{BB962C8B-B14F-4D97-AF65-F5344CB8AC3E}">
        <p14:creationId xmlns:p14="http://schemas.microsoft.com/office/powerpoint/2010/main" val="1608107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53BB5-CC1C-42B5-87D1-53709DE09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D270FC-43C1-F097-AEB9-99CF23CF0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I2C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-3 I2C </a:t>
            </a:r>
            <a:r>
              <a:rPr lang="ko-KR" altLang="en-US" sz="2800" dirty="0"/>
              <a:t>통신 방식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373080-140A-EF42-1473-834AE7033DA4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AFF46E6-C78A-E67C-D948-1BD400BD6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301" y="2814053"/>
            <a:ext cx="5551768" cy="33119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FBA54D-513C-D1C2-E832-5A150F605286}"/>
              </a:ext>
            </a:extLst>
          </p:cNvPr>
          <p:cNvSpPr txBox="1"/>
          <p:nvPr/>
        </p:nvSpPr>
        <p:spPr>
          <a:xfrm>
            <a:off x="6778069" y="3367316"/>
            <a:ext cx="52261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I2C </a:t>
            </a:r>
            <a:r>
              <a:rPr kumimoji="1" lang="ko-KR" altLang="en-US" dirty="0"/>
              <a:t>통신은 각각의 장치에 고유 주소가</a:t>
            </a:r>
            <a:br>
              <a:rPr kumimoji="1" lang="en-US" altLang="ko-KR" dirty="0"/>
            </a:br>
            <a:r>
              <a:rPr kumimoji="1" lang="ko-KR" altLang="en-US" dirty="0"/>
              <a:t>있기 때문에 </a:t>
            </a:r>
            <a:r>
              <a:rPr kumimoji="1" lang="en-US" altLang="ko-KR" dirty="0"/>
              <a:t>2</a:t>
            </a:r>
            <a:r>
              <a:rPr kumimoji="1" lang="ko-KR" altLang="en-US" dirty="0"/>
              <a:t>개의 선만을 가지고 최대</a:t>
            </a:r>
            <a:br>
              <a:rPr kumimoji="1" lang="en-US" altLang="ko-KR" dirty="0"/>
            </a:br>
            <a:r>
              <a:rPr kumimoji="1" lang="en-US" altLang="ko-KR" dirty="0"/>
              <a:t>1008</a:t>
            </a:r>
            <a:r>
              <a:rPr kumimoji="1" lang="ko-KR" altLang="en-US" dirty="0"/>
              <a:t>개의 </a:t>
            </a:r>
            <a:r>
              <a:rPr kumimoji="1" lang="ko-KR" altLang="en-US" dirty="0" err="1"/>
              <a:t>슬레이브</a:t>
            </a:r>
            <a:r>
              <a:rPr kumimoji="1" lang="ko-KR" altLang="en-US" dirty="0"/>
              <a:t> 장치까지 통신이 가능하다</a:t>
            </a:r>
            <a:r>
              <a:rPr kumimoji="1"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4753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DC649-7A6B-45DC-810D-7DFEF9B20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C7EC3C-531D-021D-F97B-5F80D712A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I2C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-3 I2C </a:t>
            </a:r>
            <a:r>
              <a:rPr lang="ko-KR" altLang="en-US" sz="2800" dirty="0"/>
              <a:t>통신 방식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23251A-9375-0455-020C-B6EBCD8430DD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BD8C737-116F-C352-ADF9-73553745AC3F}"/>
              </a:ext>
            </a:extLst>
          </p:cNvPr>
          <p:cNvGrpSpPr/>
          <p:nvPr/>
        </p:nvGrpSpPr>
        <p:grpSpPr>
          <a:xfrm>
            <a:off x="292924" y="3012919"/>
            <a:ext cx="4999107" cy="2555454"/>
            <a:chOff x="1054264" y="3012919"/>
            <a:chExt cx="4999107" cy="2555454"/>
          </a:xfrm>
        </p:grpSpPr>
        <p:pic>
          <p:nvPicPr>
            <p:cNvPr id="6" name="그림 5" descr="텍스트, 도표, 평면도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3DC0D97-AF65-5696-BED2-AD2B67D56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4264" y="3012919"/>
              <a:ext cx="4999107" cy="2555454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F563395-1434-3BD8-9E96-A3B4723D3AAD}"/>
                </a:ext>
              </a:extLst>
            </p:cNvPr>
            <p:cNvSpPr/>
            <p:nvPr/>
          </p:nvSpPr>
          <p:spPr>
            <a:xfrm>
              <a:off x="3363457" y="3106082"/>
              <a:ext cx="415638" cy="1553896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BAD7DED-2AD7-A8A1-2558-625426AF8272}"/>
              </a:ext>
            </a:extLst>
          </p:cNvPr>
          <p:cNvSpPr txBox="1"/>
          <p:nvPr/>
        </p:nvSpPr>
        <p:spPr>
          <a:xfrm>
            <a:off x="5326948" y="3430599"/>
            <a:ext cx="67633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Master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Slave</a:t>
            </a:r>
            <a:r>
              <a:rPr kumimoji="1" lang="ko-KR" altLang="en-US" dirty="0"/>
              <a:t>가 오픈</a:t>
            </a:r>
            <a:r>
              <a:rPr kumimoji="1" lang="en-US" altLang="ko-KR" dirty="0"/>
              <a:t>-</a:t>
            </a:r>
            <a:r>
              <a:rPr kumimoji="1" lang="ko-KR" altLang="en-US" dirty="0" err="1"/>
              <a:t>드레인</a:t>
            </a:r>
            <a:r>
              <a:rPr kumimoji="1" lang="ko-KR" altLang="en-US" dirty="0"/>
              <a:t> 구조로 되어있어</a:t>
            </a:r>
            <a:br>
              <a:rPr kumimoji="1" lang="en-US" altLang="ko-KR" dirty="0"/>
            </a:br>
            <a:r>
              <a:rPr kumimoji="1" lang="en-US" altLang="ko-KR" dirty="0"/>
              <a:t>Pull-Up</a:t>
            </a:r>
            <a:r>
              <a:rPr kumimoji="1" lang="ko-KR" altLang="en-US" dirty="0"/>
              <a:t> 저항이 필수로 필요하다</a:t>
            </a:r>
            <a:r>
              <a:rPr kumimoji="1"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Pull-Up </a:t>
            </a:r>
            <a:r>
              <a:rPr kumimoji="1" lang="ko-KR" altLang="en-US" dirty="0"/>
              <a:t>저항의 값은 일반적으로 </a:t>
            </a:r>
            <a:r>
              <a:rPr kumimoji="1" lang="en-US" altLang="ko-KR" dirty="0"/>
              <a:t>4.7k</a:t>
            </a:r>
            <a:r>
              <a:rPr kumimoji="1" lang="ko-KR" altLang="en-US" dirty="0"/>
              <a:t> </a:t>
            </a:r>
            <a:r>
              <a:rPr kumimoji="1" lang="en-US" altLang="ko-KR" dirty="0"/>
              <a:t>ohm</a:t>
            </a:r>
            <a:r>
              <a:rPr kumimoji="1" lang="ko-KR" altLang="en-US" dirty="0"/>
              <a:t>을 사용하지만</a:t>
            </a:r>
            <a:r>
              <a:rPr kumimoji="1" lang="en-US" altLang="ko-KR" dirty="0"/>
              <a:t>,</a:t>
            </a:r>
            <a:br>
              <a:rPr kumimoji="1" lang="en-US" altLang="ko-KR" dirty="0"/>
            </a:br>
            <a:r>
              <a:rPr kumimoji="1" lang="ko-KR" altLang="en-US" dirty="0"/>
              <a:t>동작 속도와 신호선 거리의 따라 더 낮은 값을 사용하기도 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8877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22BB2-6F35-6E9E-34D4-CB1F52F0D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51CF95-A3BC-5E22-F011-0EB8E8B95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I2C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-4 I2C </a:t>
            </a:r>
            <a:r>
              <a:rPr lang="ko-KR" altLang="en-US" sz="2800" dirty="0"/>
              <a:t>통신 속도 규격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6AE7CE-D8B7-096A-1F4B-3DAA51365E2B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ABCCF9-3154-A23F-2349-FA0DBDD8D1E5}"/>
              </a:ext>
            </a:extLst>
          </p:cNvPr>
          <p:cNvSpPr txBox="1"/>
          <p:nvPr/>
        </p:nvSpPr>
        <p:spPr>
          <a:xfrm>
            <a:off x="5377695" y="34337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7F95954-2D0B-429F-A75C-110962AD3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798374"/>
              </p:ext>
            </p:extLst>
          </p:nvPr>
        </p:nvGraphicFramePr>
        <p:xfrm>
          <a:off x="2057582" y="3228172"/>
          <a:ext cx="8127999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4427116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1620464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175566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모드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최대 속도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용도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2147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Standard Mode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100 kbps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일반적인 저속 센서</a:t>
                      </a:r>
                      <a:r>
                        <a:rPr lang="en-US" altLang="ko-KR"/>
                        <a:t>, </a:t>
                      </a:r>
                      <a:r>
                        <a:rPr lang="en-US"/>
                        <a:t>EEPROM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9597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Fast Mode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400 kbps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빠른 응답이 필요한 센서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7679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Fast Mode Plus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 Mbps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고속 데이터 전송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761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 dirty="0"/>
                        <a:t>High-Speed Mode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3.4 Mbps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대용량 데이터 전송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2388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Ultra Fast Mode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5 Mbps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특수 응용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단방향 전용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5660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2136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AB01F-14A4-246D-B093-BC49C3DC3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8BC61F-F461-21D3-A72B-B5F49D530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I2C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-5 I2C </a:t>
            </a:r>
            <a:r>
              <a:rPr lang="ko-KR" altLang="en-US" sz="2800" dirty="0"/>
              <a:t>예약 주소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D897A6-6D2C-7A97-1EAE-7CB1FCE0966E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A56A7-F498-34CD-DFF9-BC0185534EC0}"/>
              </a:ext>
            </a:extLst>
          </p:cNvPr>
          <p:cNvSpPr txBox="1"/>
          <p:nvPr/>
        </p:nvSpPr>
        <p:spPr>
          <a:xfrm>
            <a:off x="5377695" y="34337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ECE90FE-599B-C1B5-34CE-EB94ADFBD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800756"/>
              </p:ext>
            </p:extLst>
          </p:nvPr>
        </p:nvGraphicFramePr>
        <p:xfrm>
          <a:off x="2032000" y="2958178"/>
          <a:ext cx="8127999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4427116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1620464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175566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주소 </a:t>
                      </a:r>
                      <a:r>
                        <a:rPr lang="en-US" altLang="ko-KR" dirty="0"/>
                        <a:t>(7-</a:t>
                      </a:r>
                      <a:r>
                        <a:rPr lang="en-US" dirty="0"/>
                        <a:t>bit)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비트 패턴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용도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2147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0x00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/>
                        <a:t>0000 000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General Call Address (</a:t>
                      </a:r>
                      <a:r>
                        <a:rPr lang="ko-KR" altLang="en-US"/>
                        <a:t>모든 </a:t>
                      </a:r>
                      <a:r>
                        <a:rPr lang="en-US"/>
                        <a:t>Slave </a:t>
                      </a:r>
                      <a:r>
                        <a:rPr lang="ko-KR" altLang="en-US"/>
                        <a:t>동시 호출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1326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0x01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/>
                        <a:t>0000 001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START byte (</a:t>
                      </a:r>
                      <a:r>
                        <a:rPr lang="ko-KR" altLang="en-US"/>
                        <a:t>폴링 방식 감지용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9597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0x02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/>
                        <a:t>0000 010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CBUS </a:t>
                      </a:r>
                      <a:r>
                        <a:rPr lang="ko-KR" altLang="en-US" dirty="0"/>
                        <a:t>호환성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7679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0x03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/>
                        <a:t>0000 011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다른 버스 형식용 예약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761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0x04~0x07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0000 1XX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High-Speed Mode Master </a:t>
                      </a:r>
                      <a:r>
                        <a:rPr lang="ko-KR" altLang="en-US" dirty="0"/>
                        <a:t>코드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2388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0x78~0x7F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1111 XXX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10-bit </a:t>
                      </a:r>
                      <a:r>
                        <a:rPr lang="ko-KR" altLang="en-US" dirty="0"/>
                        <a:t>주소 지정 및 예약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5660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0947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35A9C-E390-1C1C-2AA5-B8C8A8D79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B1AC9-C69C-B701-14EF-C4869A05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I2C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-6 SPI vs I2C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59ADC2-EAF6-4A5C-AABE-285896735788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222746-3382-559D-F885-61F393AC1548}"/>
              </a:ext>
            </a:extLst>
          </p:cNvPr>
          <p:cNvSpPr txBox="1"/>
          <p:nvPr/>
        </p:nvSpPr>
        <p:spPr>
          <a:xfrm>
            <a:off x="5377695" y="34337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2DB3502-B0AF-3EE8-95E8-7236DA63A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510762"/>
              </p:ext>
            </p:extLst>
          </p:nvPr>
        </p:nvGraphicFramePr>
        <p:xfrm>
          <a:off x="2032000" y="2671912"/>
          <a:ext cx="812799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90131064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2071382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614688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I2C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SPI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7041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필요 신호선 수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</a:t>
                      </a:r>
                      <a:r>
                        <a:rPr lang="en-US" altLang="ko-KR" dirty="0"/>
                        <a:t>(</a:t>
                      </a:r>
                      <a:r>
                        <a:rPr lang="en-US" dirty="0"/>
                        <a:t>SDA, SCL)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/>
                        <a:t>4</a:t>
                      </a:r>
                      <a:r>
                        <a:rPr lang="ko-KR" altLang="en-US"/>
                        <a:t>개 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MISO, MOSI, SCLK, SS)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335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통신 방식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Half Duplex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Full Duplex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17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/>
                        <a:t>속도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~5 Mbps (</a:t>
                      </a:r>
                      <a:r>
                        <a:rPr lang="ko-KR" altLang="en-US" dirty="0"/>
                        <a:t>최대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~50 Mbps </a:t>
                      </a:r>
                      <a:r>
                        <a:rPr lang="ko-KR" altLang="en-US"/>
                        <a:t>이상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797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/>
                        <a:t>장치 선택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주소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SS(Chip Select) </a:t>
                      </a:r>
                      <a:r>
                        <a:rPr lang="ko-KR" altLang="en-US"/>
                        <a:t>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584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/>
                        <a:t>다중 </a:t>
                      </a:r>
                      <a:r>
                        <a:rPr lang="en-US" b="1"/>
                        <a:t>Master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지원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복잡함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일반적으로 단일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7039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배선 복잡도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낮음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장치 증가해도 </a:t>
                      </a:r>
                      <a:r>
                        <a:rPr lang="en-US" altLang="ko-KR"/>
                        <a:t>2</a:t>
                      </a:r>
                      <a:r>
                        <a:rPr lang="ko-KR" altLang="en-US"/>
                        <a:t>개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높음 </a:t>
                      </a:r>
                      <a:r>
                        <a:rPr lang="en-US" altLang="ko-KR" dirty="0"/>
                        <a:t>(</a:t>
                      </a:r>
                      <a:r>
                        <a:rPr lang="en-US" dirty="0"/>
                        <a:t>Slave</a:t>
                      </a:r>
                      <a:r>
                        <a:rPr lang="ko-KR" altLang="en-US" dirty="0"/>
                        <a:t>마다 </a:t>
                      </a:r>
                      <a:r>
                        <a:rPr lang="en-US" dirty="0"/>
                        <a:t>SS </a:t>
                      </a:r>
                      <a:r>
                        <a:rPr lang="ko-KR" altLang="en-US" dirty="0"/>
                        <a:t>추가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8647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/>
                        <a:t>프로토콜 복잡도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높음 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ACK/NACK)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낮음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491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용도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센서</a:t>
                      </a:r>
                      <a:r>
                        <a:rPr lang="en-US" altLang="ko-KR"/>
                        <a:t>, </a:t>
                      </a:r>
                      <a:r>
                        <a:rPr lang="en-US"/>
                        <a:t>EEPROM, RTC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고속 메모리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디스플레이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2935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65796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91B4F-A0A6-A4D4-7006-69A22ED30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01DA3-5715-8BDA-E7CE-6963F4330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5. AS6221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5</a:t>
            </a:r>
            <a:r>
              <a:rPr lang="en-US" altLang="ko-KR" sz="2800" dirty="0"/>
              <a:t>-1 AS6221?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002C7-58A3-D746-D67C-6F254D838D90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940413-962E-9903-FC3D-2A4969ECD2A7}"/>
              </a:ext>
            </a:extLst>
          </p:cNvPr>
          <p:cNvSpPr txBox="1"/>
          <p:nvPr/>
        </p:nvSpPr>
        <p:spPr>
          <a:xfrm>
            <a:off x="5377695" y="34337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B51FBE-C6DB-F55F-9E76-BC07CE389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443" y="4075187"/>
            <a:ext cx="1478485" cy="1478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33AEFE-F36A-DF5D-8A4C-DD1378BE3A57}"/>
              </a:ext>
            </a:extLst>
          </p:cNvPr>
          <p:cNvSpPr txBox="1"/>
          <p:nvPr/>
        </p:nvSpPr>
        <p:spPr>
          <a:xfrm>
            <a:off x="484552" y="2469219"/>
            <a:ext cx="966662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개요</a:t>
            </a:r>
            <a:br>
              <a:rPr kumimoji="1" lang="en-US" altLang="ko-KR" dirty="0"/>
            </a:br>
            <a:r>
              <a:rPr kumimoji="1" lang="en-US" altLang="ko-KR" dirty="0" err="1"/>
              <a:t>ams</a:t>
            </a:r>
            <a:r>
              <a:rPr kumimoji="1" lang="en-US" altLang="ko-KR" dirty="0"/>
              <a:t>-OSRAM</a:t>
            </a:r>
            <a:r>
              <a:rPr kumimoji="1" lang="ko-KR" altLang="en-US" dirty="0"/>
              <a:t>에서 제조한 고정밀도 디지털 온도 센서로 내부에 </a:t>
            </a:r>
            <a:r>
              <a:rPr kumimoji="1" lang="en-US" altLang="ko-KR" dirty="0"/>
              <a:t>ADC,</a:t>
            </a:r>
            <a:r>
              <a:rPr kumimoji="1" lang="ko-KR" altLang="en-US" dirty="0"/>
              <a:t> </a:t>
            </a:r>
            <a:r>
              <a:rPr kumimoji="1" lang="en-US" altLang="ko-KR" dirty="0"/>
              <a:t>DSP</a:t>
            </a:r>
            <a:r>
              <a:rPr kumimoji="1" lang="ko-KR" altLang="en-US" dirty="0"/>
              <a:t>가 통합되어 있다</a:t>
            </a:r>
            <a:r>
              <a:rPr kumimoji="1"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온도측정 범위</a:t>
            </a:r>
            <a:br>
              <a:rPr kumimoji="1" lang="en-US" altLang="ko-KR" dirty="0"/>
            </a:br>
            <a:r>
              <a:rPr kumimoji="1" lang="en-US" altLang="ko-KR" dirty="0"/>
              <a:t>-40C ~ 125C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0128BB8-35E4-8338-E558-85BE4E26C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010" y="3803128"/>
            <a:ext cx="6414790" cy="202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2738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759E4-F96C-5017-B4B3-7A6ACFED8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D92AB0-2B69-A189-7075-01255948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5. AS6221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5</a:t>
            </a:r>
            <a:r>
              <a:rPr lang="en-US" altLang="ko-KR" sz="2800" dirty="0"/>
              <a:t>-2 AS6221</a:t>
            </a:r>
            <a:r>
              <a:rPr lang="ko-KR" altLang="en-US" sz="2800" dirty="0"/>
              <a:t> 온도 범위별 정확도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B50B78-2881-B997-7E59-2394E84820F1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AC17BE-6EC1-7D46-56BD-DD713730807E}"/>
              </a:ext>
            </a:extLst>
          </p:cNvPr>
          <p:cNvSpPr txBox="1"/>
          <p:nvPr/>
        </p:nvSpPr>
        <p:spPr>
          <a:xfrm>
            <a:off x="5377695" y="34337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9" name="그림 8" descr="텍스트, 영수증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2D6BB-7E98-3119-AD1F-D44199D1F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150" y="2760812"/>
            <a:ext cx="69977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6157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781C3-41B6-9308-8815-6D73762C5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52ED1-A443-494C-826B-8B6CE931E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5. AS6221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5</a:t>
            </a:r>
            <a:r>
              <a:rPr lang="en-US" altLang="ko-KR" sz="2800" dirty="0"/>
              <a:t>-3 I2C </a:t>
            </a:r>
            <a:r>
              <a:rPr lang="ko-KR" altLang="en-US" sz="2800" dirty="0"/>
              <a:t>통신 규격</a:t>
            </a:r>
            <a:r>
              <a:rPr lang="en-US" altLang="ko-KR" sz="2800" dirty="0"/>
              <a:t> #SCL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040F0D-ED2C-4D48-6BD8-7FFC2904C397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34C8C7-D17A-A872-5389-8F7C09EECF8A}"/>
              </a:ext>
            </a:extLst>
          </p:cNvPr>
          <p:cNvSpPr txBox="1"/>
          <p:nvPr/>
        </p:nvSpPr>
        <p:spPr>
          <a:xfrm>
            <a:off x="5377695" y="34337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206B737-D8FB-40EF-F7E5-6E6875D54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633812"/>
            <a:ext cx="6997700" cy="3683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124CA8F-998B-6909-1CBC-555052588F83}"/>
              </a:ext>
            </a:extLst>
          </p:cNvPr>
          <p:cNvSpPr/>
          <p:nvPr/>
        </p:nvSpPr>
        <p:spPr>
          <a:xfrm>
            <a:off x="567244" y="3619234"/>
            <a:ext cx="6677618" cy="28135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8EB84-E7F4-C32A-3543-6DCAAAF7FAD1}"/>
              </a:ext>
            </a:extLst>
          </p:cNvPr>
          <p:cNvSpPr txBox="1"/>
          <p:nvPr/>
        </p:nvSpPr>
        <p:spPr>
          <a:xfrm>
            <a:off x="7327555" y="3325091"/>
            <a:ext cx="45618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데이터시트를 참고 했을 때 </a:t>
            </a:r>
            <a:r>
              <a:rPr kumimoji="1" lang="en-US" altLang="ko-KR" dirty="0"/>
              <a:t>AS6221</a:t>
            </a:r>
            <a:r>
              <a:rPr kumimoji="1" lang="ko-KR" altLang="en-US" dirty="0"/>
              <a:t>은 </a:t>
            </a:r>
            <a:r>
              <a:rPr lang="en-US" altLang="ko-KR" dirty="0"/>
              <a:t>Standard Mode</a:t>
            </a:r>
            <a:r>
              <a:rPr lang="ko-KR" altLang="en-US" dirty="0"/>
              <a:t> </a:t>
            </a:r>
            <a:r>
              <a:rPr lang="en-US" altLang="ko-KR" dirty="0"/>
              <a:t>~</a:t>
            </a:r>
            <a:r>
              <a:rPr lang="ko-KR" altLang="en-US" dirty="0"/>
              <a:t> </a:t>
            </a:r>
            <a:r>
              <a:rPr lang="en-US" altLang="ko-KR" dirty="0"/>
              <a:t>HIGH Speed Mode</a:t>
            </a:r>
            <a:r>
              <a:rPr lang="ko-KR" altLang="en-US" dirty="0" err="1"/>
              <a:t>를</a:t>
            </a:r>
            <a:r>
              <a:rPr lang="ko-KR" altLang="en-US" dirty="0"/>
              <a:t> 지원 한다는 것을 알 수 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3624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F1D7C-81E9-721F-542C-5CA77EB6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11BD7-5EDA-8144-DEB4-8ECE55889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5. AS6221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5</a:t>
            </a:r>
            <a:r>
              <a:rPr lang="en-US" altLang="ko-KR" sz="2800" dirty="0"/>
              <a:t>-3 I2C </a:t>
            </a:r>
            <a:r>
              <a:rPr lang="ko-KR" altLang="en-US" sz="2800" dirty="0"/>
              <a:t>통신 규격</a:t>
            </a:r>
            <a:r>
              <a:rPr lang="en-US" altLang="ko-KR" sz="2800" dirty="0"/>
              <a:t> #Address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A548D-0373-C399-0895-10D0116F73F5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5663A9-4C1A-A2EA-D878-6399B9DA4487}"/>
              </a:ext>
            </a:extLst>
          </p:cNvPr>
          <p:cNvSpPr txBox="1"/>
          <p:nvPr/>
        </p:nvSpPr>
        <p:spPr>
          <a:xfrm>
            <a:off x="5377695" y="34337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3B37EA-A4DA-DF6E-ABB2-A3C385D379B3}"/>
              </a:ext>
            </a:extLst>
          </p:cNvPr>
          <p:cNvSpPr txBox="1"/>
          <p:nvPr/>
        </p:nvSpPr>
        <p:spPr>
          <a:xfrm>
            <a:off x="7333949" y="3156797"/>
            <a:ext cx="37219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최대 동일 버스 연결 가능 장치</a:t>
            </a:r>
            <a:br>
              <a:rPr lang="en-US" altLang="ko-KR" dirty="0"/>
            </a:br>
            <a:r>
              <a:rPr lang="en-US" altLang="ko-KR" dirty="0"/>
              <a:t>Alert </a:t>
            </a:r>
            <a:r>
              <a:rPr lang="ko-KR" altLang="en-US" dirty="0"/>
              <a:t>기능 사용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r>
              <a:rPr lang="ko-KR" altLang="en-US" dirty="0"/>
              <a:t>개</a:t>
            </a:r>
            <a:br>
              <a:rPr lang="en-US" altLang="ko-KR" dirty="0"/>
            </a:br>
            <a:r>
              <a:rPr lang="en-US" altLang="ko-KR" dirty="0"/>
              <a:t>Alert </a:t>
            </a:r>
            <a:r>
              <a:rPr lang="ko-KR" altLang="en-US" dirty="0"/>
              <a:t>기능 미사용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8</a:t>
            </a:r>
            <a:r>
              <a:rPr lang="ko-KR" altLang="en-US" dirty="0"/>
              <a:t>개</a:t>
            </a:r>
            <a:endParaRPr lang="en-US" altLang="ko-KR" dirty="0"/>
          </a:p>
        </p:txBody>
      </p:sp>
      <p:pic>
        <p:nvPicPr>
          <p:cNvPr id="9" name="그림 8" descr="텍스트, 번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269C27-BF28-8FA9-5D44-B22318B81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52" y="2668865"/>
            <a:ext cx="6625416" cy="370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9223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74E65-9A1B-9C86-E317-E47633F70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392540-ECB9-7000-9E62-31D5C84D5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5. AS6221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5</a:t>
            </a:r>
            <a:r>
              <a:rPr lang="en-US" altLang="ko-KR" sz="2800" dirty="0"/>
              <a:t>-4 Alert </a:t>
            </a:r>
            <a:r>
              <a:rPr lang="ko-KR" altLang="en-US" sz="2800" dirty="0"/>
              <a:t>기능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62B0E-DA86-89AE-2D54-8499BD719728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AD7741-035B-A8BF-F72C-45A3AD6430A1}"/>
              </a:ext>
            </a:extLst>
          </p:cNvPr>
          <p:cNvSpPr txBox="1"/>
          <p:nvPr/>
        </p:nvSpPr>
        <p:spPr>
          <a:xfrm>
            <a:off x="5377695" y="34337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976D9A-7844-DA60-B172-E4C535616ED5}"/>
              </a:ext>
            </a:extLst>
          </p:cNvPr>
          <p:cNvSpPr txBox="1"/>
          <p:nvPr/>
        </p:nvSpPr>
        <p:spPr>
          <a:xfrm>
            <a:off x="6096000" y="2967335"/>
            <a:ext cx="58257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AS6221 Alert </a:t>
            </a:r>
            <a:r>
              <a:rPr lang="ko-KR" altLang="en-US" dirty="0"/>
              <a:t>기능</a:t>
            </a:r>
            <a:br>
              <a:rPr lang="en-US" altLang="ko-KR" dirty="0"/>
            </a:br>
            <a:r>
              <a:rPr lang="ko-KR" altLang="en-US" dirty="0"/>
              <a:t>만약 변환 완료된 온도가 사전 설정된 </a:t>
            </a:r>
            <a:r>
              <a:rPr lang="en-US" altLang="ko-KR" dirty="0"/>
              <a:t>T_HIGH</a:t>
            </a:r>
            <a:r>
              <a:rPr lang="ko-KR" altLang="en-US" dirty="0" err="1"/>
              <a:t>를</a:t>
            </a:r>
            <a:r>
              <a:rPr lang="ko-KR" altLang="en-US" dirty="0"/>
              <a:t> 넘게 된다면 </a:t>
            </a:r>
            <a:r>
              <a:rPr lang="en-US" altLang="ko-KR" dirty="0"/>
              <a:t>GPIO</a:t>
            </a:r>
            <a:r>
              <a:rPr lang="ko-KR" altLang="en-US" dirty="0" err="1"/>
              <a:t>를</a:t>
            </a:r>
            <a:r>
              <a:rPr lang="ko-KR" altLang="en-US" dirty="0"/>
              <a:t> 통해 컨트롤러로 알려주는 기능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81380F-344A-F40F-BBB3-11C4D76E5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47" y="2735326"/>
            <a:ext cx="5525921" cy="375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198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D1F71-4243-4F29-A6CC-90371A4AD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059264-6013-6703-A9C0-9F56578D7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5. AS6221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5</a:t>
            </a:r>
            <a:r>
              <a:rPr lang="en-US" altLang="ko-KR" sz="2800" dirty="0"/>
              <a:t>-5 PINMAP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5D68E-7E8F-BE94-E0DC-5AB0D427ABF9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075B78-AA92-0EEF-53C3-4ED0DC2FBF94}"/>
              </a:ext>
            </a:extLst>
          </p:cNvPr>
          <p:cNvSpPr txBox="1"/>
          <p:nvPr/>
        </p:nvSpPr>
        <p:spPr>
          <a:xfrm>
            <a:off x="5377695" y="34337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A0203B-64F0-6932-F093-4D2C1E58B055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957FB6-EACA-A0C9-C47E-3318826D5123}"/>
              </a:ext>
            </a:extLst>
          </p:cNvPr>
          <p:cNvSpPr txBox="1"/>
          <p:nvPr/>
        </p:nvSpPr>
        <p:spPr>
          <a:xfrm>
            <a:off x="5377695" y="34337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40603C4-20A3-8997-8357-3FB25A201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450858"/>
            <a:ext cx="5820374" cy="4175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C580FE-BE9E-E24E-B7E7-4E80ACA984FD}"/>
              </a:ext>
            </a:extLst>
          </p:cNvPr>
          <p:cNvSpPr txBox="1"/>
          <p:nvPr/>
        </p:nvSpPr>
        <p:spPr>
          <a:xfrm>
            <a:off x="7134750" y="2450858"/>
            <a:ext cx="20362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I2C1_SCL:</a:t>
            </a:r>
            <a:r>
              <a:rPr kumimoji="1" lang="ko-KR" altLang="en-US" dirty="0"/>
              <a:t> </a:t>
            </a:r>
            <a:r>
              <a:rPr kumimoji="1" lang="en-US" altLang="ko-KR" dirty="0"/>
              <a:t>PB6</a:t>
            </a:r>
          </a:p>
          <a:p>
            <a:r>
              <a:rPr kumimoji="1" lang="en-US" altLang="ko-KR" dirty="0"/>
              <a:t>I2C1_SDA: PB7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Temp1 Alert: PD4</a:t>
            </a:r>
          </a:p>
          <a:p>
            <a:r>
              <a:rPr kumimoji="1" lang="en-US" altLang="ko-KR" dirty="0"/>
              <a:t>Temp2 Alert: PD5</a:t>
            </a:r>
          </a:p>
        </p:txBody>
      </p:sp>
    </p:spTree>
    <p:extLst>
      <p:ext uri="{BB962C8B-B14F-4D97-AF65-F5344CB8AC3E}">
        <p14:creationId xmlns:p14="http://schemas.microsoft.com/office/powerpoint/2010/main" val="2032024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2CAE9-64F7-4A19-AB23-8E5A35C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9E8F8C-669C-3C53-CA80-28ED99ACC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6.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6-1</a:t>
            </a:r>
            <a:r>
              <a:rPr lang="en-US" altLang="ko-KR" sz="2800" dirty="0"/>
              <a:t> </a:t>
            </a:r>
            <a:r>
              <a:rPr lang="en-US" altLang="ko-KR" sz="2800" dirty="0" err="1"/>
              <a:t>CubeMX</a:t>
            </a:r>
            <a:r>
              <a:rPr lang="en-US" altLang="ko-KR" sz="2800" dirty="0"/>
              <a:t> </a:t>
            </a:r>
            <a:r>
              <a:rPr lang="ko-KR" altLang="en-US" sz="2800" dirty="0"/>
              <a:t>설정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90F25-CEA1-E549-C662-C68DA8A0BA1C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C90EFD-F5B9-B03F-8626-FBEE37235A24}"/>
              </a:ext>
            </a:extLst>
          </p:cNvPr>
          <p:cNvSpPr txBox="1"/>
          <p:nvPr/>
        </p:nvSpPr>
        <p:spPr>
          <a:xfrm>
            <a:off x="5377695" y="34337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FD7F703-61A9-0797-C8E1-A5373E8B8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627750"/>
            <a:ext cx="3862048" cy="36951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0EE073-94FB-A4E1-309F-BC2820F33A02}"/>
              </a:ext>
            </a:extLst>
          </p:cNvPr>
          <p:cNvSpPr txBox="1"/>
          <p:nvPr/>
        </p:nvSpPr>
        <p:spPr>
          <a:xfrm>
            <a:off x="4681628" y="2627750"/>
            <a:ext cx="6454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AS6221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I2C 1</a:t>
            </a:r>
            <a:r>
              <a:rPr kumimoji="1" lang="ko-KR" altLang="en-US" dirty="0"/>
              <a:t>번에 연결되어 있으므로 </a:t>
            </a:r>
            <a:r>
              <a:rPr kumimoji="1" lang="en-US" altLang="ko-KR" dirty="0"/>
              <a:t>I2C 1</a:t>
            </a:r>
            <a:r>
              <a:rPr kumimoji="1" lang="ko-KR" altLang="en-US" dirty="0"/>
              <a:t>을 </a:t>
            </a:r>
            <a:r>
              <a:rPr kumimoji="1" lang="en-US" altLang="ko-KR" dirty="0" err="1"/>
              <a:t>FastMode</a:t>
            </a:r>
            <a:r>
              <a:rPr kumimoji="1" lang="ko-KR" altLang="en-US" dirty="0"/>
              <a:t>로</a:t>
            </a:r>
            <a:endParaRPr kumimoji="1" lang="en-US" altLang="ko-KR" dirty="0"/>
          </a:p>
          <a:p>
            <a:r>
              <a:rPr kumimoji="1" lang="ko-KR" altLang="en-US" dirty="0"/>
              <a:t>활성화 해준다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94518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BA1E2-4843-3453-9C3B-0DD866E7C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6" descr="회로판">
            <a:extLst>
              <a:ext uri="{FF2B5EF4-FFF2-40B4-BE49-F238E27FC236}">
                <a16:creationId xmlns:a16="http://schemas.microsoft.com/office/drawing/2014/main" id="{3D66C316-4A15-0C2C-ECA8-87D92DD79B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EAFD4EDB-36E0-FA4B-35C0-29693390714A}"/>
              </a:ext>
            </a:extLst>
          </p:cNvPr>
          <p:cNvSpPr/>
          <p:nvPr/>
        </p:nvSpPr>
        <p:spPr>
          <a:xfrm>
            <a:off x="0" y="0"/>
            <a:ext cx="12192000" cy="2295592"/>
          </a:xfrm>
          <a:prstGeom prst="rect">
            <a:avLst/>
          </a:prstGeom>
          <a:solidFill>
            <a:srgbClr val="4659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9F8BA0-8C47-7567-C109-749388124145}"/>
              </a:ext>
            </a:extLst>
          </p:cNvPr>
          <p:cNvSpPr txBox="1"/>
          <p:nvPr/>
        </p:nvSpPr>
        <p:spPr>
          <a:xfrm>
            <a:off x="5494308" y="240075"/>
            <a:ext cx="1203383" cy="1815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ko-KR" alt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1261341934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4107</TotalTime>
  <Words>1552</Words>
  <Application>Microsoft Macintosh PowerPoint</Application>
  <PresentationFormat>와이드스크린</PresentationFormat>
  <Paragraphs>185</Paragraphs>
  <Slides>35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0" baseType="lpstr">
      <vt:lpstr>맑은 고딕</vt:lpstr>
      <vt:lpstr>Arial</vt:lpstr>
      <vt:lpstr>Avenir Next LT Pro</vt:lpstr>
      <vt:lpstr>Bahnschrift</vt:lpstr>
      <vt:lpstr>MatrixVTI</vt:lpstr>
      <vt:lpstr>ARM Processor </vt:lpstr>
      <vt:lpstr>ARM Processor Seminar Roadmap</vt:lpstr>
      <vt:lpstr>PowerPoint 프레젠테이션</vt:lpstr>
      <vt:lpstr>1. SPI 1-0 MCU 내부 SPI 하드웨어</vt:lpstr>
      <vt:lpstr>1. SPI(Serial Peripheral Interface) 1-1 SPI 통신 프로토콜 개요</vt:lpstr>
      <vt:lpstr>1. SPI(Serial Peripheral Interface) 1-2 SPI 통신방식</vt:lpstr>
      <vt:lpstr>1. SPI(Serial Peripheral Interface) 1-2 전이중 통신</vt:lpstr>
      <vt:lpstr>1. SPI(Serial Peripheral Interface) 1-2 반이중 통신</vt:lpstr>
      <vt:lpstr>1. SPI(Serial Peripheral Interface) 1-2 그 외 통신 방법</vt:lpstr>
      <vt:lpstr>1. SPI(Serial Peripheral Interface) 1-3 Multi-slave 통신</vt:lpstr>
      <vt:lpstr>1. SPI(Serial Peripheral Interface) 1-4 SPI 통신 Mode</vt:lpstr>
      <vt:lpstr>2. VS1003B 2-1 VS1003B?</vt:lpstr>
      <vt:lpstr>2. VS1003B 2-2 SPI 통신 규격 #SCLK Frequency</vt:lpstr>
      <vt:lpstr>2. VS1003B 2-2 SPI 통신 규격 #SPI Mode</vt:lpstr>
      <vt:lpstr>2. VS1003B 2-3 PINMAP</vt:lpstr>
      <vt:lpstr>3. STM32CubeMX 3-1 CubeMX 설정</vt:lpstr>
      <vt:lpstr>3. STM32CubeMX 3-1 CubeMX 설정</vt:lpstr>
      <vt:lpstr>3. STM32CubeMX 3-1 CubeMX 설정</vt:lpstr>
      <vt:lpstr>3. STM32CubeMX 3-1 CubeMX 설정</vt:lpstr>
      <vt:lpstr>PowerPoint 프레젠테이션</vt:lpstr>
      <vt:lpstr>4. I2C 4-1 MCU 내부 I2C 하드웨어</vt:lpstr>
      <vt:lpstr>4. I2C 4-2 I2C 통신 프로토콜 개요</vt:lpstr>
      <vt:lpstr>4. I2C 4-3 I2C 통신 방식</vt:lpstr>
      <vt:lpstr>4. I2C 4-3 I2C 통신 방식</vt:lpstr>
      <vt:lpstr>4. I2C 4-4 I2C 통신 속도 규격</vt:lpstr>
      <vt:lpstr>4. I2C 4-5 I2C 예약 주소</vt:lpstr>
      <vt:lpstr>4. I2C 4-6 SPI vs I2C</vt:lpstr>
      <vt:lpstr>5. AS6221 5-1 AS6221?</vt:lpstr>
      <vt:lpstr>5. AS6221 5-2 AS6221 온도 범위별 정확도</vt:lpstr>
      <vt:lpstr>5. AS6221 5-3 I2C 통신 규격 #SCL</vt:lpstr>
      <vt:lpstr>5. AS6221 5-3 I2C 통신 규격 #Address</vt:lpstr>
      <vt:lpstr>5. AS6221 5-4 Alert 기능</vt:lpstr>
      <vt:lpstr>5. AS6221 5-5 PINMAP</vt:lpstr>
      <vt:lpstr>6. STM32CubeMX 6-1 CubeMX 설정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 Processor 세미나</dc:title>
  <dc:creator>mta</dc:creator>
  <cp:lastModifiedBy>mta</cp:lastModifiedBy>
  <cp:revision>1248</cp:revision>
  <dcterms:created xsi:type="dcterms:W3CDTF">2023-04-01T05:56:39Z</dcterms:created>
  <dcterms:modified xsi:type="dcterms:W3CDTF">2025-12-28T15:55:45Z</dcterms:modified>
</cp:coreProperties>
</file>