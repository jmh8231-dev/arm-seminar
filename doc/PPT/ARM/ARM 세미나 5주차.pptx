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23"/>
  </p:notesMasterIdLst>
  <p:sldIdLst>
    <p:sldId id="256" r:id="rId2"/>
    <p:sldId id="486" r:id="rId3"/>
    <p:sldId id="405" r:id="rId4"/>
    <p:sldId id="258" r:id="rId5"/>
    <p:sldId id="463" r:id="rId6"/>
    <p:sldId id="487" r:id="rId7"/>
    <p:sldId id="488" r:id="rId8"/>
    <p:sldId id="489" r:id="rId9"/>
    <p:sldId id="490" r:id="rId10"/>
    <p:sldId id="491" r:id="rId11"/>
    <p:sldId id="492" r:id="rId12"/>
    <p:sldId id="441" r:id="rId13"/>
    <p:sldId id="442" r:id="rId14"/>
    <p:sldId id="443" r:id="rId15"/>
    <p:sldId id="444" r:id="rId16"/>
    <p:sldId id="445" r:id="rId17"/>
    <p:sldId id="475" r:id="rId18"/>
    <p:sldId id="494" r:id="rId19"/>
    <p:sldId id="459" r:id="rId20"/>
    <p:sldId id="495" r:id="rId21"/>
    <p:sldId id="493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486"/>
            <p14:sldId id="405"/>
            <p14:sldId id="258"/>
            <p14:sldId id="463"/>
            <p14:sldId id="487"/>
            <p14:sldId id="488"/>
            <p14:sldId id="489"/>
            <p14:sldId id="490"/>
            <p14:sldId id="491"/>
            <p14:sldId id="492"/>
            <p14:sldId id="441"/>
            <p14:sldId id="442"/>
            <p14:sldId id="443"/>
            <p14:sldId id="444"/>
            <p14:sldId id="445"/>
            <p14:sldId id="475"/>
            <p14:sldId id="494"/>
            <p14:sldId id="459"/>
            <p14:sldId id="495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80" autoAdjust="0"/>
    <p:restoredTop sz="94641"/>
  </p:normalViewPr>
  <p:slideViewPr>
    <p:cSldViewPr snapToGrid="0">
      <p:cViewPr varScale="1">
        <p:scale>
          <a:sx n="146" d="100"/>
          <a:sy n="146" d="100"/>
        </p:scale>
        <p:origin x="17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8:00:32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2783 24575,'4'0'0,"4"0"0,7 0 0,12 0 0,7 0 0,1 0 0,-3 0 0,-13 0 0,-8-2 0,-7-1 0,-6-6 0,0-4 0,0-7 0,0-3 0,2 2 0,2-1 0,-2 2 0,2-3 0,0-5 0,0 4 0,0-2 0,0 8 0,0 1 0,-2 5 0,4 6 0,3 2 0,17 6 0,13 0 0,14 2 0,-2 0 0,-12-2 0,-16 0 0,-11-2 0,-6 0 0,3 2 0,0-2 0,-1 0 0,-1-8 0,-2-4 0,3-12 0,0-4 0,0-6 0,-2-3 0,-2-2 0,-4-2 0,2 2 0,-2 4 0,2 10 0,2 11 0,0 8 0,14 6 0,17-2 0,20 2 0,14-2 0,7 2 0,-6 2 0,-13-2 0,-24 0 0,-15 0 0,-16-4 0,4 0 0,-2-11 0,0-5 0,0-20 0,-4 0 0,-6-13 0,-1 4 0,-5 3 0,6 6 0,0 7 0,4 6 0,1 10 0,3 8 0,6 7 0,21-2 0,18 2 0,17-4 0,8 3 0,-14 2 0,-12 1 0,-20 0 0,-11 0 0,-3-2 0,-2 1 0,1-2 0,-3 0 0,-5-1 0,-1-2 0,0-4 0,0-8 0,-3-9 0,-5-11 0,-11-10 0,2-2 0,-3 5 0,9 14 0,7 15 0,10 9 0,19 3 0,22-3 0,33-3 0,9 3 0,-1-1 0,-29 3 0,-30 1 0,-20 0 0,-9-7 0,0-6 0,-4-12 0,2 2 0,-8-25 0,1 11 0,-1-12 0,4 22 0,4 15 0,11 11 0,33 3 0,19 2 0,22-4 0,-13 2 0,-28-1 0,-22 2 0,-15-1 0,-4-1 0,-1-1 0,0-5 0,-2-4 0,0-13 0,-4-9 0,0-7 0,-2 1 0,3 6 0,-2 9 0,6 7 0,-3 3 0,3 2 0,0 5 0,-1 0 0,4 6 0,9 1 0,15 2 0,26 0 0,16 0 0,10 0 0,-5 0 0,-17 0 0,-21 0 0,-16-1 0,-15-2 0,-4-1 0,2-9 0,-2-10 0,4-10 0,0-8 0,0 2 0,4 2 0,-2 4 0,0-3 0,2-3 0,0-6 0,-1 1 0,2 11 0,-5 14 0,0 14 0,0 5 0,7 2 0,15 0 0,17 2 0,10 2 0,-5-1 0,-11 0 0,-20-6 0,-8 0 0,-9-5 0,-6-7 0,-2-10 0,-10-10 0,0 3 0,2 0 0,10 19 0,6 2 0,26 7 0,16 0 0,25-2 0,12 1 0,-9 1 0,-13 2 0,-27 0 0,-18-1 0,-10-2 0,-2-3 0,-2 0 0,2-6 0,-5 1 0,2-8 0,-5 0 0,4-8 0,-2 2 0,3 1 0,3 10 0,8 5 0,10 8 0,7-2 0,5-1 0,0 0 0,-3 0 0,-9 2 0,1 0 0,-6 2 0,-3 0 0,-2 0 0,-6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2025. 11. 27.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53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27.11.2025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11/27/25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5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9D6E-6895-753C-64DD-F32DB029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3DA76-0C58-9379-6549-188F9BB48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ADC</a:t>
            </a:r>
            <a:r>
              <a:rPr lang="ko-KR" altLang="en-US" sz="2800" dirty="0">
                <a:latin typeface="+mn-lt"/>
              </a:rPr>
              <a:t>값에 따라서 </a:t>
            </a:r>
            <a:r>
              <a:rPr lang="en-US" altLang="ko-KR" sz="2800" dirty="0">
                <a:latin typeface="+mn-lt"/>
              </a:rPr>
              <a:t>LED</a:t>
            </a:r>
            <a:r>
              <a:rPr lang="ko-KR" altLang="en-US" sz="2800" dirty="0">
                <a:latin typeface="+mn-lt"/>
              </a:rPr>
              <a:t> 밝기 제어</a:t>
            </a:r>
            <a:r>
              <a:rPr lang="en-US" altLang="ko-KR" sz="2800" dirty="0">
                <a:latin typeface="+mn-lt"/>
              </a:rPr>
              <a:t>(DAC</a:t>
            </a:r>
            <a:r>
              <a:rPr lang="ko-KR" altLang="en-US" sz="2800" dirty="0">
                <a:latin typeface="+mn-lt"/>
              </a:rPr>
              <a:t> 방식</a:t>
            </a:r>
            <a:r>
              <a:rPr lang="en-US" altLang="ko-KR" sz="2800" dirty="0">
                <a:latin typeface="+mn-lt"/>
              </a:rPr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221DC-CFC0-CD8C-41FE-365463A5F6C1}"/>
              </a:ext>
            </a:extLst>
          </p:cNvPr>
          <p:cNvSpPr txBox="1"/>
          <p:nvPr/>
        </p:nvSpPr>
        <p:spPr>
          <a:xfrm>
            <a:off x="484552" y="3235700"/>
            <a:ext cx="10869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ADC(RV2 | PA2)</a:t>
            </a:r>
            <a:r>
              <a:rPr lang="ko-KR" altLang="en-US" dirty="0" err="1"/>
              <a:t>를</a:t>
            </a:r>
            <a:r>
              <a:rPr lang="ko-KR" altLang="en-US" dirty="0"/>
              <a:t> 읽어와서</a:t>
            </a:r>
            <a:r>
              <a:rPr lang="en-US" altLang="ko-KR" dirty="0"/>
              <a:t>(0~4095)</a:t>
            </a:r>
            <a:r>
              <a:rPr lang="ko-KR" altLang="en-US" dirty="0"/>
              <a:t> </a:t>
            </a:r>
            <a:r>
              <a:rPr lang="en-US" altLang="ko-KR" dirty="0"/>
              <a:t>DAC</a:t>
            </a:r>
            <a:r>
              <a:rPr lang="ko-KR" altLang="en-US" dirty="0" err="1"/>
              <a:t>에</a:t>
            </a:r>
            <a:r>
              <a:rPr lang="ko-KR" altLang="en-US" dirty="0"/>
              <a:t> 연결된 </a:t>
            </a:r>
            <a:r>
              <a:rPr lang="en-US" altLang="ko-KR" dirty="0"/>
              <a:t>LED </a:t>
            </a:r>
            <a:r>
              <a:rPr lang="ko-KR" altLang="en-US" dirty="0"/>
              <a:t>밝기를 제어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1788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ARM </a:t>
            </a:r>
            <a:r>
              <a:rPr lang="ko-KR" altLang="en-US" dirty="0"/>
              <a:t>프로세서 개요</a:t>
            </a:r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b="1" dirty="0"/>
              <a:t>2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147106" y="2531331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*</a:t>
            </a:r>
            <a:r>
              <a:rPr lang="en-US" dirty="0"/>
              <a:t>UART </a:t>
            </a:r>
            <a:r>
              <a:rPr lang="ko-KR" altLang="en-US" dirty="0"/>
              <a:t>통신</a:t>
            </a:r>
            <a:endParaRPr lang="ru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CLCD </a:t>
            </a:r>
            <a:r>
              <a:rPr lang="ko-KR" altLang="en-US" dirty="0"/>
              <a:t>출력</a:t>
            </a:r>
            <a:endParaRPr lang="en-US" altLang="ko-K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ADC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DAC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PWM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I2C</a:t>
            </a:r>
            <a:endParaRPr lang="ru-RU" altLang="ko-KR" dirty="0"/>
          </a:p>
          <a:p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dirty="0"/>
              <a:t>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50" y="465612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SPI</a:t>
            </a:r>
            <a:endParaRPr lang="ru-RU" altLang="ko-KR" dirty="0">
              <a:solidFill>
                <a:schemeClr val="accent1"/>
              </a:solidFill>
            </a:endParaRPr>
          </a:p>
          <a:p>
            <a:endParaRPr lang="ru-RU" altLang="ko-K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/>
          <a:lstStyle/>
          <a:p>
            <a:r>
              <a:rPr lang="en-US" dirty="0"/>
              <a:t>9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SDIO &amp; </a:t>
            </a:r>
            <a:r>
              <a:rPr lang="en-US" altLang="ko-KR" dirty="0" err="1"/>
              <a:t>Fatfs</a:t>
            </a:r>
            <a:endParaRPr lang="ru-RU" altLang="ko-KR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1456489" y="4399390"/>
            <a:ext cx="595872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*</a:t>
            </a:r>
            <a:r>
              <a:rPr lang="en-US" altLang="ko-KR" b="1" dirty="0"/>
              <a:t>Timer</a:t>
            </a:r>
            <a:endParaRPr lang="ru-RU" altLang="ko-KR" b="1" dirty="0"/>
          </a:p>
          <a:p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FF00B-D1F5-341B-BF95-B94155C8B634}"/>
              </a:ext>
            </a:extLst>
          </p:cNvPr>
          <p:cNvSpPr txBox="1"/>
          <p:nvPr/>
        </p:nvSpPr>
        <p:spPr>
          <a:xfrm>
            <a:off x="8669225" y="6530168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</a:t>
            </a:r>
            <a:r>
              <a:rPr lang="ko-KR" altLang="en-US" sz="1200" dirty="0"/>
              <a:t>  실무에 특화된 응용문제가 존재하는 </a:t>
            </a:r>
            <a:r>
              <a:rPr lang="ko-KR" altLang="en-US" sz="1200" dirty="0" err="1"/>
              <a:t>회차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A1F62A-1C74-8CF4-EF66-567DAD2C0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303" y="174109"/>
            <a:ext cx="5581654" cy="650978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657303" y="2880807"/>
            <a:ext cx="5465041" cy="34197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TIM </a:t>
            </a:r>
            <a:r>
              <a:rPr lang="ko-KR" altLang="en-US" sz="2800"/>
              <a:t>구성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75FD04F-494F-C1F7-A51B-45EB2E483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95" y="2835761"/>
            <a:ext cx="5870642" cy="32956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9A3EDE-5BCF-FB01-E7C7-F34A1A5D8FE2}"/>
              </a:ext>
            </a:extLst>
          </p:cNvPr>
          <p:cNvSpPr txBox="1"/>
          <p:nvPr/>
        </p:nvSpPr>
        <p:spPr>
          <a:xfrm>
            <a:off x="6676337" y="3244334"/>
            <a:ext cx="545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STM32F405</a:t>
            </a:r>
            <a:r>
              <a:rPr kumimoji="1" lang="ko-KR" altLang="en-US" dirty="0"/>
              <a:t>에는 아래와 표와 같이 </a:t>
            </a:r>
            <a:r>
              <a:rPr kumimoji="1" lang="en-US" altLang="ko-KR" dirty="0"/>
              <a:t>TIM</a:t>
            </a:r>
            <a:r>
              <a:rPr kumimoji="1" lang="ko-KR" altLang="en-US" dirty="0"/>
              <a:t>가 총 </a:t>
            </a:r>
            <a:r>
              <a:rPr kumimoji="1" lang="en-US" altLang="ko-KR" dirty="0"/>
              <a:t>14</a:t>
            </a:r>
            <a:r>
              <a:rPr kumimoji="1" lang="ko-KR" altLang="en-US" dirty="0"/>
              <a:t>개로</a:t>
            </a:r>
            <a:endParaRPr kumimoji="1" lang="en-US" altLang="ko-KR" dirty="0"/>
          </a:p>
          <a:p>
            <a:r>
              <a:rPr kumimoji="1" lang="ko-KR" altLang="en-US" dirty="0"/>
              <a:t>구성되어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0DB39A8-F24B-65C7-BC35-40284D00E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411" y="4095337"/>
            <a:ext cx="5339861" cy="119310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38CA58-33EC-25BD-82C6-1DAA6827C026}"/>
              </a:ext>
            </a:extLst>
          </p:cNvPr>
          <p:cNvSpPr/>
          <p:nvPr/>
        </p:nvSpPr>
        <p:spPr>
          <a:xfrm>
            <a:off x="3536107" y="4707543"/>
            <a:ext cx="991132" cy="45274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7044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4570-3493-49DA-C95B-137600AE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5C75F-9F05-E60C-C247-94DAD0BE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en-US" altLang="ko-KR" sz="2800" dirty="0"/>
              <a:t>APB(Advanced Peripheral Bus)</a:t>
            </a:r>
            <a:endParaRPr lang="ko-KR" altLang="en-US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9ECDD-967D-D391-414C-1EE899B0805C}"/>
              </a:ext>
            </a:extLst>
          </p:cNvPr>
          <p:cNvSpPr txBox="1"/>
          <p:nvPr/>
        </p:nvSpPr>
        <p:spPr>
          <a:xfrm>
            <a:off x="6096000" y="3628590"/>
            <a:ext cx="557966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/>
              <a:t>주의할 점은 </a:t>
            </a:r>
            <a:r>
              <a:rPr kumimoji="1" lang="en-US" altLang="ko-KR" sz="1400" dirty="0"/>
              <a:t>APB1, 2</a:t>
            </a:r>
            <a:r>
              <a:rPr kumimoji="1" lang="ko-KR" altLang="en-US" sz="1400" dirty="0"/>
              <a:t>의 </a:t>
            </a:r>
            <a:r>
              <a:rPr kumimoji="1" lang="en-US" altLang="ko-KR" sz="1400" dirty="0"/>
              <a:t>MAX CLK</a:t>
            </a:r>
            <a:r>
              <a:rPr kumimoji="1" lang="ko-KR" altLang="en-US" sz="1400" dirty="0"/>
              <a:t>는 각각 </a:t>
            </a:r>
            <a:r>
              <a:rPr kumimoji="1" lang="en-US" altLang="ko-KR" sz="1400" dirty="0"/>
              <a:t>42,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84MHz</a:t>
            </a:r>
          </a:p>
          <a:p>
            <a:r>
              <a:rPr kumimoji="1" lang="ko-KR" altLang="en-US" sz="1400" dirty="0"/>
              <a:t>이지만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TIM</a:t>
            </a:r>
            <a:r>
              <a:rPr kumimoji="1" lang="ko-KR" altLang="en-US" sz="1400" dirty="0" err="1"/>
              <a:t>에</a:t>
            </a:r>
            <a:r>
              <a:rPr kumimoji="1" lang="ko-KR" altLang="en-US" sz="1400" dirty="0"/>
              <a:t> 공급되는 </a:t>
            </a:r>
            <a:r>
              <a:rPr kumimoji="1" lang="en-US" altLang="ko-KR" sz="1400" dirty="0"/>
              <a:t>CLK</a:t>
            </a:r>
            <a:r>
              <a:rPr kumimoji="1" lang="ko-KR" altLang="en-US" sz="1400" dirty="0"/>
              <a:t>는 </a:t>
            </a:r>
            <a:r>
              <a:rPr kumimoji="1" lang="en-US" altLang="ko-KR" sz="1400" dirty="0"/>
              <a:t>2</a:t>
            </a:r>
            <a:r>
              <a:rPr kumimoji="1" lang="ko-KR" altLang="en-US" sz="1400" dirty="0"/>
              <a:t>배가 된다</a:t>
            </a:r>
            <a:r>
              <a:rPr kumimoji="1" lang="en-US" altLang="ko-KR" sz="1400" dirty="0"/>
              <a:t>.</a:t>
            </a:r>
          </a:p>
          <a:p>
            <a:endParaRPr kumimoji="1" lang="en-US" altLang="ko-KR" sz="1400" dirty="0"/>
          </a:p>
          <a:p>
            <a:r>
              <a:rPr kumimoji="1" lang="ko-KR" altLang="en-US" sz="1400" dirty="0"/>
              <a:t>따라서 </a:t>
            </a:r>
            <a:r>
              <a:rPr kumimoji="1" lang="en-US" altLang="ko-KR" sz="1400" dirty="0"/>
              <a:t>APB1</a:t>
            </a:r>
            <a:r>
              <a:rPr kumimoji="1" lang="ko-KR" altLang="en-US" sz="1400" dirty="0" err="1"/>
              <a:t>에</a:t>
            </a:r>
            <a:r>
              <a:rPr kumimoji="1" lang="ko-KR" altLang="en-US" sz="1400" dirty="0"/>
              <a:t> 연결된 </a:t>
            </a:r>
            <a:r>
              <a:rPr kumimoji="1" lang="en-US" altLang="ko-KR" sz="1400" dirty="0"/>
              <a:t>TIM</a:t>
            </a:r>
            <a:r>
              <a:rPr kumimoji="1" lang="ko-KR" altLang="en-US" sz="1400" dirty="0"/>
              <a:t>은 </a:t>
            </a:r>
            <a:r>
              <a:rPr kumimoji="1" lang="en-US" altLang="ko-KR" sz="1400" dirty="0"/>
              <a:t>84MHz APB2</a:t>
            </a:r>
            <a:r>
              <a:rPr kumimoji="1" lang="ko-KR" altLang="en-US" sz="1400" dirty="0" err="1"/>
              <a:t>에</a:t>
            </a:r>
            <a:r>
              <a:rPr kumimoji="1" lang="ko-KR" altLang="en-US" sz="1400" dirty="0"/>
              <a:t> 연결된 </a:t>
            </a:r>
            <a:r>
              <a:rPr kumimoji="1" lang="en-US" altLang="ko-KR" sz="1400" dirty="0"/>
              <a:t>TIM</a:t>
            </a:r>
            <a:r>
              <a:rPr kumimoji="1" lang="ko-KR" altLang="en-US" sz="1400" dirty="0"/>
              <a:t>은</a:t>
            </a:r>
            <a:r>
              <a:rPr kumimoji="1" lang="en-US" altLang="ko-KR" sz="1400" dirty="0"/>
              <a:t>168MHz</a:t>
            </a:r>
          </a:p>
          <a:p>
            <a:r>
              <a:rPr kumimoji="1" lang="ko-KR" altLang="en-US" sz="1400" dirty="0"/>
              <a:t>의 </a:t>
            </a:r>
            <a:r>
              <a:rPr kumimoji="1" lang="en-US" altLang="ko-KR" sz="1400" dirty="0"/>
              <a:t>MAX CLK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가지게 된다</a:t>
            </a:r>
            <a:r>
              <a:rPr kumimoji="1" lang="en-US" altLang="ko-KR" sz="1400" dirty="0"/>
              <a:t>.</a:t>
            </a:r>
            <a:endParaRPr kumimoji="1"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32BD3A-B654-4707-BEEB-A2E13FEEA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14" y="2606541"/>
            <a:ext cx="5339862" cy="382911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CAEB09-83AE-8873-1AD2-E228E99DE66D}"/>
              </a:ext>
            </a:extLst>
          </p:cNvPr>
          <p:cNvSpPr/>
          <p:nvPr/>
        </p:nvSpPr>
        <p:spPr>
          <a:xfrm>
            <a:off x="4405746" y="3881923"/>
            <a:ext cx="1457924" cy="21341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93F397-1947-1846-190F-F8727D8342D1}"/>
              </a:ext>
            </a:extLst>
          </p:cNvPr>
          <p:cNvSpPr/>
          <p:nvPr/>
        </p:nvSpPr>
        <p:spPr>
          <a:xfrm>
            <a:off x="4405746" y="4213366"/>
            <a:ext cx="1457924" cy="21341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3305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B2038-28F6-8BC2-B65B-FD6C0BEF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EC338-8B0A-4079-D71F-9CDD43198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Timer Type</a:t>
            </a:r>
            <a:r>
              <a:rPr lang="ko-KR" altLang="en-US" sz="2800" dirty="0"/>
              <a:t>의 의미</a:t>
            </a:r>
            <a:endParaRPr lang="ko-KR" altLang="en-US" dirty="0">
              <a:latin typeface="+mn-lt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34E6F2-594D-F6BE-1207-9618950B8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940008"/>
            <a:ext cx="4746197" cy="24478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2E9576-3154-6CA7-170A-975EED845751}"/>
              </a:ext>
            </a:extLst>
          </p:cNvPr>
          <p:cNvSpPr txBox="1"/>
          <p:nvPr/>
        </p:nvSpPr>
        <p:spPr>
          <a:xfrm>
            <a:off x="5345723" y="3040570"/>
            <a:ext cx="6748450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ko-KR" altLang="en-US" sz="1400" b="1" dirty="0"/>
              <a:t>범용</a:t>
            </a:r>
            <a:r>
              <a:rPr lang="en-US" altLang="ko-KR" sz="1400" b="1" dirty="0"/>
              <a:t>(General-Purpose) </a:t>
            </a:r>
            <a:r>
              <a:rPr lang="ko-KR" altLang="en-US" sz="1400" b="1" dirty="0"/>
              <a:t>타이머</a:t>
            </a:r>
            <a:endParaRPr lang="ko-KR" altLang="en-US" sz="1400" dirty="0"/>
          </a:p>
          <a:p>
            <a:pPr fontAlgn="base"/>
            <a:r>
              <a:rPr lang="ko-KR" altLang="en-US" sz="1400" dirty="0"/>
              <a:t>출력 비교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원펄스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입력캡쳐</a:t>
            </a:r>
            <a:r>
              <a:rPr lang="en-US" altLang="ko-KR" sz="1400" dirty="0"/>
              <a:t>, </a:t>
            </a:r>
            <a:r>
              <a:rPr lang="ko-KR" altLang="en-US" sz="1400" dirty="0"/>
              <a:t>센서 인터페이스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엔코더</a:t>
            </a:r>
            <a:r>
              <a:rPr lang="en-US" altLang="ko-KR" sz="1400" dirty="0"/>
              <a:t>, </a:t>
            </a:r>
            <a:r>
              <a:rPr lang="ko-KR" altLang="en-US" sz="1400" dirty="0"/>
              <a:t>홀 센서 등</a:t>
            </a:r>
            <a:r>
              <a:rPr lang="en-US" altLang="ko-KR" sz="1400" dirty="0"/>
              <a:t>) </a:t>
            </a:r>
            <a:r>
              <a:rPr lang="ko-KR" altLang="en-US" sz="1400" dirty="0"/>
              <a:t>등</a:t>
            </a:r>
            <a:endParaRPr lang="en-US" altLang="ko-KR" sz="1400" dirty="0"/>
          </a:p>
          <a:p>
            <a:pPr fontAlgn="base"/>
            <a:r>
              <a:rPr lang="ko-KR" altLang="en-US" sz="1400" dirty="0"/>
              <a:t>범용 용도로 사용할 수 있는 기능을 가지는 타이머</a:t>
            </a:r>
          </a:p>
          <a:p>
            <a:pPr fontAlgn="base"/>
            <a:r>
              <a:rPr lang="ko-KR" altLang="en-US" sz="1400" dirty="0"/>
              <a:t>​</a:t>
            </a:r>
          </a:p>
          <a:p>
            <a:pPr fontAlgn="base"/>
            <a:r>
              <a:rPr lang="ko-KR" altLang="en-US" sz="1400" b="1" dirty="0"/>
              <a:t>고급</a:t>
            </a:r>
            <a:r>
              <a:rPr lang="en-US" altLang="ko-KR" sz="1400" b="1" dirty="0"/>
              <a:t>(Advanced) </a:t>
            </a:r>
            <a:r>
              <a:rPr lang="ko-KR" altLang="en-US" sz="1400" b="1" dirty="0"/>
              <a:t>타이머</a:t>
            </a:r>
            <a:endParaRPr lang="ko-KR" altLang="en-US" sz="1400" dirty="0"/>
          </a:p>
          <a:p>
            <a:pPr fontAlgn="base"/>
            <a:r>
              <a:rPr lang="ko-KR" altLang="en-US" sz="1400" dirty="0"/>
              <a:t>범용 타이머보다 더 많은 기능을 가지는 타이머</a:t>
            </a:r>
            <a:r>
              <a:rPr lang="en-US" altLang="ko-KR" sz="1400" dirty="0"/>
              <a:t>, </a:t>
            </a:r>
            <a:r>
              <a:rPr lang="ko-KR" altLang="en-US" sz="1400" dirty="0"/>
              <a:t>주로 모터 제어와 디지털 파워 변환</a:t>
            </a:r>
            <a:endParaRPr lang="en-US" altLang="ko-KR" sz="1400" dirty="0"/>
          </a:p>
          <a:p>
            <a:pPr fontAlgn="base"/>
            <a:r>
              <a:rPr lang="ko-KR" altLang="en-US" sz="1400" dirty="0"/>
              <a:t>용도로 사용가능한 </a:t>
            </a:r>
            <a:r>
              <a:rPr lang="ko-KR" altLang="en-US" sz="1400" dirty="0" err="1"/>
              <a:t>데드타임을</a:t>
            </a:r>
            <a:r>
              <a:rPr lang="ko-KR" altLang="en-US" sz="1400" dirty="0"/>
              <a:t> 가지는 </a:t>
            </a:r>
            <a:r>
              <a:rPr lang="en-US" altLang="ko-KR" sz="1400" dirty="0"/>
              <a:t>3</a:t>
            </a:r>
            <a:r>
              <a:rPr lang="ko-KR" altLang="en-US" sz="1400" dirty="0"/>
              <a:t>상 출력</a:t>
            </a:r>
            <a:r>
              <a:rPr lang="en-US" altLang="ko-KR" sz="1400" dirty="0"/>
              <a:t>, </a:t>
            </a:r>
            <a:r>
              <a:rPr lang="ko-KR" altLang="en-US" sz="1400" dirty="0"/>
              <a:t>비상 </a:t>
            </a:r>
            <a:r>
              <a:rPr lang="ko-KR" altLang="en-US" sz="1400" dirty="0" err="1"/>
              <a:t>셧다운</a:t>
            </a:r>
            <a:r>
              <a:rPr lang="ko-KR" altLang="en-US" sz="1400" dirty="0"/>
              <a:t> 입력 등의 기능 추가됨</a:t>
            </a:r>
          </a:p>
          <a:p>
            <a:pPr fontAlgn="base"/>
            <a:r>
              <a:rPr lang="ko-KR" altLang="en-US" sz="1400" dirty="0"/>
              <a:t>​</a:t>
            </a:r>
          </a:p>
          <a:p>
            <a:pPr fontAlgn="base"/>
            <a:r>
              <a:rPr lang="ko-KR" altLang="en-US" sz="1400" b="1" dirty="0"/>
              <a:t>기본</a:t>
            </a:r>
            <a:r>
              <a:rPr lang="en-US" altLang="ko-KR" sz="1400" b="1" dirty="0"/>
              <a:t>(Basic) </a:t>
            </a:r>
            <a:r>
              <a:rPr lang="ko-KR" altLang="en-US" sz="1400" b="1" dirty="0"/>
              <a:t>타이머</a:t>
            </a:r>
            <a:endParaRPr lang="ko-KR" altLang="en-US" sz="1400" dirty="0"/>
          </a:p>
          <a:p>
            <a:pPr fontAlgn="base"/>
            <a:r>
              <a:rPr lang="ko-KR" altLang="en-US" sz="1400" dirty="0"/>
              <a:t>입출력 기능은 없고 시간기반 타이머</a:t>
            </a:r>
            <a:r>
              <a:rPr lang="en-US" altLang="ko-KR" sz="1400" dirty="0"/>
              <a:t>(</a:t>
            </a:r>
            <a:r>
              <a:rPr lang="en-US" altLang="ko-KR" sz="1400" dirty="0" err="1"/>
              <a:t>Timebase</a:t>
            </a:r>
            <a:r>
              <a:rPr lang="en-US" altLang="ko-KR" sz="1400" dirty="0"/>
              <a:t> Timer)</a:t>
            </a:r>
            <a:r>
              <a:rPr lang="ko-KR" altLang="en-US" sz="1400" dirty="0"/>
              <a:t> 혹은</a:t>
            </a:r>
            <a:endParaRPr lang="en-US" altLang="ko-KR" sz="1400" dirty="0"/>
          </a:p>
          <a:p>
            <a:pPr fontAlgn="base"/>
            <a:r>
              <a:rPr lang="ko-KR" altLang="en-US" sz="1400" dirty="0"/>
              <a:t>트리거 용도로만 사용되는 타이머</a:t>
            </a:r>
          </a:p>
        </p:txBody>
      </p:sp>
    </p:spTree>
    <p:extLst>
      <p:ext uri="{BB962C8B-B14F-4D97-AF65-F5344CB8AC3E}">
        <p14:creationId xmlns:p14="http://schemas.microsoft.com/office/powerpoint/2010/main" val="179496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1E637-43B9-2703-D96C-212ACE85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610A-DD2B-5924-03E9-72106BD5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-4</a:t>
            </a:r>
            <a:r>
              <a:rPr lang="ko-KR" altLang="en-US" sz="2800" dirty="0"/>
              <a:t> </a:t>
            </a:r>
            <a:r>
              <a:rPr lang="en-US" altLang="ko-KR" sz="2800" dirty="0"/>
              <a:t>Timer Resolution</a:t>
            </a:r>
            <a:r>
              <a:rPr lang="ko-KR" altLang="en-US" sz="2800" dirty="0"/>
              <a:t>의 의미</a:t>
            </a:r>
            <a:endParaRPr lang="ko-KR" altLang="en-US" dirty="0">
              <a:latin typeface="+mn-lt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320D0B-1B3D-E646-5380-8ACCAB2E1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940008"/>
            <a:ext cx="4746197" cy="2447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694BDC-7449-AFE4-2EF1-4FC90B486DE4}"/>
              </a:ext>
            </a:extLst>
          </p:cNvPr>
          <p:cNvSpPr txBox="1"/>
          <p:nvPr/>
        </p:nvSpPr>
        <p:spPr>
          <a:xfrm>
            <a:off x="645840" y="5505584"/>
            <a:ext cx="45849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b="1" dirty="0"/>
              <a:t>* </a:t>
            </a:r>
            <a:r>
              <a:rPr kumimoji="1" lang="ko-KR" altLang="en-US" sz="1050" b="1" dirty="0"/>
              <a:t>여기서 말하는 </a:t>
            </a:r>
            <a:r>
              <a:rPr lang="en-US" altLang="ko-KR" sz="1050" b="1" dirty="0"/>
              <a:t>Resolution (</a:t>
            </a:r>
            <a:r>
              <a:rPr lang="ko-KR" altLang="en-US" sz="1050" b="1" dirty="0"/>
              <a:t>해상도</a:t>
            </a:r>
            <a:r>
              <a:rPr lang="en-US" altLang="ko-KR" sz="1050" b="1" dirty="0"/>
              <a:t>): </a:t>
            </a:r>
            <a:r>
              <a:rPr lang="ko-KR" altLang="en-US" sz="1050" b="1" dirty="0"/>
              <a:t>카운터 레지스터</a:t>
            </a:r>
            <a:r>
              <a:rPr lang="en-US" altLang="ko-KR" sz="1050" b="1" dirty="0"/>
              <a:t>(CNT)</a:t>
            </a:r>
            <a:r>
              <a:rPr lang="ko-KR" altLang="en-US" sz="1050" b="1" dirty="0"/>
              <a:t>의 </a:t>
            </a:r>
            <a:r>
              <a:rPr lang="en-US" altLang="ko-KR" sz="1050" b="1" dirty="0"/>
              <a:t>Bit-width</a:t>
            </a:r>
            <a:endParaRPr kumimoji="1" lang="ko-KR" altLang="en-US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26FD2C-6919-E623-42C1-879DF57DE1EF}"/>
              </a:ext>
            </a:extLst>
          </p:cNvPr>
          <p:cNvSpPr txBox="1"/>
          <p:nvPr/>
        </p:nvSpPr>
        <p:spPr>
          <a:xfrm>
            <a:off x="5404335" y="3148292"/>
            <a:ext cx="60970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effectLst/>
                <a:latin typeface="Google Sans Text"/>
              </a:rPr>
              <a:t>16-bit </a:t>
            </a:r>
            <a:r>
              <a:rPr lang="ko-KR" altLang="en-US" sz="1400" b="1" dirty="0">
                <a:effectLst/>
                <a:latin typeface="Google Sans Text"/>
              </a:rPr>
              <a:t>해상도 </a:t>
            </a:r>
            <a:r>
              <a:rPr lang="en-US" altLang="ko-KR" sz="1400" b="1" dirty="0">
                <a:effectLst/>
                <a:latin typeface="Google Sans Text"/>
              </a:rPr>
              <a:t>(2^16)</a:t>
            </a:r>
            <a:endParaRPr lang="en-US" altLang="ko-KR" sz="1400" b="1" dirty="0">
              <a:latin typeface="Google Sans Text"/>
            </a:endParaRPr>
          </a:p>
          <a:p>
            <a:pPr>
              <a:buNone/>
            </a:pPr>
            <a:r>
              <a:rPr lang="ko-KR" altLang="en-US" sz="1400" dirty="0">
                <a:latin typeface="Google Sans Text"/>
              </a:rPr>
              <a:t>범위가 </a:t>
            </a:r>
            <a:r>
              <a:rPr lang="en-US" altLang="ko-KR" sz="1400" dirty="0">
                <a:effectLst/>
                <a:latin typeface="Google Sans Text"/>
              </a:rPr>
              <a:t>0 ~ 65,535</a:t>
            </a:r>
            <a:r>
              <a:rPr lang="ko-KR" altLang="en-US" sz="1400" dirty="0">
                <a:latin typeface="Google Sans Text"/>
              </a:rPr>
              <a:t>로 </a:t>
            </a:r>
            <a:r>
              <a:rPr lang="ko-KR" altLang="en-US" sz="1400" dirty="0">
                <a:effectLst/>
                <a:latin typeface="Google Sans Text"/>
              </a:rPr>
              <a:t>고속 클럭</a:t>
            </a:r>
            <a:r>
              <a:rPr lang="en-US" altLang="ko-KR" sz="1400" dirty="0">
                <a:effectLst/>
                <a:latin typeface="Google Sans Text"/>
              </a:rPr>
              <a:t>(</a:t>
            </a:r>
            <a:r>
              <a:rPr lang="ko-KR" altLang="en-US" sz="1400" dirty="0">
                <a:effectLst/>
                <a:latin typeface="Google Sans Text"/>
              </a:rPr>
              <a:t>예</a:t>
            </a:r>
            <a:r>
              <a:rPr lang="en-US" altLang="ko-KR" sz="1400" dirty="0">
                <a:effectLst/>
                <a:latin typeface="Google Sans Text"/>
              </a:rPr>
              <a:t>: 1MHz) </a:t>
            </a:r>
            <a:r>
              <a:rPr lang="ko-KR" altLang="en-US" sz="1400" dirty="0">
                <a:effectLst/>
                <a:latin typeface="Google Sans Text"/>
              </a:rPr>
              <a:t>사용 시 카운터가 금방 가득 차버린다</a:t>
            </a:r>
            <a:r>
              <a:rPr lang="en-US" altLang="ko-KR" sz="1400" dirty="0">
                <a:effectLst/>
                <a:latin typeface="Google Sans Text"/>
              </a:rPr>
              <a:t>(</a:t>
            </a:r>
            <a:r>
              <a:rPr lang="ko-KR" altLang="en-US" sz="1400" dirty="0">
                <a:effectLst/>
                <a:latin typeface="Google Sans Text"/>
              </a:rPr>
              <a:t>약 </a:t>
            </a:r>
            <a:r>
              <a:rPr lang="en-US" altLang="ko-KR" sz="1400" dirty="0">
                <a:effectLst/>
                <a:latin typeface="Google Sans Text"/>
              </a:rPr>
              <a:t>65ms). </a:t>
            </a:r>
            <a:r>
              <a:rPr lang="ko-KR" altLang="en-US" sz="1400" dirty="0">
                <a:effectLst/>
                <a:latin typeface="Google Sans Text"/>
              </a:rPr>
              <a:t>긴 시간을 측정하려면 </a:t>
            </a:r>
            <a:r>
              <a:rPr lang="ko-KR" altLang="en-US" sz="1400" dirty="0" err="1">
                <a:effectLst/>
                <a:latin typeface="Google Sans Text"/>
              </a:rPr>
              <a:t>프리스케일러</a:t>
            </a:r>
            <a:r>
              <a:rPr lang="en-US" altLang="ko-KR" sz="1400" dirty="0">
                <a:effectLst/>
                <a:latin typeface="Google Sans Text"/>
              </a:rPr>
              <a:t>(</a:t>
            </a:r>
            <a:r>
              <a:rPr lang="ko-KR" altLang="en-US" sz="1400" dirty="0" err="1">
                <a:effectLst/>
                <a:latin typeface="Google Sans Text"/>
              </a:rPr>
              <a:t>분주비</a:t>
            </a:r>
            <a:r>
              <a:rPr lang="en-US" altLang="ko-KR" sz="1400" dirty="0">
                <a:effectLst/>
                <a:latin typeface="Google Sans Text"/>
              </a:rPr>
              <a:t>)</a:t>
            </a:r>
            <a:r>
              <a:rPr lang="ko-KR" altLang="en-US" sz="1400" dirty="0" err="1">
                <a:effectLst/>
                <a:latin typeface="Google Sans Text"/>
              </a:rPr>
              <a:t>를</a:t>
            </a:r>
            <a:r>
              <a:rPr lang="ko-KR" altLang="en-US" sz="1400" dirty="0">
                <a:effectLst/>
                <a:latin typeface="Google Sans Text"/>
              </a:rPr>
              <a:t> 높여야 하므로 정밀도</a:t>
            </a:r>
            <a:r>
              <a:rPr lang="en-US" altLang="ko-KR" sz="1400" dirty="0">
                <a:effectLst/>
                <a:latin typeface="Google Sans Text"/>
              </a:rPr>
              <a:t>(</a:t>
            </a:r>
            <a:r>
              <a:rPr lang="ko-KR" altLang="en-US" sz="1400" dirty="0">
                <a:effectLst/>
                <a:latin typeface="Google Sans Text"/>
              </a:rPr>
              <a:t>시간 분해능</a:t>
            </a:r>
            <a:r>
              <a:rPr lang="en-US" altLang="ko-KR" sz="1400" dirty="0">
                <a:effectLst/>
                <a:latin typeface="Google Sans Text"/>
              </a:rPr>
              <a:t>)</a:t>
            </a:r>
            <a:r>
              <a:rPr lang="ko-KR" altLang="en-US" sz="1400" dirty="0">
                <a:effectLst/>
                <a:latin typeface="Google Sans Text"/>
              </a:rPr>
              <a:t>가 떨어지는 트레이드오프 발생</a:t>
            </a:r>
            <a:r>
              <a:rPr lang="en-US" altLang="ko-KR" sz="1400" dirty="0">
                <a:effectLst/>
                <a:latin typeface="Google Sans Text"/>
              </a:rPr>
              <a:t>.</a:t>
            </a:r>
          </a:p>
          <a:p>
            <a:pPr>
              <a:buNone/>
            </a:pPr>
            <a:endParaRPr lang="en-US" altLang="ko-KR" sz="1400" dirty="0">
              <a:effectLst/>
              <a:latin typeface="Google Sans Text"/>
            </a:endParaRPr>
          </a:p>
          <a:p>
            <a:pPr>
              <a:buNone/>
            </a:pPr>
            <a:r>
              <a:rPr lang="en-US" altLang="ko-KR" sz="1400" b="1" dirty="0">
                <a:effectLst/>
                <a:latin typeface="Google Sans Text"/>
              </a:rPr>
              <a:t>32-bit </a:t>
            </a:r>
            <a:r>
              <a:rPr lang="ko-KR" altLang="en-US" sz="1400" b="1" dirty="0">
                <a:effectLst/>
                <a:latin typeface="Google Sans Text"/>
              </a:rPr>
              <a:t>해상도 </a:t>
            </a:r>
            <a:r>
              <a:rPr lang="en-US" altLang="ko-KR" sz="1400" b="1" dirty="0">
                <a:effectLst/>
                <a:latin typeface="Google Sans Text"/>
              </a:rPr>
              <a:t>(2^32)</a:t>
            </a:r>
            <a:endParaRPr lang="ko-KR" altLang="en-US" sz="1400" b="1" dirty="0">
              <a:effectLst/>
              <a:latin typeface="Google Sans Text"/>
            </a:endParaRPr>
          </a:p>
          <a:p>
            <a:r>
              <a:rPr lang="ko-KR" altLang="en-US" sz="1400" dirty="0">
                <a:latin typeface="Google Sans Text"/>
              </a:rPr>
              <a:t>범위가 </a:t>
            </a:r>
            <a:r>
              <a:rPr lang="en-US" altLang="ko-KR" sz="1400" dirty="0">
                <a:effectLst/>
                <a:latin typeface="Google Sans Text"/>
              </a:rPr>
              <a:t>0 ~ 4,294,967,295</a:t>
            </a:r>
            <a:r>
              <a:rPr lang="ko-KR" altLang="en-US" sz="1400" dirty="0">
                <a:effectLst/>
                <a:latin typeface="Google Sans Text"/>
              </a:rPr>
              <a:t>로</a:t>
            </a:r>
            <a:r>
              <a:rPr lang="ko-KR" altLang="en-US" sz="1400" dirty="0">
                <a:latin typeface="Google Sans Text"/>
              </a:rPr>
              <a:t> </a:t>
            </a:r>
            <a:r>
              <a:rPr lang="ko-KR" altLang="en-US" sz="1400" dirty="0" err="1">
                <a:effectLst/>
                <a:latin typeface="Google Sans Text"/>
              </a:rPr>
              <a:t>프리스케일러를</a:t>
            </a:r>
            <a:r>
              <a:rPr lang="ko-KR" altLang="en-US" sz="1400" dirty="0">
                <a:effectLst/>
                <a:latin typeface="Google Sans Text"/>
              </a:rPr>
              <a:t> </a:t>
            </a:r>
            <a:r>
              <a:rPr lang="en-US" altLang="ko-KR" sz="1400" dirty="0">
                <a:effectLst/>
                <a:latin typeface="Google Sans Text"/>
              </a:rPr>
              <a:t>1</a:t>
            </a:r>
            <a:r>
              <a:rPr lang="ko-KR" altLang="en-US" sz="1400" dirty="0">
                <a:effectLst/>
                <a:latin typeface="Google Sans Text"/>
              </a:rPr>
              <a:t>로 설정하여 최고의 정밀도를 유지하면서도 장시간</a:t>
            </a:r>
            <a:r>
              <a:rPr lang="en-US" altLang="ko-KR" sz="1400" dirty="0">
                <a:effectLst/>
                <a:latin typeface="Google Sans Text"/>
              </a:rPr>
              <a:t>(</a:t>
            </a:r>
            <a:r>
              <a:rPr lang="ko-KR" altLang="en-US" sz="1400" dirty="0">
                <a:effectLst/>
                <a:latin typeface="Google Sans Text"/>
              </a:rPr>
              <a:t>수십 분 이상</a:t>
            </a:r>
            <a:r>
              <a:rPr lang="en-US" altLang="ko-KR" sz="1400" dirty="0">
                <a:effectLst/>
                <a:latin typeface="Google Sans Text"/>
              </a:rPr>
              <a:t>) </a:t>
            </a:r>
            <a:r>
              <a:rPr lang="ko-KR" altLang="en-US" sz="1400" dirty="0" err="1">
                <a:effectLst/>
                <a:latin typeface="Google Sans Text"/>
              </a:rPr>
              <a:t>오버플로우</a:t>
            </a:r>
            <a:r>
              <a:rPr lang="ko-KR" altLang="en-US" sz="1400" dirty="0">
                <a:effectLst/>
                <a:latin typeface="Google Sans Text"/>
              </a:rPr>
              <a:t> 없이 계측 가능</a:t>
            </a:r>
            <a:r>
              <a:rPr lang="en-US" altLang="ko-KR" sz="1400" dirty="0">
                <a:effectLst/>
                <a:latin typeface="Google Sans Text"/>
              </a:rPr>
              <a:t>.</a:t>
            </a:r>
            <a:r>
              <a:rPr lang="ko-KR" altLang="en-US" sz="1400" dirty="0">
                <a:effectLst/>
                <a:latin typeface="Google Sans Text"/>
              </a:rPr>
              <a:t> 넓은 동적 범위</a:t>
            </a:r>
            <a:r>
              <a:rPr lang="en-US" altLang="ko-KR" sz="1400" dirty="0">
                <a:effectLst/>
                <a:latin typeface="Google Sans Text"/>
              </a:rPr>
              <a:t>(Dynamic Range)</a:t>
            </a:r>
            <a:r>
              <a:rPr lang="ko-KR" altLang="en-US" sz="1400" dirty="0">
                <a:effectLst/>
                <a:latin typeface="Google Sans Text"/>
              </a:rPr>
              <a:t>가 필요한 </a:t>
            </a:r>
            <a:r>
              <a:rPr lang="ko-KR" altLang="en-US" sz="1400" dirty="0" err="1">
                <a:effectLst/>
                <a:latin typeface="Google Sans Text"/>
              </a:rPr>
              <a:t>엔코더</a:t>
            </a:r>
            <a:r>
              <a:rPr lang="ko-KR" altLang="en-US" sz="1400" dirty="0">
                <a:effectLst/>
                <a:latin typeface="Google Sans Text"/>
              </a:rPr>
              <a:t> 위치 제어나 정밀 펄스 측정에 필수적</a:t>
            </a:r>
            <a:r>
              <a:rPr lang="en-US" altLang="ko-KR" sz="1400" dirty="0">
                <a:effectLst/>
                <a:latin typeface="Google San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3064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9499-DED1-100A-2275-FD6F4274B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9CB92-4182-715D-C3F7-A4A05476A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-5</a:t>
            </a:r>
            <a:r>
              <a:rPr lang="ko-KR" altLang="en-US" sz="2800" dirty="0"/>
              <a:t> </a:t>
            </a:r>
            <a:r>
              <a:rPr lang="en-US" altLang="ko-KR" sz="2800" dirty="0"/>
              <a:t>Timer </a:t>
            </a:r>
            <a:r>
              <a:rPr lang="ko-KR" altLang="en-US" sz="2800" dirty="0"/>
              <a:t>업데이트 이벤트 발생 원리</a:t>
            </a:r>
            <a:endParaRPr lang="ko-KR" altLang="en-US" dirty="0">
              <a:latin typeface="+mn-lt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132397-A6C4-3195-77AA-E360C8B80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976" y="2874075"/>
            <a:ext cx="7772400" cy="3618800"/>
          </a:xfrm>
          <a:prstGeom prst="rect">
            <a:avLst/>
          </a:prstGeom>
        </p:spPr>
      </p:pic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2EE18701-5E05-D234-707E-5B81BC9EF342}"/>
              </a:ext>
            </a:extLst>
          </p:cNvPr>
          <p:cNvCxnSpPr/>
          <p:nvPr/>
        </p:nvCxnSpPr>
        <p:spPr>
          <a:xfrm>
            <a:off x="2359535" y="4380168"/>
            <a:ext cx="565265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B3EEBBE-59A1-1499-F9A6-79B29A2CFE59}"/>
              </a:ext>
            </a:extLst>
          </p:cNvPr>
          <p:cNvSpPr txBox="1"/>
          <p:nvPr/>
        </p:nvSpPr>
        <p:spPr>
          <a:xfrm>
            <a:off x="5997952" y="2982033"/>
            <a:ext cx="27334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TCNT</a:t>
            </a:r>
            <a:r>
              <a:rPr kumimoji="1" lang="ko-KR" altLang="en-US" sz="1050" dirty="0"/>
              <a:t> </a:t>
            </a:r>
            <a:r>
              <a:rPr kumimoji="1" lang="en-US" altLang="ko-KR" sz="1050" dirty="0"/>
              <a:t>=</a:t>
            </a:r>
            <a:r>
              <a:rPr kumimoji="1" lang="ko-KR" altLang="en-US" sz="1050" dirty="0"/>
              <a:t> </a:t>
            </a:r>
            <a:r>
              <a:rPr kumimoji="1" lang="en-US" altLang="ko-KR" sz="1050" dirty="0"/>
              <a:t>top</a:t>
            </a:r>
            <a:r>
              <a:rPr kumimoji="1" lang="ko-KR" altLang="en-US" sz="1050" dirty="0"/>
              <a:t>가 된다면 </a:t>
            </a:r>
            <a:r>
              <a:rPr kumimoji="1" lang="en-US" altLang="ko-KR" sz="1050" dirty="0"/>
              <a:t>0</a:t>
            </a:r>
            <a:r>
              <a:rPr kumimoji="1" lang="ko-KR" altLang="en-US" sz="1050" dirty="0" err="1"/>
              <a:t>부터</a:t>
            </a:r>
            <a:r>
              <a:rPr kumimoji="1" lang="ko-KR" altLang="en-US" sz="1050" dirty="0"/>
              <a:t> 다시 증가한다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92DADF-D649-F8C0-273C-C0624EE23E3F}"/>
              </a:ext>
            </a:extLst>
          </p:cNvPr>
          <p:cNvSpPr txBox="1"/>
          <p:nvPr/>
        </p:nvSpPr>
        <p:spPr>
          <a:xfrm>
            <a:off x="484552" y="2477832"/>
            <a:ext cx="2984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/>
              <a:t>ARR(Auto Reload Register)</a:t>
            </a:r>
          </a:p>
          <a:p>
            <a:r>
              <a:rPr kumimoji="1" lang="en-US" altLang="ko-KR" sz="1200" dirty="0"/>
              <a:t>=</a:t>
            </a:r>
            <a:r>
              <a:rPr kumimoji="1" lang="ko-KR" altLang="en-US" sz="1200" dirty="0"/>
              <a:t> </a:t>
            </a:r>
            <a:r>
              <a:rPr lang="en-US" altLang="ko-KR" sz="1200" dirty="0"/>
              <a:t>Counter Period</a:t>
            </a:r>
            <a:endParaRPr kumimoji="1"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52C951-8EBA-6F6E-9261-51FD77FFFE12}"/>
              </a:ext>
            </a:extLst>
          </p:cNvPr>
          <p:cNvSpPr txBox="1"/>
          <p:nvPr/>
        </p:nvSpPr>
        <p:spPr>
          <a:xfrm>
            <a:off x="4214480" y="2589618"/>
            <a:ext cx="1418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16bit: 65535</a:t>
            </a:r>
          </a:p>
          <a:p>
            <a:r>
              <a:rPr kumimoji="1" lang="en-US" altLang="ko-KR" sz="1200" dirty="0"/>
              <a:t>32bit: </a:t>
            </a:r>
            <a:r>
              <a:rPr lang="en-US" altLang="ko-KR" sz="1200" dirty="0">
                <a:latin typeface="Google Sans Text"/>
              </a:rPr>
              <a:t>4294967295</a:t>
            </a:r>
            <a:endParaRPr kumimoji="1"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37FD49-792C-B63B-9F7B-23C14F8481F5}"/>
              </a:ext>
            </a:extLst>
          </p:cNvPr>
          <p:cNvSpPr txBox="1"/>
          <p:nvPr/>
        </p:nvSpPr>
        <p:spPr>
          <a:xfrm>
            <a:off x="844704" y="4168583"/>
            <a:ext cx="1481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If ARR = 200</a:t>
            </a:r>
            <a:endParaRPr kumimoji="1" lang="ko-KR" altLang="en-US" dirty="0"/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6DD0F1D4-9052-CD00-FC8A-44114DF61475}"/>
              </a:ext>
            </a:extLst>
          </p:cNvPr>
          <p:cNvCxnSpPr/>
          <p:nvPr/>
        </p:nvCxnSpPr>
        <p:spPr>
          <a:xfrm>
            <a:off x="4149969" y="4380168"/>
            <a:ext cx="0" cy="1003922"/>
          </a:xfrm>
          <a:prstGeom prst="line">
            <a:avLst/>
          </a:prstGeom>
          <a:ln w="317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7B7EE18-C2C1-D924-0A0D-7F63A9E59D9F}"/>
              </a:ext>
            </a:extLst>
          </p:cNvPr>
          <p:cNvSpPr txBox="1"/>
          <p:nvPr/>
        </p:nvSpPr>
        <p:spPr>
          <a:xfrm>
            <a:off x="3999677" y="5431790"/>
            <a:ext cx="16337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이때 이벤트가 발생한다</a:t>
            </a:r>
            <a:r>
              <a:rPr kumimoji="1" lang="en-US" altLang="ko-KR" sz="1050" dirty="0"/>
              <a:t>.</a:t>
            </a:r>
            <a:endParaRPr kumimoji="1" lang="ko-KR" altLang="en-US" sz="1050" dirty="0"/>
          </a:p>
        </p:txBody>
      </p: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27BC522A-F9C2-95FB-9DC3-E94F71EEA8D9}"/>
              </a:ext>
            </a:extLst>
          </p:cNvPr>
          <p:cNvCxnSpPr/>
          <p:nvPr/>
        </p:nvCxnSpPr>
        <p:spPr>
          <a:xfrm>
            <a:off x="5248938" y="4380168"/>
            <a:ext cx="0" cy="1003922"/>
          </a:xfrm>
          <a:prstGeom prst="line">
            <a:avLst/>
          </a:prstGeom>
          <a:ln w="317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990159A6-09E5-C66E-6987-BDD4A7084272}"/>
                  </a:ext>
                </a:extLst>
              </p14:cNvPr>
              <p14:cNvContentPartPr/>
              <p14:nvPr/>
            </p14:nvContentPartPr>
            <p14:xfrm>
              <a:off x="4143378" y="4399369"/>
              <a:ext cx="1105560" cy="100188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990159A6-09E5-C66E-6987-BDD4A70842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7258" y="4393249"/>
                <a:ext cx="1117800" cy="101412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72855689-2C93-1600-E580-3F49F1FF8E2A}"/>
              </a:ext>
            </a:extLst>
          </p:cNvPr>
          <p:cNvSpPr txBox="1"/>
          <p:nvPr/>
        </p:nvSpPr>
        <p:spPr>
          <a:xfrm>
            <a:off x="8477321" y="3937750"/>
            <a:ext cx="36700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만약 </a:t>
            </a:r>
            <a:r>
              <a:rPr kumimoji="1" lang="en-US" altLang="ko-KR" sz="1200" dirty="0"/>
              <a:t>ARR</a:t>
            </a:r>
            <a:r>
              <a:rPr kumimoji="1" lang="ko-KR" altLang="en-US" sz="1200" dirty="0"/>
              <a:t>만 사용한다면 너무 빠른 주기를 가지므로</a:t>
            </a:r>
            <a:r>
              <a:rPr kumimoji="1" lang="en-US" altLang="ko-KR" sz="1200" dirty="0"/>
              <a:t>,</a:t>
            </a:r>
          </a:p>
          <a:p>
            <a:r>
              <a:rPr kumimoji="1" lang="en-US" altLang="ko-KR" sz="1200" dirty="0" err="1"/>
              <a:t>Prescaler</a:t>
            </a:r>
            <a:r>
              <a:rPr kumimoji="1" lang="ko-KR" altLang="en-US" sz="1200" dirty="0" err="1"/>
              <a:t>를</a:t>
            </a:r>
            <a:r>
              <a:rPr kumimoji="1" lang="ko-KR" altLang="en-US" sz="1200" dirty="0"/>
              <a:t> 사용해서 주기를 조절하게 된다</a:t>
            </a:r>
            <a:r>
              <a:rPr kumimoji="1" lang="en-US" altLang="ko-KR" sz="1200" dirty="0"/>
              <a:t>.</a:t>
            </a:r>
            <a:endParaRPr kumimoji="1"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883ACB-DDCB-F2A7-6AB3-C8D46EEFB709}"/>
              </a:ext>
            </a:extLst>
          </p:cNvPr>
          <p:cNvSpPr txBox="1"/>
          <p:nvPr/>
        </p:nvSpPr>
        <p:spPr>
          <a:xfrm>
            <a:off x="5500993" y="5954991"/>
            <a:ext cx="43043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b="1" dirty="0"/>
              <a:t>*</a:t>
            </a:r>
            <a:r>
              <a:rPr kumimoji="1" lang="ko-KR" altLang="en-US" sz="1050" b="1" dirty="0"/>
              <a:t> </a:t>
            </a:r>
            <a:r>
              <a:rPr kumimoji="1" lang="en-US" altLang="ko-KR" sz="1050" b="1" dirty="0"/>
              <a:t>TCNT</a:t>
            </a:r>
            <a:r>
              <a:rPr kumimoji="1" lang="ko-KR" altLang="en-US" sz="1050" b="1" dirty="0"/>
              <a:t>는 </a:t>
            </a:r>
            <a:r>
              <a:rPr kumimoji="1" lang="en-US" altLang="ko-KR" sz="1050" b="1" dirty="0"/>
              <a:t>0</a:t>
            </a:r>
            <a:r>
              <a:rPr kumimoji="1" lang="ko-KR" altLang="en-US" sz="1050" b="1" dirty="0" err="1"/>
              <a:t>부터</a:t>
            </a:r>
            <a:r>
              <a:rPr kumimoji="1" lang="ko-KR" altLang="en-US" sz="1050" b="1" dirty="0"/>
              <a:t> 증가하므로 </a:t>
            </a:r>
            <a:r>
              <a:rPr kumimoji="1" lang="en-US" altLang="ko-KR" sz="1050" b="1" dirty="0"/>
              <a:t>ARR</a:t>
            </a:r>
            <a:r>
              <a:rPr kumimoji="1" lang="ko-KR" altLang="en-US" sz="1050" b="1" dirty="0"/>
              <a:t>의 값을 설정할 때 </a:t>
            </a:r>
            <a:r>
              <a:rPr kumimoji="1" lang="en-US" altLang="ko-KR" sz="1050" b="1" dirty="0"/>
              <a:t>-1</a:t>
            </a:r>
            <a:r>
              <a:rPr kumimoji="1" lang="ko-KR" altLang="en-US" sz="1050" b="1" dirty="0"/>
              <a:t>을 해줘야 한다</a:t>
            </a:r>
            <a:r>
              <a:rPr kumimoji="1" lang="en-US" altLang="ko-KR" sz="1050" b="1" dirty="0"/>
              <a:t>.</a:t>
            </a:r>
            <a:endParaRPr kumimoji="1"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190085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2FA5-DF9D-4356-0255-764D666B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9CD41-46D5-A272-AA65-0DECCF183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-6</a:t>
            </a:r>
            <a:r>
              <a:rPr lang="ko-KR" altLang="en-US" sz="2800" dirty="0"/>
              <a:t> </a:t>
            </a:r>
            <a:r>
              <a:rPr lang="en-US" altLang="ko-KR" sz="2800" dirty="0"/>
              <a:t>Timer </a:t>
            </a:r>
            <a:r>
              <a:rPr lang="ko-KR" altLang="en-US" sz="2800" dirty="0"/>
              <a:t>주기 계산법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D371E5-519B-1F84-8A7A-5E469530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645862"/>
            <a:ext cx="48641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2EE0B0-6CE5-24F1-39F6-B1EA27774C67}"/>
              </a:ext>
            </a:extLst>
          </p:cNvPr>
          <p:cNvSpPr txBox="1"/>
          <p:nvPr/>
        </p:nvSpPr>
        <p:spPr>
          <a:xfrm>
            <a:off x="5646260" y="2943796"/>
            <a:ext cx="5437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타이머 이벤트 주기는 이와 같은 공식으로 계산한다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96C94E-C22F-C09D-E2DC-CE2B47CF5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4805363"/>
            <a:ext cx="5943600" cy="749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DB86F7-E01C-F9FB-A624-60D75E9FB321}"/>
              </a:ext>
            </a:extLst>
          </p:cNvPr>
          <p:cNvSpPr txBox="1"/>
          <p:nvPr/>
        </p:nvSpPr>
        <p:spPr>
          <a:xfrm>
            <a:off x="6592632" y="4805363"/>
            <a:ext cx="57054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예시</a:t>
            </a:r>
            <a:endParaRPr kumimoji="1" lang="en-US" altLang="ko-KR" b="1" dirty="0"/>
          </a:p>
          <a:p>
            <a:r>
              <a:rPr kumimoji="1" lang="en-US" altLang="ko-KR" dirty="0"/>
              <a:t>CLK = 48Mhz,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Prescaler</a:t>
            </a:r>
            <a:r>
              <a:rPr kumimoji="1" lang="en-US" altLang="ko-KR" dirty="0"/>
              <a:t> = 47999, Period = 499</a:t>
            </a:r>
          </a:p>
          <a:p>
            <a:r>
              <a:rPr kumimoji="1" lang="ko-KR" altLang="en-US" dirty="0"/>
              <a:t>라면 해당 공식에 따라 </a:t>
            </a:r>
            <a:r>
              <a:rPr kumimoji="1" lang="en-US" altLang="ko-KR" dirty="0"/>
              <a:t>2Hz</a:t>
            </a:r>
            <a:r>
              <a:rPr kumimoji="1" lang="ko-KR" altLang="en-US" dirty="0"/>
              <a:t>가 되며 </a:t>
            </a:r>
            <a:r>
              <a:rPr kumimoji="1" lang="en-US" altLang="ko-KR" dirty="0"/>
              <a:t>0.5</a:t>
            </a:r>
            <a:r>
              <a:rPr kumimoji="1" lang="ko-KR" altLang="en-US" dirty="0"/>
              <a:t>마다 인터럽트가</a:t>
            </a:r>
            <a:endParaRPr kumimoji="1" lang="en-US" altLang="ko-KR" dirty="0"/>
          </a:p>
          <a:p>
            <a:r>
              <a:rPr kumimoji="1" lang="ko-KR" altLang="en-US" dirty="0"/>
              <a:t>발생되게 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15E909-BD69-4637-BBAD-5D1A9038EBD8}"/>
              </a:ext>
            </a:extLst>
          </p:cNvPr>
          <p:cNvSpPr txBox="1"/>
          <p:nvPr/>
        </p:nvSpPr>
        <p:spPr>
          <a:xfrm>
            <a:off x="484552" y="3611062"/>
            <a:ext cx="50834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b="1" dirty="0"/>
              <a:t>* </a:t>
            </a:r>
            <a:r>
              <a:rPr kumimoji="1" lang="ko-KR" altLang="en-US" sz="1050" b="1" dirty="0"/>
              <a:t>이때 </a:t>
            </a:r>
            <a:r>
              <a:rPr kumimoji="1" lang="en-US" altLang="ko-KR" sz="1050" b="1" dirty="0"/>
              <a:t>APB1,</a:t>
            </a:r>
            <a:r>
              <a:rPr kumimoji="1" lang="ko-KR" altLang="en-US" sz="1050" b="1" dirty="0"/>
              <a:t> </a:t>
            </a:r>
            <a:r>
              <a:rPr kumimoji="1" lang="en-US" altLang="ko-KR" sz="1050" b="1" dirty="0"/>
              <a:t>2</a:t>
            </a:r>
            <a:r>
              <a:rPr kumimoji="1" lang="ko-KR" altLang="en-US" sz="1050" b="1" dirty="0"/>
              <a:t>중 어디에 연결되어 있는지에 따라 최대 </a:t>
            </a:r>
            <a:r>
              <a:rPr kumimoji="1" lang="en-US" altLang="ko-KR" sz="1050" b="1" dirty="0"/>
              <a:t>Timer CLK</a:t>
            </a:r>
            <a:r>
              <a:rPr kumimoji="1" lang="ko-KR" altLang="en-US" sz="1050" b="1" dirty="0"/>
              <a:t>는 바뀔 수 있다</a:t>
            </a:r>
            <a:r>
              <a:rPr kumimoji="1" lang="en-US" altLang="ko-KR" sz="1050" b="1" dirty="0"/>
              <a:t>.</a:t>
            </a:r>
            <a:endParaRPr kumimoji="1"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456884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64803-A5CE-D7B9-DBCB-9EAF4B5F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BCFBE-DFD8-D367-5E90-86ECFCBC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-6</a:t>
            </a:r>
            <a:r>
              <a:rPr lang="ko-KR" altLang="en-US" sz="2800" dirty="0"/>
              <a:t> </a:t>
            </a:r>
            <a:r>
              <a:rPr lang="en-US" altLang="ko-KR" sz="2800" dirty="0"/>
              <a:t>Timer </a:t>
            </a:r>
            <a:r>
              <a:rPr lang="ko-KR" altLang="en-US" sz="2800" dirty="0"/>
              <a:t>주기 계산법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DAE5F5-46DD-1BCA-CE5E-131E16102C4A}"/>
              </a:ext>
            </a:extLst>
          </p:cNvPr>
          <p:cNvSpPr txBox="1"/>
          <p:nvPr/>
        </p:nvSpPr>
        <p:spPr>
          <a:xfrm>
            <a:off x="2332790" y="2847109"/>
            <a:ext cx="752641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예시</a:t>
            </a:r>
            <a:endParaRPr kumimoji="1" lang="en-US" altLang="ko-KR" b="1" dirty="0"/>
          </a:p>
          <a:p>
            <a:r>
              <a:rPr kumimoji="1" lang="en-US" altLang="ko-KR" dirty="0"/>
              <a:t>CLK = 84Mhz</a:t>
            </a:r>
            <a:r>
              <a:rPr kumimoji="1" lang="ko-KR" altLang="en-US" dirty="0"/>
              <a:t>이고 </a:t>
            </a:r>
            <a:r>
              <a:rPr kumimoji="1" lang="en-US" altLang="ko-KR" dirty="0"/>
              <a:t>f = 50Hz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만들어야 한다면</a:t>
            </a:r>
            <a:r>
              <a:rPr kumimoji="1" lang="en-US" altLang="ko-KR" dirty="0"/>
              <a:t>?</a:t>
            </a:r>
          </a:p>
          <a:p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PSC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먼저 구해 타이머 증가 속도를 </a:t>
            </a:r>
            <a:r>
              <a:rPr kumimoji="1" lang="en-US" altLang="ko-KR" dirty="0"/>
              <a:t>1MHz</a:t>
            </a:r>
            <a:r>
              <a:rPr kumimoji="1" lang="ko-KR" altLang="en-US" dirty="0"/>
              <a:t>정도로 맞춘다</a:t>
            </a:r>
            <a:r>
              <a:rPr kumimoji="1" lang="en-US" altLang="ko-KR" dirty="0"/>
              <a:t>(PSC = 83).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ARR</a:t>
            </a:r>
            <a:r>
              <a:rPr kumimoji="1" lang="ko-KR" altLang="en-US" dirty="0"/>
              <a:t>을 통해 원하는 주기를 맞춘다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PSC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83</a:t>
            </a:r>
            <a:r>
              <a:rPr kumimoji="1" lang="ko-KR" altLang="en-US" dirty="0"/>
              <a:t>이므로 </a:t>
            </a:r>
            <a:r>
              <a:rPr kumimoji="1" lang="en-US" altLang="ko-KR" dirty="0"/>
              <a:t>TCNT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1MHz</a:t>
            </a:r>
            <a:r>
              <a:rPr kumimoji="1" lang="ko-KR" altLang="en-US" dirty="0"/>
              <a:t> 마다 증가 하므로</a:t>
            </a:r>
            <a:br>
              <a:rPr kumimoji="1" lang="en-US" altLang="ko-KR" dirty="0"/>
            </a:br>
            <a:r>
              <a:rPr kumimoji="1" lang="en-US" altLang="ko-KR" dirty="0"/>
              <a:t>50Hz -&gt; 20ms -&gt; 20,000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 </a:t>
            </a:r>
            <a:r>
              <a:rPr kumimoji="1" lang="en-US" altLang="ko-KR" dirty="0"/>
              <a:t>ARR = 19999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D6F528-72FC-FF40-4FFD-2A659EAFA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344" y="5381603"/>
            <a:ext cx="7805312" cy="87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8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94D4-E1A7-427A-22F9-35079CA8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E1BC2-4475-531B-9E5D-919319A6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3CB561-7C57-9FB1-8A20-C3724DE4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72" y="3970264"/>
            <a:ext cx="2667000" cy="120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77B53E-2869-892E-E178-F2F94B2A892A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3DF6B-B75E-C6FD-0E31-EEA549279F83}"/>
              </a:ext>
            </a:extLst>
          </p:cNvPr>
          <p:cNvSpPr txBox="1"/>
          <p:nvPr/>
        </p:nvSpPr>
        <p:spPr>
          <a:xfrm>
            <a:off x="782396" y="5456122"/>
            <a:ext cx="2391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프로젝트 파일 복사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F470F0-7C55-97BE-6B65-34FF37711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99" y="4014714"/>
            <a:ext cx="2324100" cy="1117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466228-78D1-8407-14CE-AD1AF3DE9338}"/>
              </a:ext>
            </a:extLst>
          </p:cNvPr>
          <p:cNvSpPr txBox="1"/>
          <p:nvPr/>
        </p:nvSpPr>
        <p:spPr>
          <a:xfrm>
            <a:off x="4675459" y="5456122"/>
            <a:ext cx="1872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2. </a:t>
            </a:r>
            <a:r>
              <a:rPr kumimoji="1" lang="ko-KR" altLang="en-US" dirty="0"/>
              <a:t>폴더이름 변경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50B097B-73A5-4091-5104-676412FAC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537" y="3176514"/>
            <a:ext cx="4533900" cy="2794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6C500C-4B85-9EAD-5970-F0C51656DCE0}"/>
              </a:ext>
            </a:extLst>
          </p:cNvPr>
          <p:cNvSpPr txBox="1"/>
          <p:nvPr/>
        </p:nvSpPr>
        <p:spPr>
          <a:xfrm>
            <a:off x="7615973" y="6123543"/>
            <a:ext cx="403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ioc</a:t>
            </a:r>
            <a:r>
              <a:rPr kumimoji="1" lang="ko-KR" altLang="en-US" dirty="0"/>
              <a:t> 파일을 변경된 이름에 맞춰 변경</a:t>
            </a:r>
          </a:p>
        </p:txBody>
      </p:sp>
    </p:spTree>
    <p:extLst>
      <p:ext uri="{BB962C8B-B14F-4D97-AF65-F5344CB8AC3E}">
        <p14:creationId xmlns:p14="http://schemas.microsoft.com/office/powerpoint/2010/main" val="3597007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84C1-9219-A67E-8450-689F8F0E0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F3DF9-C0F3-0965-F78A-022267A8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C90DA-D4F8-49E5-73F2-427EDD1B350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9710D-6AF3-95FA-7F4E-3A30F5BA5201}"/>
              </a:ext>
            </a:extLst>
          </p:cNvPr>
          <p:cNvSpPr txBox="1"/>
          <p:nvPr/>
        </p:nvSpPr>
        <p:spPr>
          <a:xfrm>
            <a:off x="472542" y="5938877"/>
            <a:ext cx="450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Debug.launch</a:t>
            </a:r>
            <a:r>
              <a:rPr kumimoji="1" lang="ko-KR" altLang="en-US" dirty="0"/>
              <a:t> 파일과 </a:t>
            </a:r>
            <a:r>
              <a:rPr kumimoji="1" lang="en-US" altLang="ko-KR" dirty="0"/>
              <a:t>Debug </a:t>
            </a:r>
            <a:r>
              <a:rPr kumimoji="1" lang="ko-KR" altLang="en-US" dirty="0"/>
              <a:t>폴더 삭제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632F9-F3EB-3EE7-972A-3933406A11F6}"/>
              </a:ext>
            </a:extLst>
          </p:cNvPr>
          <p:cNvSpPr txBox="1"/>
          <p:nvPr/>
        </p:nvSpPr>
        <p:spPr>
          <a:xfrm>
            <a:off x="6060319" y="5792058"/>
            <a:ext cx="5108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5.</a:t>
            </a:r>
            <a:r>
              <a:rPr kumimoji="1" lang="ko-KR" altLang="en-US" dirty="0"/>
              <a:t> </a:t>
            </a:r>
            <a:r>
              <a:rPr kumimoji="1" lang="en-US" altLang="ko-KR" dirty="0"/>
              <a:t>STM32CubeIDE</a:t>
            </a:r>
            <a:r>
              <a:rPr kumimoji="1" lang="ko-KR" altLang="en-US" dirty="0"/>
              <a:t> 실행</a:t>
            </a:r>
            <a:endParaRPr kumimoji="1" lang="en-US" altLang="ko-KR" dirty="0"/>
          </a:p>
          <a:p>
            <a:r>
              <a:rPr kumimoji="1" lang="ko-KR" altLang="en-US" dirty="0"/>
              <a:t>*이때 워크스페이스는 프로젝트 </a:t>
            </a:r>
            <a:r>
              <a:rPr kumimoji="1" lang="en-US" altLang="ko-KR" dirty="0"/>
              <a:t>root </a:t>
            </a:r>
            <a:r>
              <a:rPr kumimoji="1" lang="ko-KR" altLang="en-US" dirty="0" err="1"/>
              <a:t>경로여야함</a:t>
            </a:r>
            <a:endParaRPr kumimoji="1" lang="ko-KR" altLang="en-US" dirty="0"/>
          </a:p>
        </p:txBody>
      </p:sp>
      <p:pic>
        <p:nvPicPr>
          <p:cNvPr id="7" name="그림 6" descr="텍스트, 스크린샷, 전자제품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D4538-96BD-0DB7-85AA-49D94EA4C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3017235"/>
            <a:ext cx="4572000" cy="278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252DE3-F0D4-9257-9A22-84C82CC05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284" y="3573287"/>
            <a:ext cx="3886200" cy="158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02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DA43-435D-0DBB-29EC-78C48A04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3B1BB-1A82-203C-E27A-8A9678C5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#3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C14D1-298F-249E-B3B8-90F6470739AC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9B58F-5E07-05B3-A776-6221332B2B11}"/>
              </a:ext>
            </a:extLst>
          </p:cNvPr>
          <p:cNvSpPr txBox="1"/>
          <p:nvPr/>
        </p:nvSpPr>
        <p:spPr>
          <a:xfrm>
            <a:off x="806247" y="5792058"/>
            <a:ext cx="383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6.</a:t>
            </a:r>
            <a:r>
              <a:rPr kumimoji="1" lang="ko-KR" altLang="en-US" dirty="0"/>
              <a:t> 이전에 </a:t>
            </a:r>
            <a:r>
              <a:rPr kumimoji="1" lang="ko-KR" altLang="en-US" dirty="0" err="1"/>
              <a:t>열려있던</a:t>
            </a:r>
            <a:r>
              <a:rPr kumimoji="1" lang="ko-KR" altLang="en-US" dirty="0"/>
              <a:t> 프로젝트들 삭제</a:t>
            </a:r>
          </a:p>
        </p:txBody>
      </p:sp>
      <p:pic>
        <p:nvPicPr>
          <p:cNvPr id="4" name="그림 3" descr="텍스트, 소프트웨어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97F45E-D824-60A8-9136-1F9C8A134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08" y="3449506"/>
            <a:ext cx="4102100" cy="1828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30C58B-A99E-3ED5-1971-CE78B531A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444" y="3576506"/>
            <a:ext cx="3721100" cy="1701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3752F2-368E-1FCD-30DA-FB2B06619414}"/>
              </a:ext>
            </a:extLst>
          </p:cNvPr>
          <p:cNvSpPr txBox="1"/>
          <p:nvPr/>
        </p:nvSpPr>
        <p:spPr>
          <a:xfrm>
            <a:off x="6566452" y="5653558"/>
            <a:ext cx="4473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7.</a:t>
            </a:r>
            <a:r>
              <a:rPr kumimoji="1" lang="ko-KR" altLang="en-US" dirty="0"/>
              <a:t> </a:t>
            </a:r>
            <a:r>
              <a:rPr kumimoji="1" lang="en-US" altLang="ko-KR" dirty="0"/>
              <a:t>OK</a:t>
            </a:r>
            <a:r>
              <a:rPr kumimoji="1" lang="ko-KR" altLang="en-US" dirty="0"/>
              <a:t> 버튼 클릭</a:t>
            </a:r>
            <a:endParaRPr kumimoji="1" lang="en-US" altLang="ko-KR" dirty="0"/>
          </a:p>
          <a:p>
            <a:r>
              <a:rPr kumimoji="1" lang="ko-KR" altLang="en-US" dirty="0"/>
              <a:t>*이때 완전히 </a:t>
            </a:r>
            <a:r>
              <a:rPr kumimoji="1" lang="ko-KR" altLang="en-US" dirty="0" err="1"/>
              <a:t>삭제할꺼</a:t>
            </a:r>
            <a:r>
              <a:rPr kumimoji="1" lang="ko-KR" altLang="en-US" dirty="0"/>
              <a:t> 아니면 옵션 체크 </a:t>
            </a:r>
            <a:r>
              <a:rPr kumimoji="1" lang="en-US" altLang="ko-KR" dirty="0"/>
              <a:t>X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3394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9EED-11FF-1476-41B9-7AF561EE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0C121-93B7-028D-930C-B51B886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#4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AE6DB-16F7-28E1-6FCE-3B21D72FD42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C128E-4B17-3275-91EA-1FDB36CD9BA7}"/>
              </a:ext>
            </a:extLst>
          </p:cNvPr>
          <p:cNvSpPr txBox="1"/>
          <p:nvPr/>
        </p:nvSpPr>
        <p:spPr>
          <a:xfrm>
            <a:off x="697246" y="5653558"/>
            <a:ext cx="255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8.</a:t>
            </a:r>
            <a:r>
              <a:rPr kumimoji="1" lang="ko-KR" altLang="en-US" dirty="0"/>
              <a:t> </a:t>
            </a:r>
            <a:r>
              <a:rPr kumimoji="1" lang="en-US" altLang="ko-KR" dirty="0"/>
              <a:t>Import projects</a:t>
            </a:r>
            <a:r>
              <a:rPr kumimoji="1" lang="ko-KR" altLang="en-US" dirty="0"/>
              <a:t> 클릭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1A8C21-F6C4-461B-16B8-38FF504D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9" y="3944806"/>
            <a:ext cx="3302000" cy="1333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475CF1-7F2C-3414-3243-EA9D91851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956" y="3677721"/>
            <a:ext cx="2049985" cy="18830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006B9-BDF8-4D09-9882-2F0E4CB1CF11}"/>
              </a:ext>
            </a:extLst>
          </p:cNvPr>
          <p:cNvSpPr txBox="1"/>
          <p:nvPr/>
        </p:nvSpPr>
        <p:spPr>
          <a:xfrm>
            <a:off x="4387070" y="56596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9.</a:t>
            </a:r>
            <a:r>
              <a:rPr kumimoji="1" lang="ko-KR" altLang="en-US" dirty="0"/>
              <a:t> </a:t>
            </a:r>
            <a:r>
              <a:rPr kumimoji="1" lang="en-US" altLang="ko-KR" dirty="0"/>
              <a:t>Existing Projects.. </a:t>
            </a:r>
            <a:r>
              <a:rPr kumimoji="1" lang="ko-KR" altLang="en-US" dirty="0"/>
              <a:t>옵션 선택</a:t>
            </a:r>
            <a:r>
              <a:rPr kumimoji="1" lang="en-US" altLang="ko-KR" dirty="0"/>
              <a:t> </a:t>
            </a:r>
            <a:r>
              <a:rPr kumimoji="1" lang="ko-KR" altLang="en-US" dirty="0"/>
              <a:t>후</a:t>
            </a:r>
            <a:endParaRPr kumimoji="1" lang="en-US" altLang="ko-KR" dirty="0"/>
          </a:p>
          <a:p>
            <a:r>
              <a:rPr kumimoji="1" lang="ko-KR" altLang="en-US" dirty="0"/>
              <a:t>프로젝트 </a:t>
            </a:r>
            <a:r>
              <a:rPr kumimoji="1" lang="en-US" altLang="ko-KR" dirty="0"/>
              <a:t>root </a:t>
            </a:r>
            <a:r>
              <a:rPr kumimoji="1" lang="ko-KR" altLang="en-US" dirty="0"/>
              <a:t>디렉토리 선택</a:t>
            </a:r>
            <a:endParaRPr kumimoji="1" lang="en-US" altLang="ko-KR" dirty="0"/>
          </a:p>
          <a:p>
            <a:endParaRPr kumimoji="1"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F3B267-74D4-0544-329B-81FA71FB0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941" y="3584301"/>
            <a:ext cx="1776990" cy="20692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022800B-71EA-6AB6-DB24-07D65A0C0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893" y="3922246"/>
            <a:ext cx="3138406" cy="14954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E78F8C-B740-EECC-00E9-506E7F8B8F09}"/>
              </a:ext>
            </a:extLst>
          </p:cNvPr>
          <p:cNvSpPr txBox="1"/>
          <p:nvPr/>
        </p:nvSpPr>
        <p:spPr>
          <a:xfrm>
            <a:off x="8317165" y="56572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10.</a:t>
            </a:r>
            <a:r>
              <a:rPr kumimoji="1" lang="ko-KR" altLang="en-US" dirty="0"/>
              <a:t> 불러와진 프로젝트 </a:t>
            </a:r>
            <a:r>
              <a:rPr kumimoji="1" lang="ko-KR" altLang="en-US" dirty="0" err="1"/>
              <a:t>우클릭</a:t>
            </a:r>
            <a:r>
              <a:rPr kumimoji="1" lang="ko-KR" altLang="en-US" dirty="0"/>
              <a:t> 하여</a:t>
            </a:r>
            <a:endParaRPr kumimoji="1" lang="en-US" altLang="ko-KR" dirty="0"/>
          </a:p>
          <a:p>
            <a:r>
              <a:rPr kumimoji="1" lang="ko-KR" altLang="en-US" dirty="0"/>
              <a:t>이름을 이전에 변경한 폴더명과 동일하게 설정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7454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558D-BD5E-DF36-3AD4-F45E8C83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8422A-86D4-1765-6010-A80A7FCB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#5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688BD-7B04-4FB5-C57B-ECE04C20D0A3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A767F-1FCE-A3F1-A189-02A8EB2CC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61" y="3284402"/>
            <a:ext cx="4929788" cy="25996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8008B18-C854-6581-A91B-4D29ED622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383" y="3669831"/>
            <a:ext cx="3454400" cy="182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CEE2E3-6AF0-0163-364E-7AB3271F7A43}"/>
              </a:ext>
            </a:extLst>
          </p:cNvPr>
          <p:cNvSpPr txBox="1"/>
          <p:nvPr/>
        </p:nvSpPr>
        <p:spPr>
          <a:xfrm>
            <a:off x="2222984" y="6232707"/>
            <a:ext cx="774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프로젝트를 살펴보면 이전에 설정한 값과 코드가 남아있는 것을 볼 수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892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00A19-257F-0840-1059-DC98BD56D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E06E2-DF9E-6865-A218-E489083B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TIM </a:t>
            </a:r>
            <a:r>
              <a:rPr lang="ko-KR" altLang="en-US" sz="2800" dirty="0"/>
              <a:t>인터럽트 설정방법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7D66B2-C80C-E6F7-DE59-96162550F4BC}"/>
              </a:ext>
            </a:extLst>
          </p:cNvPr>
          <p:cNvSpPr txBox="1"/>
          <p:nvPr/>
        </p:nvSpPr>
        <p:spPr>
          <a:xfrm>
            <a:off x="5371301" y="4181845"/>
            <a:ext cx="5436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기본 기능이면 충분하므로 </a:t>
            </a:r>
            <a:r>
              <a:rPr kumimoji="1" lang="en-US" altLang="ko-KR" dirty="0"/>
              <a:t>TIM6, 7</a:t>
            </a:r>
            <a:r>
              <a:rPr kumimoji="1" lang="ko-KR" altLang="en-US" dirty="0"/>
              <a:t>을 활성화 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그 후 원하는 주기에 맞춰 </a:t>
            </a:r>
            <a:r>
              <a:rPr kumimoji="1" lang="en-US" altLang="ko-KR" dirty="0"/>
              <a:t>PSC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ARR</a:t>
            </a:r>
            <a:r>
              <a:rPr kumimoji="1" lang="ko-KR" altLang="en-US" dirty="0"/>
              <a:t>값을 설정한다</a:t>
            </a:r>
            <a:r>
              <a:rPr kumimoji="1" lang="en-US" altLang="ko-KR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C2BDC2-2BA6-E8BE-2493-4E57711E6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422820"/>
            <a:ext cx="4426351" cy="416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86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810BA-5821-193E-8A29-6C68DE7C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B76A3-2FEB-B23E-590C-012A26A0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TIM </a:t>
            </a:r>
            <a:r>
              <a:rPr lang="ko-KR" altLang="en-US" sz="2800" dirty="0"/>
              <a:t>인터럽트</a:t>
            </a:r>
            <a:r>
              <a:rPr lang="en-US" altLang="ko-KR" sz="2800" dirty="0"/>
              <a:t> Callback </a:t>
            </a:r>
            <a:r>
              <a:rPr lang="ko-KR" altLang="en-US" sz="2800" dirty="0"/>
              <a:t>함수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C2079-0AA0-283A-90E9-49BD87560CCE}"/>
              </a:ext>
            </a:extLst>
          </p:cNvPr>
          <p:cNvSpPr txBox="1"/>
          <p:nvPr/>
        </p:nvSpPr>
        <p:spPr>
          <a:xfrm>
            <a:off x="5371301" y="4181845"/>
            <a:ext cx="5379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타이머 인터럽트 또한 다른 인터럽트와 마찬가지로</a:t>
            </a:r>
            <a:r>
              <a:rPr kumimoji="1" lang="en-US" altLang="ko-KR" dirty="0"/>
              <a:t>,</a:t>
            </a:r>
          </a:p>
          <a:p>
            <a:r>
              <a:rPr kumimoji="1" lang="en-US" altLang="ko-KR" dirty="0"/>
              <a:t>Callback</a:t>
            </a:r>
            <a:r>
              <a:rPr kumimoji="1" lang="ko-KR" altLang="en-US" dirty="0"/>
              <a:t> 함수를 통해 </a:t>
            </a:r>
            <a:r>
              <a:rPr kumimoji="1" lang="en-US" altLang="ko-KR" dirty="0"/>
              <a:t>ISR</a:t>
            </a:r>
            <a:r>
              <a:rPr kumimoji="1" lang="ko-KR" altLang="en-US" dirty="0"/>
              <a:t>을 수행한다</a:t>
            </a:r>
            <a:r>
              <a:rPr kumimoji="1" lang="en-US" altLang="ko-KR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F6BB19-87E6-EF05-E0D8-8203CD579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3900459"/>
            <a:ext cx="4836408" cy="120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379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AD81B-2115-D1FD-6972-35A23BEA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4D23E633-E6C0-7FD3-835A-F657588DC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230468DB-7E91-A677-B40E-B9728D769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638EE6DE-901A-49FB-D236-5EF89F7FA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2914EAE0-BBD5-3860-803F-947A1145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AFB3-2137-405A-75EF-3123B1714BE7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응용</a:t>
            </a:r>
          </a:p>
        </p:txBody>
      </p:sp>
    </p:spTree>
    <p:extLst>
      <p:ext uri="{BB962C8B-B14F-4D97-AF65-F5344CB8AC3E}">
        <p14:creationId xmlns:p14="http://schemas.microsoft.com/office/powerpoint/2010/main" val="85793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58BC-5E49-B0EE-2D2E-32BCB897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238A7-025F-2450-4B46-D3799CE7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ko-KR" altLang="en-US" sz="2800" dirty="0">
                <a:latin typeface="+mn-lt"/>
              </a:rPr>
              <a:t>하나의 타이머 인터럽트를 통해 여러 주기 인터럽트 만들기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76E15-118C-C563-117A-06CAD41E7FCC}"/>
              </a:ext>
            </a:extLst>
          </p:cNvPr>
          <p:cNvSpPr txBox="1"/>
          <p:nvPr/>
        </p:nvSpPr>
        <p:spPr>
          <a:xfrm>
            <a:off x="484552" y="3235700"/>
            <a:ext cx="10869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Soft Timer </a:t>
            </a:r>
            <a:r>
              <a:rPr lang="ko-KR" altLang="en-US" dirty="0"/>
              <a:t>기법을 사용하여 하나의 타이머</a:t>
            </a:r>
            <a:r>
              <a:rPr lang="en-US" altLang="ko-KR" dirty="0"/>
              <a:t>(TIM6)</a:t>
            </a:r>
            <a:r>
              <a:rPr lang="ko-KR" altLang="en-US" dirty="0" err="1"/>
              <a:t>를</a:t>
            </a:r>
            <a:r>
              <a:rPr lang="ko-KR" altLang="en-US" dirty="0"/>
              <a:t> 사용하여 아래 주기들의 인터럽트 구현하기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10ms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500ms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1000ms</a:t>
            </a:r>
          </a:p>
        </p:txBody>
      </p:sp>
    </p:spTree>
    <p:extLst>
      <p:ext uri="{BB962C8B-B14F-4D97-AF65-F5344CB8AC3E}">
        <p14:creationId xmlns:p14="http://schemas.microsoft.com/office/powerpoint/2010/main" val="3399280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3D503-A7CC-C41D-D364-85FBA36B8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83044-1A5F-5834-F3D1-CE3DCDD1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ko-KR" altLang="en-US" sz="2800" dirty="0">
                <a:latin typeface="+mn-lt"/>
              </a:rPr>
              <a:t>딜레이 없이 버튼 </a:t>
            </a:r>
            <a:r>
              <a:rPr lang="ko-KR" altLang="en-US" sz="2800" dirty="0" err="1">
                <a:latin typeface="+mn-lt"/>
              </a:rPr>
              <a:t>채터링</a:t>
            </a:r>
            <a:r>
              <a:rPr lang="ko-KR" altLang="en-US" sz="2800" dirty="0">
                <a:latin typeface="+mn-lt"/>
              </a:rPr>
              <a:t> 처리하기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40A92-3D44-412F-0FBB-6DC8732978F4}"/>
              </a:ext>
            </a:extLst>
          </p:cNvPr>
          <p:cNvSpPr txBox="1"/>
          <p:nvPr/>
        </p:nvSpPr>
        <p:spPr>
          <a:xfrm>
            <a:off x="124332" y="3293250"/>
            <a:ext cx="12067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TIM6</a:t>
            </a:r>
            <a:r>
              <a:rPr lang="ko-KR" altLang="en-US" dirty="0" err="1"/>
              <a:t>를</a:t>
            </a:r>
            <a:r>
              <a:rPr lang="ko-KR" altLang="en-US" dirty="0"/>
              <a:t> 사용하여 </a:t>
            </a:r>
            <a:r>
              <a:rPr lang="en-US" altLang="ko-KR" dirty="0"/>
              <a:t>10ms</a:t>
            </a:r>
            <a:r>
              <a:rPr lang="ko-KR" altLang="en-US" dirty="0"/>
              <a:t> 마다 버튼 상태를 확인하여 버튼이 눌린 상태가 </a:t>
            </a:r>
            <a:r>
              <a:rPr lang="en-US" altLang="ko-KR" dirty="0"/>
              <a:t>n</a:t>
            </a:r>
            <a:r>
              <a:rPr lang="ko-KR" altLang="en-US" dirty="0"/>
              <a:t>번 연속 감지되었을 때만 버튼 눌림 처리하기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20676369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2680</TotalTime>
  <Words>901</Words>
  <Application>Microsoft Macintosh PowerPoint</Application>
  <PresentationFormat>와이드스크린</PresentationFormat>
  <Paragraphs>122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맑은 고딕</vt:lpstr>
      <vt:lpstr>Google Sans Text</vt:lpstr>
      <vt:lpstr>Arial</vt:lpstr>
      <vt:lpstr>Avenir Next LT Pro</vt:lpstr>
      <vt:lpstr>Bahnschrift</vt:lpstr>
      <vt:lpstr>MatrixVTI</vt:lpstr>
      <vt:lpstr>ARM Processor </vt:lpstr>
      <vt:lpstr>응용편 ADC값에 따라서 LED 밝기 제어(DAC 방식)</vt:lpstr>
      <vt:lpstr>ARM Processor Seminar Roadmap</vt:lpstr>
      <vt:lpstr>PowerPoint 프레젠테이션</vt:lpstr>
      <vt:lpstr>1. STM32F405 1-1 TIM 구성</vt:lpstr>
      <vt:lpstr>1. STM32F405 1-2 APB(Advanced Peripheral Bus)</vt:lpstr>
      <vt:lpstr>1. STM32F405 1-3 Timer Type의 의미</vt:lpstr>
      <vt:lpstr>1. STM32F405 1-4 Timer Resolution의 의미</vt:lpstr>
      <vt:lpstr>1. STM32F405 1-5 Timer 업데이트 이벤트 발생 원리</vt:lpstr>
      <vt:lpstr>1. STM32F405 1-6 Timer 주기 계산법 #1</vt:lpstr>
      <vt:lpstr>1. STM32F405 1-6 Timer 주기 계산법 #2</vt:lpstr>
      <vt:lpstr>2. STM32CubeIDE 설정 2-1 프로젝트 파일 관리 방법#1</vt:lpstr>
      <vt:lpstr>2. STM32CubeIDE 설정 2-1 프로젝트 파일 관리 방법#2</vt:lpstr>
      <vt:lpstr>2. STM32CubeIDE 설정 2-1 프로젝트 파일 관리 방법#3</vt:lpstr>
      <vt:lpstr>2. STM32CubeIDE 설정 2-1 프로젝트 파일 관리 방법#4</vt:lpstr>
      <vt:lpstr>2. STM32CubeIDE 설정 2-1 프로젝트 파일 관리 방법#5</vt:lpstr>
      <vt:lpstr>3. STM32CubeIDE 설정 3-1 TIM 인터럽트 설정방법</vt:lpstr>
      <vt:lpstr>3. STM32CubeIDE 설정 3-2 TIM 인터럽트 Callback 함수</vt:lpstr>
      <vt:lpstr>PowerPoint 프레젠테이션</vt:lpstr>
      <vt:lpstr>응용편 하나의 타이머 인터럽트를 통해 여러 주기 인터럽트 만들기</vt:lpstr>
      <vt:lpstr>응용편 딜레이 없이 버튼 채터링 처리하기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873</cp:revision>
  <dcterms:created xsi:type="dcterms:W3CDTF">2023-04-01T05:56:39Z</dcterms:created>
  <dcterms:modified xsi:type="dcterms:W3CDTF">2025-11-27T07:54:46Z</dcterms:modified>
</cp:coreProperties>
</file>