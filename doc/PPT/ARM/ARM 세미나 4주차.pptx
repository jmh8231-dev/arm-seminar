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0" r:id="rId1"/>
  </p:sldMasterIdLst>
  <p:notesMasterIdLst>
    <p:notesMasterId r:id="rId33"/>
  </p:notesMasterIdLst>
  <p:sldIdLst>
    <p:sldId id="256" r:id="rId2"/>
    <p:sldId id="436" r:id="rId3"/>
    <p:sldId id="405" r:id="rId4"/>
    <p:sldId id="258" r:id="rId5"/>
    <p:sldId id="463" r:id="rId6"/>
    <p:sldId id="466" r:id="rId7"/>
    <p:sldId id="468" r:id="rId8"/>
    <p:sldId id="469" r:id="rId9"/>
    <p:sldId id="470" r:id="rId10"/>
    <p:sldId id="472" r:id="rId11"/>
    <p:sldId id="473" r:id="rId12"/>
    <p:sldId id="474" r:id="rId13"/>
    <p:sldId id="441" r:id="rId14"/>
    <p:sldId id="442" r:id="rId15"/>
    <p:sldId id="443" r:id="rId16"/>
    <p:sldId id="444" r:id="rId17"/>
    <p:sldId id="445" r:id="rId18"/>
    <p:sldId id="454" r:id="rId19"/>
    <p:sldId id="475" r:id="rId20"/>
    <p:sldId id="476" r:id="rId21"/>
    <p:sldId id="479" r:id="rId22"/>
    <p:sldId id="480" r:id="rId23"/>
    <p:sldId id="481" r:id="rId24"/>
    <p:sldId id="478" r:id="rId25"/>
    <p:sldId id="483" r:id="rId26"/>
    <p:sldId id="467" r:id="rId27"/>
    <p:sldId id="482" r:id="rId28"/>
    <p:sldId id="484" r:id="rId29"/>
    <p:sldId id="485" r:id="rId30"/>
    <p:sldId id="459" r:id="rId31"/>
    <p:sldId id="486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3AECD4F-9523-4815-827E-2B8DD5C14A03}">
          <p14:sldIdLst>
            <p14:sldId id="256"/>
            <p14:sldId id="436"/>
            <p14:sldId id="405"/>
            <p14:sldId id="258"/>
            <p14:sldId id="463"/>
            <p14:sldId id="466"/>
            <p14:sldId id="468"/>
            <p14:sldId id="469"/>
            <p14:sldId id="470"/>
            <p14:sldId id="472"/>
            <p14:sldId id="473"/>
            <p14:sldId id="474"/>
            <p14:sldId id="441"/>
            <p14:sldId id="442"/>
            <p14:sldId id="443"/>
            <p14:sldId id="444"/>
            <p14:sldId id="445"/>
            <p14:sldId id="454"/>
            <p14:sldId id="475"/>
            <p14:sldId id="476"/>
            <p14:sldId id="479"/>
            <p14:sldId id="480"/>
            <p14:sldId id="481"/>
            <p14:sldId id="478"/>
            <p14:sldId id="483"/>
            <p14:sldId id="467"/>
            <p14:sldId id="482"/>
            <p14:sldId id="484"/>
            <p14:sldId id="485"/>
            <p14:sldId id="459"/>
            <p14:sldId id="4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89" autoAdjust="0"/>
    <p:restoredTop sz="94672"/>
  </p:normalViewPr>
  <p:slideViewPr>
    <p:cSldViewPr snapToGrid="0">
      <p:cViewPr>
        <p:scale>
          <a:sx n="197" d="100"/>
          <a:sy n="197" d="100"/>
        </p:scale>
        <p:origin x="116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A3A56-EDB2-4B73-A1CB-5609952E432E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DC4E7-C879-4C34-B87B-3BCA38CC4A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586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199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0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2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5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94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5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51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9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09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5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50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374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69A71A3-950D-4899-B79B-35F2758BD331}"/>
              </a:ext>
            </a:extLst>
          </p:cNvPr>
          <p:cNvGrpSpPr/>
          <p:nvPr userDrawn="1"/>
        </p:nvGrpSpPr>
        <p:grpSpPr>
          <a:xfrm>
            <a:off x="0" y="1207336"/>
            <a:ext cx="12192000" cy="4467863"/>
            <a:chOff x="0" y="1207336"/>
            <a:chExt cx="12192000" cy="4467863"/>
          </a:xfrm>
        </p:grpSpPr>
        <p:sp>
          <p:nvSpPr>
            <p:cNvPr id="33" name="Flowchart: Delay 24">
              <a:extLst>
                <a:ext uri="{FF2B5EF4-FFF2-40B4-BE49-F238E27FC236}">
                  <a16:creationId xmlns:a16="http://schemas.microsoft.com/office/drawing/2014/main" id="{928187B2-0394-40AE-9F9C-6682AC71596C}"/>
                </a:ext>
              </a:extLst>
            </p:cNvPr>
            <p:cNvSpPr/>
            <p:nvPr userDrawn="1"/>
          </p:nvSpPr>
          <p:spPr>
            <a:xfrm flipH="1">
              <a:off x="2613003" y="3441616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Flowchart: Delay 24">
              <a:extLst>
                <a:ext uri="{FF2B5EF4-FFF2-40B4-BE49-F238E27FC236}">
                  <a16:creationId xmlns:a16="http://schemas.microsoft.com/office/drawing/2014/main" id="{355D9AC9-E7B7-459E-925B-0047C675B750}"/>
                </a:ext>
              </a:extLst>
            </p:cNvPr>
            <p:cNvSpPr/>
            <p:nvPr userDrawn="1"/>
          </p:nvSpPr>
          <p:spPr>
            <a:xfrm>
              <a:off x="9491472" y="1379494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302FB5C-BDE1-4891-8E91-CB3F868629BB}"/>
                </a:ext>
              </a:extLst>
            </p:cNvPr>
            <p:cNvSpPr/>
            <p:nvPr userDrawn="1"/>
          </p:nvSpPr>
          <p:spPr>
            <a:xfrm>
              <a:off x="4416552" y="1207336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rgbClr val="BAC82F"/>
                </a:gs>
                <a:gs pos="100000">
                  <a:srgbClr val="0C6D8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9DE4F0-7E7E-4423-A407-CD6485ACBB4F}"/>
                </a:ext>
              </a:extLst>
            </p:cNvPr>
            <p:cNvSpPr/>
            <p:nvPr userDrawn="1"/>
          </p:nvSpPr>
          <p:spPr>
            <a:xfrm>
              <a:off x="0" y="1207336"/>
              <a:ext cx="4416552" cy="356616"/>
            </a:xfrm>
            <a:prstGeom prst="rect">
              <a:avLst/>
            </a:prstGeom>
            <a:gradFill flip="none" rotWithShape="1">
              <a:gsLst>
                <a:gs pos="0">
                  <a:srgbClr val="F2C020"/>
                </a:gs>
                <a:gs pos="100000">
                  <a:srgbClr val="BAC82F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ED74833-8EE3-4FA9-B6D2-03710E410482}"/>
                </a:ext>
              </a:extLst>
            </p:cNvPr>
            <p:cNvSpPr/>
            <p:nvPr userDrawn="1"/>
          </p:nvSpPr>
          <p:spPr>
            <a:xfrm>
              <a:off x="4416552" y="3269385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4005B59-B78D-469E-BAA4-E7B2A61E103D}"/>
                </a:ext>
              </a:extLst>
            </p:cNvPr>
            <p:cNvSpPr/>
            <p:nvPr userDrawn="1"/>
          </p:nvSpPr>
          <p:spPr>
            <a:xfrm>
              <a:off x="4414968" y="5318583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52000">
                  <a:schemeClr val="accent3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0BE4BEF-834D-4D0F-8E96-F1F8E6600C46}"/>
                </a:ext>
              </a:extLst>
            </p:cNvPr>
            <p:cNvSpPr/>
            <p:nvPr userDrawn="1"/>
          </p:nvSpPr>
          <p:spPr>
            <a:xfrm>
              <a:off x="9448800" y="5317275"/>
              <a:ext cx="2743200" cy="356616"/>
            </a:xfrm>
            <a:prstGeom prst="rect">
              <a:avLst/>
            </a:prstGeom>
            <a:gradFill flip="none" rotWithShape="1">
              <a:gsLst>
                <a:gs pos="0">
                  <a:schemeClr val="accent5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4D6C00-E83E-4187-903F-A0A515BA9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38" y="2079876"/>
            <a:ext cx="3052087" cy="1475598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STYLE</a:t>
            </a:r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F0DE95-4ED7-482F-BB4E-C1238B352D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1963" y="3587769"/>
            <a:ext cx="1726129" cy="29159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1" i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20XX-20XX</a:t>
            </a:r>
            <a:endParaRPr lang="ru-RU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F135EA3-D982-467F-B90A-B791DFDDA8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3" y="3927199"/>
            <a:ext cx="1726129" cy="37857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3 Years Plan</a:t>
            </a:r>
            <a:endParaRPr lang="ru-RU" dirty="0"/>
          </a:p>
        </p:txBody>
      </p:sp>
      <p:sp>
        <p:nvSpPr>
          <p:cNvPr id="106" name="Picture Placeholder 104">
            <a:extLst>
              <a:ext uri="{FF2B5EF4-FFF2-40B4-BE49-F238E27FC236}">
                <a16:creationId xmlns:a16="http://schemas.microsoft.com/office/drawing/2014/main" id="{4580320F-7723-4672-AB19-22C87ECD53D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461963" y="5725379"/>
            <a:ext cx="950912" cy="685800"/>
          </a:xfrm>
          <a:ln w="3556">
            <a:solidFill>
              <a:srgbClr val="454D55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ko-KR" altLang="en-US"/>
              <a:t>그림을 추가하려면 아이콘을 클릭하십시오</a:t>
            </a:r>
            <a:endParaRPr lang="ru-RU"/>
          </a:p>
        </p:txBody>
      </p:sp>
      <p:sp>
        <p:nvSpPr>
          <p:cNvPr id="108" name="Text Placeholder 42">
            <a:extLst>
              <a:ext uri="{FF2B5EF4-FFF2-40B4-BE49-F238E27FC236}">
                <a16:creationId xmlns:a16="http://schemas.microsoft.com/office/drawing/2014/main" id="{F6CA33C8-1786-4D07-8C52-AE1469894B6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565129" y="863644"/>
            <a:ext cx="1044000" cy="1044000"/>
          </a:xfrm>
          <a:prstGeom prst="ellipse">
            <a:avLst/>
          </a:prstGeom>
          <a:solidFill>
            <a:srgbClr val="BAC82F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44" name="Text Placeholder 42">
            <a:extLst>
              <a:ext uri="{FF2B5EF4-FFF2-40B4-BE49-F238E27FC236}">
                <a16:creationId xmlns:a16="http://schemas.microsoft.com/office/drawing/2014/main" id="{62E3BBD0-72BD-45D7-BE15-8B93AFB862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14968" y="84398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rgbClr val="BAC82F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C695E72E-773D-407A-AFA4-EF90ADF9D13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78435" y="436306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BAC82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7463FB1C-AFEB-4EAE-B84D-A1613AF5BA7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78434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0" name="Text Placeholder 42">
            <a:extLst>
              <a:ext uri="{FF2B5EF4-FFF2-40B4-BE49-F238E27FC236}">
                <a16:creationId xmlns:a16="http://schemas.microsoft.com/office/drawing/2014/main" id="{12DFAD2F-3ED1-46BF-B662-2E96A42C48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59136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alpha val="60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22FB247-DB8F-4B67-B9EA-5741E1DDBEE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2681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81BF3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CE2C8800-C93B-4E93-9AE2-9CBFC1E6D76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2680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49" name="Text Placeholder 42">
            <a:extLst>
              <a:ext uri="{FF2B5EF4-FFF2-40B4-BE49-F238E27FC236}">
                <a16:creationId xmlns:a16="http://schemas.microsoft.com/office/drawing/2014/main" id="{CC1B1148-CFC2-4FF7-8B7C-9502EB6500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03304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60559160-7568-4A5B-88B4-DBB3C42D5D1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55391" y="43779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2CA05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ED30C6D-348A-4701-A27D-F10DFC175AC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55390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46" name="Text Placeholder 42">
            <a:extLst>
              <a:ext uri="{FF2B5EF4-FFF2-40B4-BE49-F238E27FC236}">
                <a16:creationId xmlns:a16="http://schemas.microsoft.com/office/drawing/2014/main" id="{DC934A70-FE40-4A89-9799-1A67234666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7472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AB11D018-DEEE-4BCE-B5F0-2B33DD39A6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06873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1B866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085539ED-B933-484F-8ECB-700829A52C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06872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73" name="Text Placeholder 42">
            <a:extLst>
              <a:ext uri="{FF2B5EF4-FFF2-40B4-BE49-F238E27FC236}">
                <a16:creationId xmlns:a16="http://schemas.microsoft.com/office/drawing/2014/main" id="{F3728A77-BAED-49CA-87A0-DFCB220B3A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05088" y="1917406"/>
            <a:ext cx="1044000" cy="1044000"/>
          </a:xfrm>
          <a:prstGeom prst="ellipse">
            <a:avLst/>
          </a:prstGeom>
          <a:solidFill>
            <a:schemeClr val="tx1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D7526F27-FC58-40E7-A76A-47A27D2325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47472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0D030018-A573-45D1-B6EF-210F3CF92D5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105170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0C6D8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1FC8372-90CA-42B7-A237-0BC81F2687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05169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8" name="Text Placeholder 42">
            <a:extLst>
              <a:ext uri="{FF2B5EF4-FFF2-40B4-BE49-F238E27FC236}">
                <a16:creationId xmlns:a16="http://schemas.microsoft.com/office/drawing/2014/main" id="{242D0BB2-4F17-4A8D-87A7-FADA2CAEC6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3304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7F7CC596-D7AD-4DCE-B864-BB1A6A7C8B1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55390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403474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28E66912-ACE9-4007-9A2B-050DC9408A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55389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9" name="Text Placeholder 42">
            <a:extLst>
              <a:ext uri="{FF2B5EF4-FFF2-40B4-BE49-F238E27FC236}">
                <a16:creationId xmlns:a16="http://schemas.microsoft.com/office/drawing/2014/main" id="{CC1EC2BE-5D73-4D49-B2F2-4DA2785D6E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59136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1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441FE3C4-7737-4EB6-9280-FAD8852FB4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20978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571B6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70EF49EC-F8D8-463F-B786-F2C04C33AEE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20977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997AC0B1-99FC-455E-A896-3C370BB38C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14968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D66EAED5-741C-44D6-840F-C90C1AF74A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71198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6F0066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7887B0FE-2AB8-455F-8EC7-C8F31FEA27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071197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75" name="Text Placeholder 42">
            <a:extLst>
              <a:ext uri="{FF2B5EF4-FFF2-40B4-BE49-F238E27FC236}">
                <a16:creationId xmlns:a16="http://schemas.microsoft.com/office/drawing/2014/main" id="{6F1AC56E-6618-4728-A6EA-8B021EB6BCF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88092" y="3979528"/>
            <a:ext cx="1044000" cy="1044000"/>
          </a:xfrm>
          <a:prstGeom prst="ellipse">
            <a:avLst/>
          </a:prstGeom>
          <a:solidFill>
            <a:schemeClr val="tx2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60" name="Text Placeholder 42">
            <a:extLst>
              <a:ext uri="{FF2B5EF4-FFF2-40B4-BE49-F238E27FC236}">
                <a16:creationId xmlns:a16="http://schemas.microsoft.com/office/drawing/2014/main" id="{DB4C9C65-90B1-4A40-BB7B-DE799076D1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14968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96" name="Text Placeholder 7">
            <a:extLst>
              <a:ext uri="{FF2B5EF4-FFF2-40B4-BE49-F238E27FC236}">
                <a16:creationId xmlns:a16="http://schemas.microsoft.com/office/drawing/2014/main" id="{E9ED50CB-058A-4C6B-A8E2-0536EC0E40D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75657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04D14365-5F59-4F4F-B237-26A11A2DDDD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075656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3" name="Text Placeholder 42">
            <a:extLst>
              <a:ext uri="{FF2B5EF4-FFF2-40B4-BE49-F238E27FC236}">
                <a16:creationId xmlns:a16="http://schemas.microsoft.com/office/drawing/2014/main" id="{CFA7DBCF-F797-4B29-8C96-7AC1602B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59136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3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100" name="Text Placeholder 7">
            <a:extLst>
              <a:ext uri="{FF2B5EF4-FFF2-40B4-BE49-F238E27FC236}">
                <a16:creationId xmlns:a16="http://schemas.microsoft.com/office/drawing/2014/main" id="{07524528-CBB1-40C1-A6F2-855A4D99478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423464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01" name="Text Placeholder 7">
            <a:extLst>
              <a:ext uri="{FF2B5EF4-FFF2-40B4-BE49-F238E27FC236}">
                <a16:creationId xmlns:a16="http://schemas.microsoft.com/office/drawing/2014/main" id="{41F799BD-659E-472B-98A7-7C06C2F7458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23463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2" name="Text Placeholder 42">
            <a:extLst>
              <a:ext uri="{FF2B5EF4-FFF2-40B4-BE49-F238E27FC236}">
                <a16:creationId xmlns:a16="http://schemas.microsoft.com/office/drawing/2014/main" id="{113ADCA9-C0A6-4FAB-A09E-4DECBD41D7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3304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4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98" name="Text Placeholder 7">
            <a:extLst>
              <a:ext uri="{FF2B5EF4-FFF2-40B4-BE49-F238E27FC236}">
                <a16:creationId xmlns:a16="http://schemas.microsoft.com/office/drawing/2014/main" id="{3EC66011-3B65-49CC-8886-E2CCFBFFAB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759849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E8611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3B2B5959-E5CC-42A7-B797-463098BE629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59848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1" name="Text Placeholder 42">
            <a:extLst>
              <a:ext uri="{FF2B5EF4-FFF2-40B4-BE49-F238E27FC236}">
                <a16:creationId xmlns:a16="http://schemas.microsoft.com/office/drawing/2014/main" id="{91E8A179-36A3-4D0A-96E7-689F93F9B8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47472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5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102" name="Text Placeholder 7">
            <a:extLst>
              <a:ext uri="{FF2B5EF4-FFF2-40B4-BE49-F238E27FC236}">
                <a16:creationId xmlns:a16="http://schemas.microsoft.com/office/drawing/2014/main" id="{9FDC66A0-D1C5-4C83-BBEE-D079881FADA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07656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03" name="Text Placeholder 7">
            <a:extLst>
              <a:ext uri="{FF2B5EF4-FFF2-40B4-BE49-F238E27FC236}">
                <a16:creationId xmlns:a16="http://schemas.microsoft.com/office/drawing/2014/main" id="{E4E5E736-BFFC-4245-916F-5861101288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07655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110" name="Text Placeholder 42">
            <a:extLst>
              <a:ext uri="{FF2B5EF4-FFF2-40B4-BE49-F238E27FC236}">
                <a16:creationId xmlns:a16="http://schemas.microsoft.com/office/drawing/2014/main" id="{74922A2C-30D3-4ED0-8443-C57494EB428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293432" y="4973439"/>
            <a:ext cx="1044000" cy="1044000"/>
          </a:xfrm>
          <a:prstGeom prst="ellipse">
            <a:avLst/>
          </a:prstGeom>
          <a:solidFill>
            <a:schemeClr val="accent5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3E081-530B-464A-B47C-C858A60EB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373A1-F9A6-4E7C-A04F-22454F3A6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05888" y="550858"/>
            <a:ext cx="2743200" cy="176716"/>
          </a:xfrm>
          <a:prstGeom prst="rect">
            <a:avLst/>
          </a:prstGeom>
        </p:spPr>
        <p:txBody>
          <a:bodyPr/>
          <a:lstStyle/>
          <a:p>
            <a:fld id="{F0BF70C0-85C8-4782-A2DC-740B0F58DBF8}" type="datetime1">
              <a:rPr lang="ru-RU" smtClean="0"/>
              <a:t>12.11.2025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BF57F-FEA7-4D09-AA29-F32AA557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428B-5ACF-4E79-A091-05E2328DA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181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11/12/25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194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03" r:id="rId6"/>
    <p:sldLayoutId id="2147483899" r:id="rId7"/>
    <p:sldLayoutId id="2147483900" r:id="rId8"/>
    <p:sldLayoutId id="2147483901" r:id="rId9"/>
    <p:sldLayoutId id="2147483902" r:id="rId10"/>
    <p:sldLayoutId id="2147483904" r:id="rId11"/>
    <p:sldLayoutId id="2147483918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EB309-3929-FF0E-BDEF-07DD47014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1439" y="1673361"/>
            <a:ext cx="5230446" cy="1227221"/>
          </a:xfrm>
        </p:spPr>
        <p:txBody>
          <a:bodyPr anchor="ctr">
            <a:normAutofit fontScale="90000"/>
          </a:bodyPr>
          <a:lstStyle/>
          <a:p>
            <a:r>
              <a:rPr lang="en-US" altLang="ko-KR" dirty="0"/>
              <a:t>ARM Processor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1026" name="Picture 2" descr="Cortex-M4">
            <a:extLst>
              <a:ext uri="{FF2B5EF4-FFF2-40B4-BE49-F238E27FC236}">
                <a16:creationId xmlns:a16="http://schemas.microsoft.com/office/drawing/2014/main" id="{1F1D1580-B74F-5C60-C967-772F8BEE37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" r="10734" b="-4"/>
          <a:stretch/>
        </p:blipFill>
        <p:spPr bwMode="auto">
          <a:xfrm>
            <a:off x="6095998" y="0"/>
            <a:ext cx="609600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5D9FB2-EF99-4CCA-9CDB-EB444E8BDB51}"/>
              </a:ext>
            </a:extLst>
          </p:cNvPr>
          <p:cNvSpPr txBox="1"/>
          <p:nvPr/>
        </p:nvSpPr>
        <p:spPr>
          <a:xfrm>
            <a:off x="1048811" y="6398251"/>
            <a:ext cx="500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/>
              <a:t>Robotics </a:t>
            </a:r>
            <a:r>
              <a:rPr lang="ko-KR" altLang="en-US" b="1" dirty="0"/>
              <a:t>정명훈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983F3-D723-6F86-C98E-DCC005282A53}"/>
              </a:ext>
            </a:extLst>
          </p:cNvPr>
          <p:cNvSpPr txBox="1"/>
          <p:nvPr/>
        </p:nvSpPr>
        <p:spPr>
          <a:xfrm>
            <a:off x="3850105" y="2346585"/>
            <a:ext cx="2709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세미나 </a:t>
            </a:r>
            <a:r>
              <a:rPr lang="en-US" altLang="ko-KR" dirty="0">
                <a:solidFill>
                  <a:schemeClr val="bg1"/>
                </a:solidFill>
              </a:rPr>
              <a:t>4</a:t>
            </a:r>
            <a:r>
              <a:rPr lang="ko-KR" altLang="en-US" dirty="0">
                <a:solidFill>
                  <a:schemeClr val="bg1"/>
                </a:solidFill>
              </a:rPr>
              <a:t>주차</a:t>
            </a:r>
          </a:p>
        </p:txBody>
      </p:sp>
    </p:spTree>
    <p:extLst>
      <p:ext uri="{BB962C8B-B14F-4D97-AF65-F5344CB8AC3E}">
        <p14:creationId xmlns:p14="http://schemas.microsoft.com/office/powerpoint/2010/main" val="2670086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914D5-E6C9-77D6-0FD5-1CB9BC7E6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26DC2C-2F2A-342E-630E-4FDE21178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ko-KR" altLang="en-US" dirty="0" err="1">
                <a:solidFill>
                  <a:srgbClr val="FFFFFF"/>
                </a:solidFill>
              </a:rPr>
              <a:t>응용편</a:t>
            </a:r>
            <a:br>
              <a:rPr lang="en-US" altLang="ko-KR" dirty="0">
                <a:latin typeface="+mn-lt"/>
              </a:rPr>
            </a:br>
            <a:r>
              <a:rPr lang="ko-KR" altLang="en-US" sz="2800" dirty="0">
                <a:latin typeface="+mn-lt"/>
              </a:rPr>
              <a:t>메모장 만들기</a:t>
            </a:r>
            <a:endParaRPr lang="ko-KR" alt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D92152-1243-FF37-B84C-2F81B07BAA90}"/>
              </a:ext>
            </a:extLst>
          </p:cNvPr>
          <p:cNvSpPr txBox="1"/>
          <p:nvPr/>
        </p:nvSpPr>
        <p:spPr>
          <a:xfrm>
            <a:off x="484552" y="3235700"/>
            <a:ext cx="108692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문제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인터럽트 방식 </a:t>
            </a:r>
            <a:r>
              <a:rPr lang="en-US" altLang="ko-KR" dirty="0"/>
              <a:t>UART</a:t>
            </a:r>
            <a:r>
              <a:rPr lang="ko-KR" altLang="en-US" dirty="0" err="1"/>
              <a:t>를</a:t>
            </a:r>
            <a:r>
              <a:rPr lang="ko-KR" altLang="en-US" dirty="0"/>
              <a:t> 사용하여 </a:t>
            </a:r>
            <a:r>
              <a:rPr lang="en-US" altLang="ko-KR" dirty="0"/>
              <a:t>PC</a:t>
            </a:r>
            <a:r>
              <a:rPr lang="ko-KR" altLang="en-US" dirty="0"/>
              <a:t>로부터 수신 받은 문자를</a:t>
            </a:r>
            <a:r>
              <a:rPr lang="en-US" altLang="ko-KR" dirty="0"/>
              <a:t> LCD</a:t>
            </a:r>
            <a:r>
              <a:rPr lang="ko-KR" altLang="en-US" dirty="0"/>
              <a:t>로 출력</a:t>
            </a:r>
            <a:endParaRPr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조건</a:t>
            </a:r>
            <a:r>
              <a:rPr kumimoji="1" lang="en-US" altLang="ko-KR" dirty="0"/>
              <a:t>:</a:t>
            </a:r>
          </a:p>
          <a:p>
            <a:r>
              <a:rPr kumimoji="1" lang="en-US" altLang="ko-KR" dirty="0"/>
              <a:t>1.</a:t>
            </a:r>
            <a:r>
              <a:rPr kumimoji="1" lang="ko-KR" altLang="en-US" dirty="0"/>
              <a:t> 키보드 </a:t>
            </a:r>
            <a:r>
              <a:rPr kumimoji="1" lang="en-US" altLang="ko-KR" dirty="0"/>
              <a:t>back space</a:t>
            </a:r>
            <a:r>
              <a:rPr kumimoji="1" lang="ko-KR" altLang="en-US" dirty="0"/>
              <a:t> 입력하면 </a:t>
            </a:r>
            <a:r>
              <a:rPr kumimoji="1" lang="en-US" altLang="ko-KR" dirty="0"/>
              <a:t>LCD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이전에 입력한 문자 제거 하고 커서도 뒤로 이동</a:t>
            </a:r>
            <a:endParaRPr kumimoji="1" lang="en-US" altLang="ko-KR" dirty="0"/>
          </a:p>
          <a:p>
            <a:r>
              <a:rPr kumimoji="1" lang="en-US" altLang="ko-KR" dirty="0"/>
              <a:t>2.</a:t>
            </a:r>
            <a:r>
              <a:rPr kumimoji="1" lang="ko-KR" altLang="en-US" dirty="0"/>
              <a:t> </a:t>
            </a:r>
            <a:r>
              <a:rPr kumimoji="1" lang="en-US" altLang="ko-KR" dirty="0"/>
              <a:t>Clear(</a:t>
            </a:r>
            <a:r>
              <a:rPr kumimoji="1" lang="ko-KR" altLang="en-US" dirty="0"/>
              <a:t>대소문자 구분 </a:t>
            </a:r>
            <a:r>
              <a:rPr kumimoji="1" lang="en-US" altLang="ko-KR" dirty="0"/>
              <a:t>X)</a:t>
            </a:r>
            <a:r>
              <a:rPr kumimoji="1" lang="ko-KR" altLang="en-US" dirty="0"/>
              <a:t> 입력하면 </a:t>
            </a:r>
            <a:r>
              <a:rPr kumimoji="1" lang="en-US" altLang="ko-KR" dirty="0"/>
              <a:t>LCD</a:t>
            </a:r>
            <a:r>
              <a:rPr kumimoji="1" lang="ko-KR" altLang="en-US" dirty="0"/>
              <a:t> 초기화</a:t>
            </a:r>
            <a:r>
              <a:rPr kumimoji="1" lang="en-US" altLang="ko-KR" dirty="0"/>
              <a:t>(</a:t>
            </a:r>
            <a:r>
              <a:rPr kumimoji="1" lang="ko-KR" altLang="en-US" dirty="0"/>
              <a:t>클리어</a:t>
            </a:r>
            <a:r>
              <a:rPr kumimoji="1" lang="en-US" altLang="ko-KR" dirty="0"/>
              <a:t>)</a:t>
            </a:r>
          </a:p>
          <a:p>
            <a:r>
              <a:rPr kumimoji="1" lang="en-US" altLang="ko-KR" dirty="0"/>
              <a:t>3.</a:t>
            </a:r>
            <a:r>
              <a:rPr kumimoji="1" lang="ko-KR" altLang="en-US" dirty="0"/>
              <a:t> </a:t>
            </a:r>
            <a:r>
              <a:rPr kumimoji="1" lang="en-US" altLang="ko-KR" dirty="0"/>
              <a:t>Enter</a:t>
            </a:r>
            <a:r>
              <a:rPr kumimoji="1" lang="ko-KR" altLang="en-US" dirty="0"/>
              <a:t> 입력 시 입력되는 열 바뀜</a:t>
            </a:r>
          </a:p>
        </p:txBody>
      </p:sp>
    </p:spTree>
    <p:extLst>
      <p:ext uri="{BB962C8B-B14F-4D97-AF65-F5344CB8AC3E}">
        <p14:creationId xmlns:p14="http://schemas.microsoft.com/office/powerpoint/2010/main" val="1119290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CB4C-B5E1-4756-815D-BC6EC8E7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92" y="189332"/>
            <a:ext cx="11534862" cy="686113"/>
          </a:xfrm>
        </p:spPr>
        <p:txBody>
          <a:bodyPr>
            <a:noAutofit/>
          </a:bodyPr>
          <a:lstStyle/>
          <a:p>
            <a:r>
              <a:rPr lang="en-US" altLang="ko-KR" sz="4400" dirty="0"/>
              <a:t>ARM Processor Seminar Roadmap</a:t>
            </a:r>
            <a:endParaRPr lang="ru-RU" sz="4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4306A44-50E7-4C10-ABF1-71CE55A094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8041" y="2905510"/>
            <a:ext cx="1044000" cy="1044000"/>
          </a:xfrm>
        </p:spPr>
        <p:txBody>
          <a:bodyPr/>
          <a:lstStyle/>
          <a:p>
            <a:r>
              <a:rPr lang="en-US" dirty="0"/>
              <a:t>1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25D376EC-609C-46F1-A4A6-22B3BCBA977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036976" y="4067055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ARM </a:t>
            </a:r>
            <a:r>
              <a:rPr lang="ko-KR" altLang="en-US" dirty="0"/>
              <a:t>프로세서 개요</a:t>
            </a:r>
            <a:endParaRPr lang="ru-RU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BD9AA2-DFE1-412D-BB95-7989BA1E603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9113" y="2930232"/>
            <a:ext cx="1044000" cy="1044000"/>
          </a:xfrm>
        </p:spPr>
        <p:txBody>
          <a:bodyPr/>
          <a:lstStyle/>
          <a:p>
            <a:r>
              <a:rPr lang="en-US" b="1" dirty="0"/>
              <a:t>2</a:t>
            </a:r>
            <a:r>
              <a:rPr lang="ko-KR" altLang="en-US" b="1" dirty="0"/>
              <a:t>주</a:t>
            </a:r>
            <a:endParaRPr lang="ru-RU" b="1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B5D9C5D-1FCA-4D88-ADCB-481D203B846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147106" y="2531331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dirty="0"/>
              <a:t>*</a:t>
            </a:r>
            <a:r>
              <a:rPr lang="en-US" dirty="0"/>
              <a:t>UART </a:t>
            </a:r>
            <a:r>
              <a:rPr lang="ko-KR" altLang="en-US" dirty="0"/>
              <a:t>통신</a:t>
            </a:r>
            <a:endParaRPr lang="ru-R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DDFF132-912B-4B2B-B3E5-D1AB199B58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532758" y="2924536"/>
            <a:ext cx="1044000" cy="1044000"/>
          </a:xfrm>
        </p:spPr>
        <p:txBody>
          <a:bodyPr/>
          <a:lstStyle/>
          <a:p>
            <a:r>
              <a:rPr lang="en-US" dirty="0"/>
              <a:t>3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7AEBAB8-BDEB-4E4A-B443-829D3C340CA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191693" y="4067055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altLang="ko-KR" dirty="0"/>
              <a:t>CLCD </a:t>
            </a:r>
            <a:r>
              <a:rPr lang="ko-KR" altLang="en-US" dirty="0"/>
              <a:t>출력</a:t>
            </a:r>
            <a:endParaRPr lang="en-US" altLang="ko-KR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950DBC3-6438-47ED-BA7E-BBD7E08290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08888" y="2902597"/>
            <a:ext cx="1044000" cy="1044000"/>
          </a:xfrm>
        </p:spPr>
        <p:txBody>
          <a:bodyPr/>
          <a:lstStyle/>
          <a:p>
            <a:r>
              <a:rPr lang="en-US" dirty="0"/>
              <a:t>4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1435C51-CB8E-41E5-8C00-34ADCC273A3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367823" y="2528249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b="1" dirty="0"/>
              <a:t>ADC</a:t>
            </a:r>
            <a:r>
              <a:rPr lang="ko-KR" altLang="en-US" b="1" dirty="0"/>
              <a:t> </a:t>
            </a:r>
            <a:r>
              <a:rPr lang="en-US" altLang="ko-KR" b="1" dirty="0"/>
              <a:t>&amp;</a:t>
            </a:r>
            <a:r>
              <a:rPr lang="ko-KR" altLang="en-US" b="1" dirty="0"/>
              <a:t> </a:t>
            </a:r>
            <a:r>
              <a:rPr lang="en-US" altLang="ko-KR" b="1" dirty="0"/>
              <a:t>DAC</a:t>
            </a:r>
            <a:endParaRPr lang="ru-RU" altLang="ko-KR" b="1" dirty="0"/>
          </a:p>
        </p:txBody>
      </p:sp>
      <p:sp>
        <p:nvSpPr>
          <p:cNvPr id="95" name="Text Placeholder 94">
            <a:extLst>
              <a:ext uri="{FF2B5EF4-FFF2-40B4-BE49-F238E27FC236}">
                <a16:creationId xmlns:a16="http://schemas.microsoft.com/office/drawing/2014/main" id="{7C0ECD94-A4CB-4FB7-A7F7-AA32C0ED85D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5</a:t>
            </a:r>
            <a:r>
              <a:rPr lang="ko-KR" altLang="en-US" dirty="0"/>
              <a:t>주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0624EF-8210-444B-9BC7-2C144038C2F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08888" y="4965034"/>
            <a:ext cx="1044000" cy="1044000"/>
          </a:xfrm>
        </p:spPr>
        <p:txBody>
          <a:bodyPr/>
          <a:lstStyle/>
          <a:p>
            <a:r>
              <a:rPr lang="en-US" dirty="0"/>
              <a:t>6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F4A9D67-1B01-4CF8-AC0D-C7E518691F6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367823" y="4556509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altLang="ko-KR" dirty="0"/>
              <a:t>I2C</a:t>
            </a:r>
            <a:endParaRPr lang="ru-RU" altLang="ko-KR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073D15E-3E59-4781-BA50-8D741A373A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574000" y="4975694"/>
            <a:ext cx="1044000" cy="1044000"/>
          </a:xfrm>
        </p:spPr>
        <p:txBody>
          <a:bodyPr/>
          <a:lstStyle/>
          <a:p>
            <a:r>
              <a:rPr lang="en-US" dirty="0"/>
              <a:t>7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D183E534-6B6A-4814-BF59-57A6E38C5B0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232935" y="6121335"/>
            <a:ext cx="1726129" cy="659592"/>
          </a:xfrm>
        </p:spPr>
        <p:txBody>
          <a:bodyPr>
            <a:normAutofit/>
          </a:bodyPr>
          <a:lstStyle/>
          <a:p>
            <a:r>
              <a:rPr lang="en-US" altLang="ko-KR" dirty="0"/>
              <a:t>SPI</a:t>
            </a:r>
            <a:endParaRPr lang="ru-RU" altLang="ko-KR" dirty="0"/>
          </a:p>
          <a:p>
            <a:endParaRPr lang="ru-RU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ACEF7EF-E8CB-4008-A749-3586789460E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88170" y="4965034"/>
            <a:ext cx="1044000" cy="1044000"/>
          </a:xfrm>
        </p:spPr>
        <p:txBody>
          <a:bodyPr/>
          <a:lstStyle/>
          <a:p>
            <a:r>
              <a:rPr lang="en-US" dirty="0"/>
              <a:t>8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6FA5D30-6CB0-4EEA-AB74-670C4C1A6E0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098050" y="4656129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SDIO &amp; </a:t>
            </a:r>
            <a:r>
              <a:rPr lang="en-US" altLang="ko-KR" dirty="0" err="1"/>
              <a:t>Fatfs</a:t>
            </a:r>
            <a:endParaRPr lang="ru-RU" altLang="ko-KR" dirty="0"/>
          </a:p>
          <a:p>
            <a:endParaRPr lang="ru-RU" altLang="ko-KR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A15ADFC7-484C-4FB9-A3C1-CDAA545F73F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8040" y="4970360"/>
            <a:ext cx="1044000" cy="1044000"/>
          </a:xfrm>
        </p:spPr>
        <p:txBody>
          <a:bodyPr/>
          <a:lstStyle/>
          <a:p>
            <a:r>
              <a:rPr lang="en-US" dirty="0"/>
              <a:t>9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22CF05B5-E92D-4FD2-A21C-956D8E8321A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9036976" y="6121335"/>
            <a:ext cx="1726129" cy="659592"/>
          </a:xfrm>
        </p:spPr>
        <p:txBody>
          <a:bodyPr>
            <a:normAutofit/>
          </a:bodyPr>
          <a:lstStyle/>
          <a:p>
            <a:r>
              <a:rPr lang="en-US" altLang="ko-KR" dirty="0"/>
              <a:t>USB Mass Storage</a:t>
            </a:r>
          </a:p>
        </p:txBody>
      </p:sp>
      <p:sp>
        <p:nvSpPr>
          <p:cNvPr id="97" name="Text Placeholder 32">
            <a:extLst>
              <a:ext uri="{FF2B5EF4-FFF2-40B4-BE49-F238E27FC236}">
                <a16:creationId xmlns:a16="http://schemas.microsoft.com/office/drawing/2014/main" id="{258CED2E-C5E4-5EE0-63E5-C9113E4295E9}"/>
              </a:ext>
            </a:extLst>
          </p:cNvPr>
          <p:cNvSpPr txBox="1">
            <a:spLocks/>
          </p:cNvSpPr>
          <p:nvPr/>
        </p:nvSpPr>
        <p:spPr>
          <a:xfrm>
            <a:off x="1456489" y="4399390"/>
            <a:ext cx="595872" cy="204276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571B6D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*</a:t>
            </a:r>
            <a:r>
              <a:rPr lang="en-US" altLang="ko-KR" dirty="0"/>
              <a:t>Timer</a:t>
            </a:r>
            <a:endParaRPr lang="ru-RU" altLang="ko-KR" dirty="0"/>
          </a:p>
          <a:p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EFF00B-D1F5-341B-BF95-B94155C8B634}"/>
              </a:ext>
            </a:extLst>
          </p:cNvPr>
          <p:cNvSpPr txBox="1"/>
          <p:nvPr/>
        </p:nvSpPr>
        <p:spPr>
          <a:xfrm>
            <a:off x="8669225" y="6530168"/>
            <a:ext cx="31005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*</a:t>
            </a:r>
            <a:r>
              <a:rPr lang="ko-KR" altLang="en-US" sz="1200" dirty="0"/>
              <a:t>  실무에 특화된 응용문제가 존재하는 </a:t>
            </a:r>
            <a:r>
              <a:rPr lang="ko-KR" altLang="en-US" sz="1200" dirty="0" err="1"/>
              <a:t>회차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7717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7CC2C32-2B98-6B47-AFA5-1009326DF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493" y="0"/>
            <a:ext cx="5947646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BB31C44-31E4-68F2-5A5B-2780DCE514E0}"/>
              </a:ext>
            </a:extLst>
          </p:cNvPr>
          <p:cNvSpPr/>
          <p:nvPr/>
        </p:nvSpPr>
        <p:spPr>
          <a:xfrm>
            <a:off x="8985" y="0"/>
            <a:ext cx="2764302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25FA6-C969-F6F7-C840-477882525D7E}"/>
              </a:ext>
            </a:extLst>
          </p:cNvPr>
          <p:cNvSpPr txBox="1"/>
          <p:nvPr/>
        </p:nvSpPr>
        <p:spPr>
          <a:xfrm>
            <a:off x="201818" y="998384"/>
            <a:ext cx="2378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세미나 로드맵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ko-KR" altLang="en-US" sz="2000" dirty="0">
                <a:solidFill>
                  <a:schemeClr val="bg1"/>
                </a:solidFill>
              </a:rPr>
              <a:t>상세</a:t>
            </a:r>
            <a:r>
              <a:rPr lang="en-US" altLang="ko-KR" sz="2000" dirty="0">
                <a:solidFill>
                  <a:schemeClr val="bg1"/>
                </a:solidFill>
              </a:rPr>
              <a:t>)</a:t>
            </a:r>
            <a:r>
              <a:rPr lang="en-US" altLang="ko-KR" sz="1600" dirty="0">
                <a:solidFill>
                  <a:schemeClr val="bg1"/>
                </a:solidFill>
              </a:rPr>
              <a:t>    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A67160-6AFB-A3C4-BE10-2EBDA448F4BD}"/>
              </a:ext>
            </a:extLst>
          </p:cNvPr>
          <p:cNvSpPr/>
          <p:nvPr/>
        </p:nvSpPr>
        <p:spPr>
          <a:xfrm>
            <a:off x="4395618" y="2414016"/>
            <a:ext cx="5779395" cy="48768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3948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DBCB-DC37-2ED8-7610-D3830606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D22C4-2A50-3ACB-4332-C9459717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STM32F405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-1</a:t>
            </a:r>
            <a:r>
              <a:rPr lang="ko-KR" altLang="en-US" sz="2800" dirty="0"/>
              <a:t> </a:t>
            </a:r>
            <a:r>
              <a:rPr lang="en-US" altLang="ko-KR" sz="2800" dirty="0"/>
              <a:t>ADC</a:t>
            </a:r>
            <a:r>
              <a:rPr lang="ko-KR" altLang="en-US" sz="2800" dirty="0"/>
              <a:t> 구성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27C9BD-7025-A247-1945-FF10FCF59300}"/>
              </a:ext>
            </a:extLst>
          </p:cNvPr>
          <p:cNvSpPr txBox="1"/>
          <p:nvPr/>
        </p:nvSpPr>
        <p:spPr>
          <a:xfrm>
            <a:off x="1703291" y="5663025"/>
            <a:ext cx="87854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ADC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1~3</a:t>
            </a:r>
            <a:r>
              <a:rPr kumimoji="1" lang="ko-KR" altLang="en-US" dirty="0"/>
              <a:t>까지 총 </a:t>
            </a:r>
            <a:r>
              <a:rPr kumimoji="1" lang="en-US" altLang="ko-KR" dirty="0"/>
              <a:t>3</a:t>
            </a:r>
            <a:r>
              <a:rPr kumimoji="1" lang="ko-KR" altLang="en-US" dirty="0"/>
              <a:t>개 존재하면 </a:t>
            </a:r>
            <a:r>
              <a:rPr kumimoji="1" lang="en-US" altLang="ko-KR" dirty="0"/>
              <a:t>MUX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통해 </a:t>
            </a:r>
            <a:r>
              <a:rPr kumimoji="1" lang="en-US" altLang="ko-KR" dirty="0"/>
              <a:t>ADC</a:t>
            </a:r>
            <a:r>
              <a:rPr kumimoji="1" lang="ko-KR" altLang="en-US" dirty="0"/>
              <a:t>당 여러 입력을 처리할 수 있으며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칩 내부에 온도센서가 내장되어 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3BA81BF-46BA-0132-E431-051A671AB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569" y="3095253"/>
            <a:ext cx="5894862" cy="20367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3C7C9C-C7FD-24AE-CC70-D4CD8C93AD11}"/>
              </a:ext>
            </a:extLst>
          </p:cNvPr>
          <p:cNvSpPr txBox="1"/>
          <p:nvPr/>
        </p:nvSpPr>
        <p:spPr>
          <a:xfrm>
            <a:off x="5937644" y="5120521"/>
            <a:ext cx="31057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b="1" dirty="0"/>
              <a:t>*</a:t>
            </a:r>
            <a:r>
              <a:rPr kumimoji="1" lang="en-US" altLang="ko-KR" sz="1200" b="1" dirty="0"/>
              <a:t> ADC</a:t>
            </a:r>
            <a:r>
              <a:rPr kumimoji="1" lang="ko-KR" altLang="en-US" sz="1200" b="1" dirty="0"/>
              <a:t> </a:t>
            </a:r>
            <a:r>
              <a:rPr kumimoji="1" lang="en-US" altLang="ko-KR" sz="1200" b="1" dirty="0"/>
              <a:t>3</a:t>
            </a:r>
            <a:r>
              <a:rPr kumimoji="1" lang="ko-KR" altLang="en-US" sz="1200" b="1" dirty="0"/>
              <a:t>개 모두 해상도가 최대 </a:t>
            </a:r>
            <a:r>
              <a:rPr kumimoji="1" lang="en-US" altLang="ko-KR" sz="1200" b="1" dirty="0"/>
              <a:t>12bit </a:t>
            </a:r>
            <a:r>
              <a:rPr kumimoji="1" lang="ko-KR" altLang="en-US" sz="1200" b="1" dirty="0"/>
              <a:t>이다</a:t>
            </a:r>
            <a:r>
              <a:rPr kumimoji="1" lang="en-US" altLang="ko-KR" sz="1200" b="1" dirty="0"/>
              <a:t>.</a:t>
            </a:r>
            <a:endParaRPr kumimoji="1"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017044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8D0BD-9053-F3FB-3D11-D84F8C53B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3163D2-D06A-93CF-E494-A8C9906DE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STM32F405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-2</a:t>
            </a:r>
            <a:r>
              <a:rPr lang="ko-KR" altLang="en-US" sz="2800" dirty="0"/>
              <a:t> </a:t>
            </a:r>
            <a:r>
              <a:rPr lang="en-US" altLang="ko-KR" sz="2800" dirty="0"/>
              <a:t>ADC</a:t>
            </a:r>
            <a:r>
              <a:rPr lang="ko-KR" altLang="en-US" sz="2800" dirty="0"/>
              <a:t> 구성</a:t>
            </a:r>
            <a:r>
              <a:rPr lang="en-US" altLang="ko-KR" sz="2800" dirty="0"/>
              <a:t>(</a:t>
            </a:r>
            <a:r>
              <a:rPr lang="ko-KR" altLang="en-US" sz="2800" dirty="0"/>
              <a:t>상세</a:t>
            </a:r>
            <a:r>
              <a:rPr lang="en-US" altLang="ko-KR" sz="2800" dirty="0"/>
              <a:t>)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48D50F-447C-CB7A-AFD5-EB7C9554B0D1}"/>
              </a:ext>
            </a:extLst>
          </p:cNvPr>
          <p:cNvSpPr txBox="1"/>
          <p:nvPr/>
        </p:nvSpPr>
        <p:spPr>
          <a:xfrm>
            <a:off x="5038051" y="2551837"/>
            <a:ext cx="46753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· ADC</a:t>
            </a:r>
            <a:r>
              <a:rPr kumimoji="1" lang="ko-KR" altLang="en-US" dirty="0"/>
              <a:t>당 총 </a:t>
            </a:r>
            <a:r>
              <a:rPr kumimoji="1" lang="en-US" altLang="ko-KR" dirty="0"/>
              <a:t>16</a:t>
            </a:r>
            <a:r>
              <a:rPr kumimoji="1" lang="ko-KR" altLang="en-US" dirty="0"/>
              <a:t>개의 외부 </a:t>
            </a:r>
            <a:r>
              <a:rPr kumimoji="1" lang="en-US" altLang="ko-KR" dirty="0"/>
              <a:t>PIN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부터</a:t>
            </a:r>
            <a:r>
              <a:rPr kumimoji="1" lang="ko-KR" altLang="en-US" dirty="0"/>
              <a:t> 값을 받아오면 내장된 </a:t>
            </a:r>
            <a:r>
              <a:rPr kumimoji="1" lang="en-US" altLang="ko-KR" dirty="0"/>
              <a:t>Analog MUX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통해 처리된다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· </a:t>
            </a:r>
            <a:r>
              <a:rPr kumimoji="1" lang="ko-KR" altLang="en-US" dirty="0"/>
              <a:t>다양한 트리거 신호</a:t>
            </a:r>
            <a:r>
              <a:rPr kumimoji="1" lang="en-US" altLang="ko-KR" dirty="0"/>
              <a:t>(ex. TIM, EXTI)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통해 </a:t>
            </a:r>
            <a:r>
              <a:rPr kumimoji="1" lang="en-US" altLang="ko-KR" dirty="0"/>
              <a:t>ADC</a:t>
            </a:r>
            <a:r>
              <a:rPr kumimoji="1" lang="ko-KR" altLang="en-US" dirty="0"/>
              <a:t> 변환 트리거로 사용</a:t>
            </a:r>
            <a:r>
              <a:rPr kumimoji="1" lang="en-US" altLang="ko-KR" dirty="0"/>
              <a:t> </a:t>
            </a:r>
            <a:r>
              <a:rPr kumimoji="1" lang="ko-KR" altLang="en-US" dirty="0"/>
              <a:t>가능하다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45A9C39-91B3-6C58-CE33-E2BC3641C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365393"/>
            <a:ext cx="4223635" cy="443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912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A22C9-8255-7F0F-7D8C-0A5576A3A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18619-FF4E-0B16-86E5-8A58277C3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STM32F405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-3</a:t>
            </a:r>
            <a:r>
              <a:rPr lang="ko-KR" altLang="en-US" sz="2800" dirty="0"/>
              <a:t> </a:t>
            </a:r>
            <a:r>
              <a:rPr lang="en-US" altLang="ko-KR" sz="2800" dirty="0"/>
              <a:t>ADC</a:t>
            </a:r>
            <a:r>
              <a:rPr lang="ko-KR" altLang="en-US" sz="2800" dirty="0"/>
              <a:t> </a:t>
            </a:r>
            <a:r>
              <a:rPr lang="en-US" altLang="ko-KR" sz="2800" dirty="0"/>
              <a:t>IT </a:t>
            </a:r>
            <a:r>
              <a:rPr lang="ko-KR" altLang="en-US" sz="2800" dirty="0"/>
              <a:t>구성</a:t>
            </a:r>
            <a:endParaRPr lang="ko-KR" altLang="en-US" dirty="0">
              <a:latin typeface="+mn-lt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F4A925C-8FD3-6225-0406-3C452ED43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365393"/>
            <a:ext cx="4223635" cy="443179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7CE11FF9-EF4C-6F02-340C-AE2652683CF3}"/>
              </a:ext>
            </a:extLst>
          </p:cNvPr>
          <p:cNvSpPr/>
          <p:nvPr/>
        </p:nvSpPr>
        <p:spPr>
          <a:xfrm>
            <a:off x="1626478" y="2483796"/>
            <a:ext cx="2854731" cy="110895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A7A16-8027-820C-B093-91AEAE1D0B85}"/>
              </a:ext>
            </a:extLst>
          </p:cNvPr>
          <p:cNvSpPr txBox="1"/>
          <p:nvPr/>
        </p:nvSpPr>
        <p:spPr>
          <a:xfrm>
            <a:off x="4708187" y="2582629"/>
            <a:ext cx="706045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· EOC (End of Conversion): </a:t>
            </a:r>
            <a:r>
              <a:rPr lang="ko-KR" altLang="en-US" sz="1400" dirty="0"/>
              <a:t>레귤러 변환이 완료되었음을 알리는 플래그</a:t>
            </a:r>
            <a:endParaRPr lang="en-US" altLang="ko-KR" sz="1400" dirty="0"/>
          </a:p>
          <a:p>
            <a:r>
              <a:rPr lang="en-US" altLang="ko-KR" sz="1400" dirty="0"/>
              <a:t>· JEOC(End of Injected Conversion): </a:t>
            </a:r>
            <a:r>
              <a:rPr lang="ko-KR" altLang="en-US" sz="1400" dirty="0" err="1"/>
              <a:t>인젝티드</a:t>
            </a:r>
            <a:r>
              <a:rPr lang="ko-KR" altLang="en-US" sz="1400" dirty="0"/>
              <a:t> 변환이 완료되었음을 알리는 플래그</a:t>
            </a:r>
            <a:endParaRPr lang="en-US" altLang="ko-KR" sz="1400" dirty="0"/>
          </a:p>
          <a:p>
            <a:r>
              <a:rPr lang="en-US" altLang="ko-KR" sz="1400" dirty="0"/>
              <a:t>· AWD(Analog Watchdog Event): </a:t>
            </a:r>
            <a:r>
              <a:rPr lang="ko-KR" altLang="en-US" sz="1400" dirty="0"/>
              <a:t>아날로그 </a:t>
            </a:r>
            <a:r>
              <a:rPr lang="ko-KR" altLang="en-US" sz="1400" dirty="0" err="1"/>
              <a:t>워치독</a:t>
            </a:r>
            <a:r>
              <a:rPr lang="ko-KR" altLang="en-US" sz="1400" dirty="0"/>
              <a:t> 이벤트가 발생했음을 알리는 플래그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· ADC Interrupt to NVIC: </a:t>
            </a:r>
            <a:r>
              <a:rPr lang="ko-KR" altLang="en-US" sz="1400" dirty="0"/>
              <a:t>위 </a:t>
            </a:r>
            <a:r>
              <a:rPr lang="en-US" altLang="ko-KR" sz="1400" dirty="0"/>
              <a:t>3</a:t>
            </a:r>
            <a:r>
              <a:rPr lang="ko-KR" altLang="en-US" sz="1400" dirty="0"/>
              <a:t>가지 플래그</a:t>
            </a:r>
            <a:r>
              <a:rPr lang="en-US" altLang="ko-KR" sz="1400" dirty="0"/>
              <a:t>(EOC, JEOC, AWD) </a:t>
            </a:r>
            <a:r>
              <a:rPr lang="ko-KR" altLang="en-US" sz="1400" dirty="0"/>
              <a:t>중 하나라도 발생하고 </a:t>
            </a:r>
            <a:endParaRPr lang="en-US" altLang="ko-KR" sz="1400" dirty="0"/>
          </a:p>
          <a:p>
            <a:r>
              <a:rPr lang="ko-KR" altLang="en-US" sz="1400" dirty="0"/>
              <a:t>해당 인터럽트가 활성화</a:t>
            </a:r>
            <a:r>
              <a:rPr lang="en-US" altLang="ko-KR" sz="1400" dirty="0"/>
              <a:t>(Enable)</a:t>
            </a:r>
            <a:r>
              <a:rPr lang="ko-KR" altLang="en-US" sz="1400" dirty="0"/>
              <a:t>되어 있다면</a:t>
            </a:r>
            <a:r>
              <a:rPr lang="en-US" altLang="ko-KR" sz="1400" dirty="0"/>
              <a:t>, CPU</a:t>
            </a:r>
            <a:r>
              <a:rPr lang="ko-KR" altLang="en-US" sz="1400" dirty="0"/>
              <a:t>에게 </a:t>
            </a:r>
            <a:r>
              <a:rPr lang="en-US" altLang="ko-KR" sz="1400" dirty="0"/>
              <a:t>ADC </a:t>
            </a:r>
            <a:r>
              <a:rPr lang="ko-KR" altLang="en-US" sz="1400" dirty="0"/>
              <a:t>인터럽트 신호를 보낸다</a:t>
            </a:r>
            <a:r>
              <a:rPr lang="en-US" altLang="ko-KR" sz="1400" dirty="0"/>
              <a:t>.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r>
              <a:rPr lang="en-US" altLang="ko-KR" sz="1400" dirty="0"/>
              <a:t>(NVIC</a:t>
            </a:r>
            <a:r>
              <a:rPr lang="ko-KR" altLang="en-US" sz="1400" dirty="0"/>
              <a:t>는 </a:t>
            </a:r>
            <a:r>
              <a:rPr lang="en-US" altLang="ko-KR" sz="1400" dirty="0"/>
              <a:t>CPU</a:t>
            </a:r>
            <a:r>
              <a:rPr lang="ko-KR" altLang="en-US" sz="1400" dirty="0"/>
              <a:t>의 인터럽트 관리자</a:t>
            </a:r>
            <a:r>
              <a:rPr lang="en-US" altLang="ko-KR" sz="1400" dirty="0"/>
              <a:t>)</a:t>
            </a:r>
            <a:endParaRPr kumimoji="1"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6CB29A-13B9-8B04-6F42-69A8201E7A46}"/>
              </a:ext>
            </a:extLst>
          </p:cNvPr>
          <p:cNvSpPr txBox="1"/>
          <p:nvPr/>
        </p:nvSpPr>
        <p:spPr>
          <a:xfrm>
            <a:off x="6744505" y="6262042"/>
            <a:ext cx="5024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b="1" dirty="0"/>
              <a:t>* </a:t>
            </a:r>
            <a:r>
              <a:rPr kumimoji="1" lang="ko-KR" altLang="en-US" sz="1200" b="1" dirty="0" err="1"/>
              <a:t>인젝티드는</a:t>
            </a:r>
            <a:r>
              <a:rPr kumimoji="1" lang="ko-KR" altLang="en-US" sz="1200" b="1" dirty="0"/>
              <a:t> 레귤러 채널이 변환 중이라고 </a:t>
            </a:r>
            <a:r>
              <a:rPr kumimoji="1" lang="ko-KR" altLang="en-US" sz="1200" b="1" dirty="0" err="1"/>
              <a:t>인젝티드</a:t>
            </a:r>
            <a:r>
              <a:rPr kumimoji="1" lang="ko-KR" altLang="en-US" sz="1200" b="1" dirty="0"/>
              <a:t> 트리거가 발생되면</a:t>
            </a:r>
            <a:endParaRPr kumimoji="1" lang="en-US" altLang="ko-KR" sz="1200" b="1" dirty="0"/>
          </a:p>
          <a:p>
            <a:r>
              <a:rPr kumimoji="1" lang="ko-KR" altLang="en-US" sz="1200" b="1" dirty="0"/>
              <a:t>레귤러 변환을 즉시 중단 시키고 </a:t>
            </a:r>
            <a:r>
              <a:rPr kumimoji="1" lang="ko-KR" altLang="en-US" sz="1200" b="1" dirty="0" err="1"/>
              <a:t>인젝티드</a:t>
            </a:r>
            <a:r>
              <a:rPr kumimoji="1" lang="ko-KR" altLang="en-US" sz="1200" b="1" dirty="0"/>
              <a:t> 채널부터 변환한다</a:t>
            </a:r>
            <a:r>
              <a:rPr kumimoji="1" lang="en-US" altLang="ko-KR" sz="1200" b="1" dirty="0"/>
              <a:t>.</a:t>
            </a:r>
            <a:endParaRPr kumimoji="1"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135022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98E7E-BB72-B3EB-2D45-32C723261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465BB6-A3E9-DBF0-A41F-81EA9DCB1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STM32F405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-4</a:t>
            </a:r>
            <a:r>
              <a:rPr lang="ko-KR" altLang="en-US" sz="2800" dirty="0"/>
              <a:t> </a:t>
            </a:r>
            <a:r>
              <a:rPr lang="en-US" altLang="ko-KR" sz="2800" dirty="0"/>
              <a:t>ADC</a:t>
            </a:r>
            <a:r>
              <a:rPr lang="ko-KR" altLang="en-US" sz="2800" dirty="0"/>
              <a:t> </a:t>
            </a:r>
            <a:r>
              <a:rPr lang="en-US" altLang="ko-KR" sz="2800" dirty="0"/>
              <a:t>IT(AWD </a:t>
            </a:r>
            <a:r>
              <a:rPr lang="ko-KR" altLang="en-US" sz="2800" dirty="0"/>
              <a:t>사용방법</a:t>
            </a:r>
            <a:r>
              <a:rPr lang="en-US" altLang="ko-KR" sz="2800" dirty="0"/>
              <a:t>)</a:t>
            </a:r>
            <a:endParaRPr lang="ko-KR" altLang="en-US" dirty="0">
              <a:latin typeface="+mn-lt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84233BE-8EB8-24D6-326F-F48E9D54D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365393"/>
            <a:ext cx="4223635" cy="443179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04E3859-58A5-30A6-865E-CEDC6E46004E}"/>
              </a:ext>
            </a:extLst>
          </p:cNvPr>
          <p:cNvSpPr/>
          <p:nvPr/>
        </p:nvSpPr>
        <p:spPr>
          <a:xfrm>
            <a:off x="1626478" y="2483796"/>
            <a:ext cx="2854731" cy="110895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20C4D9-FD11-C815-371D-DA7D2E570381}"/>
              </a:ext>
            </a:extLst>
          </p:cNvPr>
          <p:cNvSpPr txBox="1"/>
          <p:nvPr/>
        </p:nvSpPr>
        <p:spPr>
          <a:xfrm>
            <a:off x="4708187" y="2577701"/>
            <a:ext cx="706045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· AWD(Analog Watchdog Event): </a:t>
            </a:r>
            <a:r>
              <a:rPr lang="ko-KR" altLang="en-US" sz="1400" dirty="0"/>
              <a:t>아날로그 </a:t>
            </a:r>
            <a:r>
              <a:rPr lang="ko-KR" altLang="en-US" sz="1400" dirty="0" err="1"/>
              <a:t>워치독</a:t>
            </a:r>
            <a:r>
              <a:rPr lang="ko-KR" altLang="en-US" sz="1400" dirty="0"/>
              <a:t> 이벤트가 발생했음을 알리는 플래그</a:t>
            </a:r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AWD</a:t>
            </a:r>
            <a:r>
              <a:rPr lang="ko-KR" altLang="en-US" sz="1400" dirty="0"/>
              <a:t>는 </a:t>
            </a:r>
            <a:r>
              <a:rPr lang="ko-KR" altLang="en-US" sz="1400" b="1" dirty="0"/>
              <a:t>하드웨어로 구현된 </a:t>
            </a:r>
            <a:r>
              <a:rPr lang="ko-KR" altLang="en-US" sz="1400" dirty="0"/>
              <a:t>전압 감시 장치이며</a:t>
            </a:r>
            <a:r>
              <a:rPr lang="en-US" altLang="ko-KR" sz="1400" dirty="0"/>
              <a:t>,</a:t>
            </a:r>
            <a:r>
              <a:rPr lang="ko-KR" altLang="en-US" sz="1400" dirty="0"/>
              <a:t> 사용법은 다음과 같다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Higher threshold/Lower threshold(</a:t>
            </a:r>
            <a:r>
              <a:rPr lang="ko-KR" altLang="en-US" sz="1400" dirty="0"/>
              <a:t>사용자가 미리 상한</a:t>
            </a:r>
            <a:r>
              <a:rPr lang="en-US" altLang="ko-KR" sz="1400" dirty="0"/>
              <a:t>/</a:t>
            </a:r>
            <a:r>
              <a:rPr lang="ko-KR" altLang="en-US" sz="1400" dirty="0"/>
              <a:t>하한 전압 값을 레지스터에 설정해 둔다</a:t>
            </a:r>
            <a:r>
              <a:rPr lang="en-US" altLang="ko-KR" sz="1400" dirty="0"/>
              <a:t>.</a:t>
            </a:r>
          </a:p>
          <a:p>
            <a:pPr marL="342900" indent="-342900">
              <a:buAutoNum type="arabicPeriod"/>
            </a:pPr>
            <a:r>
              <a:rPr lang="en-US" altLang="ko-KR" sz="1400" dirty="0"/>
              <a:t>Analog mux</a:t>
            </a:r>
            <a:r>
              <a:rPr lang="ko-KR" altLang="en-US" sz="1400" dirty="0" err="1"/>
              <a:t>를</a:t>
            </a:r>
            <a:r>
              <a:rPr lang="ko-KR" altLang="en-US" sz="1400" dirty="0"/>
              <a:t> 통과한 아날로그 신호가 이 설정된 범위를 벗어나면 </a:t>
            </a:r>
            <a:r>
              <a:rPr lang="en-US" altLang="ko-KR" sz="1400" dirty="0"/>
              <a:t>AWD</a:t>
            </a:r>
            <a:r>
              <a:rPr lang="ko-KR" altLang="en-US" sz="1400" dirty="0"/>
              <a:t> 플래그가 발생하게 된다</a:t>
            </a:r>
            <a:r>
              <a:rPr lang="en-US" altLang="ko-KR" sz="1400" dirty="0"/>
              <a:t>.</a:t>
            </a:r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r>
              <a:rPr lang="ko-KR" altLang="en-US" sz="1400" dirty="0"/>
              <a:t>이를 응용하면 </a:t>
            </a:r>
            <a:r>
              <a:rPr lang="en-US" altLang="ko-KR" sz="1400" dirty="0"/>
              <a:t>UVP, OVP, OCP</a:t>
            </a:r>
            <a:r>
              <a:rPr lang="ko-KR" altLang="en-US" sz="1400" dirty="0"/>
              <a:t> 같은 안전 기능을 만들기 편하다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9904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99E93-333D-4726-2262-73AF28F4C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9F888B-2819-D291-B4F8-EFF981A69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ADC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-1 raw </a:t>
            </a:r>
            <a:r>
              <a:rPr lang="ko-KR" altLang="en-US" sz="2800" dirty="0"/>
              <a:t>데이터 </a:t>
            </a:r>
            <a:r>
              <a:rPr lang="ko-KR" altLang="en-US" sz="2800" dirty="0" err="1"/>
              <a:t>전압값으로</a:t>
            </a:r>
            <a:r>
              <a:rPr lang="ko-KR" altLang="en-US" sz="2800" dirty="0"/>
              <a:t> 변환 방법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B1C0D4-A8D2-BEAC-70B6-4EF160B37F19}"/>
              </a:ext>
            </a:extLst>
          </p:cNvPr>
          <p:cNvSpPr txBox="1"/>
          <p:nvPr/>
        </p:nvSpPr>
        <p:spPr>
          <a:xfrm>
            <a:off x="1552737" y="3668388"/>
            <a:ext cx="4654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Voltage = (raw / 2^n) * </a:t>
            </a:r>
            <a:r>
              <a:rPr lang="en-US" altLang="ko-KR" sz="2400" b="1" dirty="0" err="1"/>
              <a:t>Vref</a:t>
            </a:r>
            <a:endParaRPr kumimoji="1"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E0C816-3122-FF62-C76B-FCE570BBEFA4}"/>
              </a:ext>
            </a:extLst>
          </p:cNvPr>
          <p:cNvSpPr txBox="1"/>
          <p:nvPr/>
        </p:nvSpPr>
        <p:spPr>
          <a:xfrm>
            <a:off x="7604800" y="4485899"/>
            <a:ext cx="49740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b="1" dirty="0"/>
              <a:t>raw</a:t>
            </a:r>
            <a:r>
              <a:rPr kumimoji="1" lang="ko-KR" altLang="en-US" sz="1200" b="1" dirty="0"/>
              <a:t> </a:t>
            </a:r>
            <a:r>
              <a:rPr kumimoji="1" lang="en-US" altLang="ko-KR" sz="1200" b="1" dirty="0"/>
              <a:t>=</a:t>
            </a:r>
            <a:r>
              <a:rPr kumimoji="1" lang="ko-KR" altLang="en-US" sz="1200" b="1" dirty="0"/>
              <a:t> </a:t>
            </a:r>
            <a:r>
              <a:rPr kumimoji="1" lang="en-US" altLang="ko-KR" sz="1200" b="1" dirty="0"/>
              <a:t>ADC</a:t>
            </a:r>
            <a:r>
              <a:rPr kumimoji="1" lang="ko-KR" altLang="en-US" sz="1200" b="1" dirty="0"/>
              <a:t>에서 변환된 값</a:t>
            </a:r>
            <a:endParaRPr kumimoji="1" lang="en-US" altLang="ko-KR" sz="1200" b="1" dirty="0"/>
          </a:p>
          <a:p>
            <a:r>
              <a:rPr kumimoji="1" lang="en-US" altLang="ko-KR" sz="1200" b="1" dirty="0"/>
              <a:t>n = ADC </a:t>
            </a:r>
            <a:r>
              <a:rPr kumimoji="1" lang="ko-KR" altLang="en-US" sz="1200" b="1" dirty="0"/>
              <a:t>비트 해상도</a:t>
            </a:r>
            <a:r>
              <a:rPr kumimoji="1" lang="en-US" altLang="ko-KR" sz="1200" b="1" dirty="0"/>
              <a:t>(ex</a:t>
            </a:r>
            <a:r>
              <a:rPr kumimoji="1" lang="ko-KR" altLang="en-US" sz="1200" b="1" dirty="0"/>
              <a:t> </a:t>
            </a:r>
            <a:r>
              <a:rPr kumimoji="1" lang="en-US" altLang="ko-KR" sz="1200" b="1" dirty="0"/>
              <a:t>10 bit </a:t>
            </a:r>
            <a:r>
              <a:rPr kumimoji="1" lang="ko-KR" altLang="en-US" sz="1200" b="1" dirty="0"/>
              <a:t>라면 </a:t>
            </a:r>
            <a:r>
              <a:rPr kumimoji="1" lang="en-US" altLang="ko-KR" sz="1200" b="1" dirty="0"/>
              <a:t>2^10</a:t>
            </a:r>
            <a:r>
              <a:rPr kumimoji="1" lang="ko-KR" altLang="en-US" sz="1200" b="1" dirty="0"/>
              <a:t> </a:t>
            </a:r>
            <a:r>
              <a:rPr kumimoji="1" lang="en-US" altLang="ko-KR" sz="1200" b="1" dirty="0"/>
              <a:t>=</a:t>
            </a:r>
            <a:r>
              <a:rPr kumimoji="1" lang="ko-KR" altLang="en-US" sz="1200" b="1" dirty="0"/>
              <a:t> </a:t>
            </a:r>
            <a:r>
              <a:rPr kumimoji="1" lang="en-US" altLang="ko-KR" sz="1200" b="1" dirty="0"/>
              <a:t>1024)</a:t>
            </a:r>
          </a:p>
          <a:p>
            <a:r>
              <a:rPr kumimoji="1" lang="en-US" altLang="ko-KR" sz="1200" b="1" dirty="0" err="1"/>
              <a:t>Vref</a:t>
            </a:r>
            <a:r>
              <a:rPr kumimoji="1" lang="en-US" altLang="ko-KR" sz="1200" b="1" dirty="0"/>
              <a:t> = ADC</a:t>
            </a:r>
            <a:r>
              <a:rPr kumimoji="1" lang="ko-KR" altLang="en-US" sz="1200" b="1" dirty="0"/>
              <a:t> 기준전압</a:t>
            </a:r>
            <a:r>
              <a:rPr kumimoji="1" lang="en-US" altLang="ko-KR" sz="1200" b="1" dirty="0"/>
              <a:t>(</a:t>
            </a:r>
            <a:r>
              <a:rPr kumimoji="1" lang="ko-KR" altLang="en-US" sz="1200" b="1" dirty="0"/>
              <a:t>* </a:t>
            </a:r>
            <a:r>
              <a:rPr kumimoji="1" lang="en-US" altLang="ko-KR" sz="1200" b="1" dirty="0"/>
              <a:t>ARM </a:t>
            </a:r>
            <a:r>
              <a:rPr kumimoji="1" lang="ko-KR" altLang="en-US" sz="1200" b="1" dirty="0"/>
              <a:t>트레이닝 보드에서는 약</a:t>
            </a:r>
            <a:r>
              <a:rPr kumimoji="1" lang="en-US" altLang="ko-KR" sz="1200" b="1" dirty="0"/>
              <a:t>3.3V</a:t>
            </a:r>
            <a:r>
              <a:rPr kumimoji="1" lang="ko-KR" altLang="en-US" sz="1200" b="1" dirty="0"/>
              <a:t> 고정</a:t>
            </a:r>
            <a:endParaRPr kumimoji="1" lang="en-US" altLang="ko-KR" sz="1200" b="1" dirty="0"/>
          </a:p>
          <a:p>
            <a:endParaRPr kumimoji="1" lang="ko-KR" altLang="en-US" sz="1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A6E11B-5F6E-6E09-99FB-010BADD63487}"/>
              </a:ext>
            </a:extLst>
          </p:cNvPr>
          <p:cNvSpPr txBox="1"/>
          <p:nvPr/>
        </p:nvSpPr>
        <p:spPr>
          <a:xfrm>
            <a:off x="1552737" y="5745804"/>
            <a:ext cx="9086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ADC</a:t>
            </a:r>
            <a:r>
              <a:rPr kumimoji="1" lang="ko-KR" altLang="en-US" dirty="0"/>
              <a:t>에서 측정된</a:t>
            </a:r>
            <a:r>
              <a:rPr kumimoji="1" lang="en-US" altLang="ko-KR" dirty="0"/>
              <a:t> raw</a:t>
            </a:r>
            <a:r>
              <a:rPr kumimoji="1" lang="ko-KR" altLang="en-US" dirty="0"/>
              <a:t>데이터를 전압 값으로 변환하기 위해서는 위 공식을 사용하면 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F9BBC3D-A967-E7F0-8A5D-3770A0CE3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800" y="2603988"/>
            <a:ext cx="4100209" cy="16879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0BAF2C-1D42-66F2-BABA-FAD480E694C4}"/>
              </a:ext>
            </a:extLst>
          </p:cNvPr>
          <p:cNvSpPr txBox="1"/>
          <p:nvPr/>
        </p:nvSpPr>
        <p:spPr>
          <a:xfrm>
            <a:off x="1552738" y="4485899"/>
            <a:ext cx="3589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if ADC raw Data = 1000</a:t>
            </a:r>
            <a:r>
              <a:rPr kumimoji="1" lang="ko-KR" altLang="en-US" dirty="0"/>
              <a:t> 이라면</a:t>
            </a:r>
            <a:endParaRPr kumimoji="1" lang="en-US" altLang="ko-KR" dirty="0"/>
          </a:p>
          <a:p>
            <a:r>
              <a:rPr kumimoji="1" lang="en-US" altLang="ko-KR" dirty="0"/>
              <a:t>V = (1000/4096) * 3.3 = 0.8057V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0506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0ECD5-60D5-9E6E-59DA-5083FCE78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A69A28-AED6-F890-3847-98D2CC6C1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DMA(</a:t>
            </a:r>
            <a:r>
              <a:rPr lang="en-US" altLang="ko-KR" dirty="0"/>
              <a:t>Direct Memory Access)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/>
              <a:t>3-1 DMA</a:t>
            </a:r>
            <a:r>
              <a:rPr lang="ko-KR" altLang="en-US" sz="2800" dirty="0"/>
              <a:t>란</a:t>
            </a:r>
            <a:r>
              <a:rPr lang="en-US" altLang="ko-KR" sz="2800" dirty="0"/>
              <a:t>?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3245416-FA4D-B87A-FA55-E293CEC55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67" y="2702232"/>
            <a:ext cx="5838217" cy="25857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573EA1-DB70-4525-3345-A2EB5A871167}"/>
              </a:ext>
            </a:extLst>
          </p:cNvPr>
          <p:cNvSpPr txBox="1"/>
          <p:nvPr/>
        </p:nvSpPr>
        <p:spPr>
          <a:xfrm>
            <a:off x="2469846" y="5937612"/>
            <a:ext cx="72523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DMA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CPU</a:t>
            </a:r>
            <a:r>
              <a:rPr kumimoji="1" lang="ko-KR" altLang="en-US" dirty="0"/>
              <a:t>의 개입 없이 데이터를 메모리로 직접 전송하는 기능이다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이로 인해 </a:t>
            </a:r>
            <a:r>
              <a:rPr kumimoji="1" lang="en-US" altLang="ko-KR" dirty="0"/>
              <a:t>CPU</a:t>
            </a:r>
            <a:r>
              <a:rPr kumimoji="1" lang="ko-KR" altLang="en-US" dirty="0"/>
              <a:t> 점유율이 줄고 연속적인 데이터 처리가 가능해진다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46C8F4-AB17-F1C3-F872-D97AE5D192AE}"/>
              </a:ext>
            </a:extLst>
          </p:cNvPr>
          <p:cNvSpPr txBox="1"/>
          <p:nvPr/>
        </p:nvSpPr>
        <p:spPr>
          <a:xfrm>
            <a:off x="4769541" y="5288017"/>
            <a:ext cx="40687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50" b="1" dirty="0"/>
              <a:t>* </a:t>
            </a:r>
            <a:r>
              <a:rPr kumimoji="1" lang="en-US" altLang="ko-KR" sz="1050" b="1" dirty="0"/>
              <a:t>STM32</a:t>
            </a:r>
            <a:r>
              <a:rPr kumimoji="1" lang="ko-KR" altLang="en-US" sz="1050" b="1" dirty="0"/>
              <a:t>에는 </a:t>
            </a:r>
            <a:r>
              <a:rPr kumimoji="1" lang="en-US" altLang="ko-KR" sz="1050" b="1" dirty="0"/>
              <a:t>ADC</a:t>
            </a:r>
            <a:r>
              <a:rPr kumimoji="1" lang="ko-KR" altLang="en-US" sz="1050" b="1" dirty="0"/>
              <a:t> 말고도 많은 주변 장치들이 </a:t>
            </a:r>
            <a:r>
              <a:rPr kumimoji="1" lang="en-US" altLang="ko-KR" sz="1050" b="1" dirty="0"/>
              <a:t>DMA</a:t>
            </a:r>
            <a:r>
              <a:rPr kumimoji="1" lang="ko-KR" altLang="en-US" sz="1050" b="1" dirty="0" err="1"/>
              <a:t>를</a:t>
            </a:r>
            <a:r>
              <a:rPr kumimoji="1" lang="ko-KR" altLang="en-US" sz="1050" b="1" dirty="0"/>
              <a:t> 지원한다</a:t>
            </a:r>
            <a:r>
              <a:rPr kumimoji="1" lang="en-US" altLang="ko-KR" sz="1050" b="1" dirty="0"/>
              <a:t>.</a:t>
            </a:r>
            <a:endParaRPr kumimoji="1" lang="ko-KR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663515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65C48-5261-125A-1A35-BB1D12C85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70CCD9-50AA-88F8-227E-35461DB2A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DMA(</a:t>
            </a:r>
            <a:r>
              <a:rPr lang="en-US" altLang="ko-KR" dirty="0"/>
              <a:t>Direct Memory Access)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/>
              <a:t>3-2 STM32F405 DMA </a:t>
            </a:r>
            <a:r>
              <a:rPr lang="ko-KR" altLang="en-US" sz="2800" dirty="0"/>
              <a:t>구성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B7B30-72B1-7A1D-9C6D-C2C8196802B2}"/>
              </a:ext>
            </a:extLst>
          </p:cNvPr>
          <p:cNvSpPr txBox="1"/>
          <p:nvPr/>
        </p:nvSpPr>
        <p:spPr>
          <a:xfrm>
            <a:off x="4234774" y="2854005"/>
            <a:ext cx="7957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· F405, 407</a:t>
            </a:r>
            <a:r>
              <a:rPr kumimoji="1" lang="ko-KR" altLang="en-US" dirty="0"/>
              <a:t>에는 </a:t>
            </a:r>
            <a:r>
              <a:rPr kumimoji="1" lang="en-US" altLang="ko-KR" b="1" dirty="0"/>
              <a:t>DMA</a:t>
            </a:r>
            <a:r>
              <a:rPr kumimoji="1" lang="ko-KR" altLang="en-US" b="1" dirty="0"/>
              <a:t>가 총 </a:t>
            </a:r>
            <a:r>
              <a:rPr kumimoji="1" lang="en-US" altLang="ko-KR" b="1" dirty="0"/>
              <a:t>2</a:t>
            </a:r>
            <a:r>
              <a:rPr kumimoji="1" lang="ko-KR" altLang="en-US" b="1" dirty="0"/>
              <a:t>개 </a:t>
            </a:r>
            <a:r>
              <a:rPr kumimoji="1" lang="ko-KR" altLang="en-US" dirty="0"/>
              <a:t>있으며</a:t>
            </a:r>
            <a:r>
              <a:rPr kumimoji="1" lang="en-US" altLang="ko-KR" dirty="0"/>
              <a:t>, </a:t>
            </a:r>
            <a:r>
              <a:rPr kumimoji="1" lang="ko-KR" altLang="en-US" b="1" dirty="0"/>
              <a:t>각각 </a:t>
            </a:r>
            <a:r>
              <a:rPr kumimoji="1" lang="en-US" altLang="ko-KR" b="1" dirty="0"/>
              <a:t>8</a:t>
            </a:r>
            <a:r>
              <a:rPr kumimoji="1" lang="ko-KR" altLang="en-US" b="1" dirty="0"/>
              <a:t>개의 스트림 </a:t>
            </a:r>
            <a:r>
              <a:rPr kumimoji="1" lang="en-US" altLang="ko-KR" b="1" dirty="0"/>
              <a:t>FIFO</a:t>
            </a:r>
            <a:r>
              <a:rPr kumimoji="1" lang="ko-KR" altLang="en-US" b="1" dirty="0" err="1"/>
              <a:t>를</a:t>
            </a:r>
            <a:r>
              <a:rPr kumimoji="1" lang="ko-KR" altLang="en-US" b="1" dirty="0"/>
              <a:t> 지원한다</a:t>
            </a:r>
            <a:r>
              <a:rPr kumimoji="1" lang="en-US" altLang="ko-KR" b="1" dirty="0"/>
              <a:t>.</a:t>
            </a:r>
            <a:endParaRPr kumimoji="1"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653958C-BA26-1035-C962-F9CB4014B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302213"/>
            <a:ext cx="3765435" cy="455578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C0F8753-D056-5708-2F3D-BDAA896F8C8D}"/>
              </a:ext>
            </a:extLst>
          </p:cNvPr>
          <p:cNvSpPr/>
          <p:nvPr/>
        </p:nvSpPr>
        <p:spPr>
          <a:xfrm>
            <a:off x="1360290" y="3347871"/>
            <a:ext cx="565788" cy="34215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39F9FD-2DBD-F31D-E485-9852379B3673}"/>
              </a:ext>
            </a:extLst>
          </p:cNvPr>
          <p:cNvSpPr txBox="1"/>
          <p:nvPr/>
        </p:nvSpPr>
        <p:spPr>
          <a:xfrm>
            <a:off x="8875510" y="6433971"/>
            <a:ext cx="22605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100" b="1" dirty="0"/>
              <a:t>* </a:t>
            </a:r>
            <a:r>
              <a:rPr kumimoji="1" lang="en-US" altLang="ko-KR" sz="1100" b="1" dirty="0"/>
              <a:t>F405 </a:t>
            </a:r>
            <a:r>
              <a:rPr kumimoji="1" lang="ko-KR" altLang="en-US" sz="1100" b="1" dirty="0"/>
              <a:t>기준 </a:t>
            </a:r>
            <a:r>
              <a:rPr kumimoji="1" lang="en-US" altLang="ko-KR" sz="1100" b="1" dirty="0"/>
              <a:t>DMA</a:t>
            </a:r>
            <a:r>
              <a:rPr kumimoji="1" lang="ko-KR" altLang="en-US" sz="1100" b="1" dirty="0"/>
              <a:t> 지원 주변장치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7661F6B-2980-2FDE-A2FD-33F9FF4AF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965" y="3347871"/>
            <a:ext cx="63881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222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230E8-C72C-7EFD-F2AF-E46F0ECF7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CD99F4-06C3-3365-918E-A3F1D2FA3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DMA(</a:t>
            </a:r>
            <a:r>
              <a:rPr lang="en-US" altLang="ko-KR" dirty="0"/>
              <a:t>Direct Memory Access)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/>
              <a:t>3-3 DMA vs</a:t>
            </a:r>
            <a:r>
              <a:rPr lang="ko-KR" altLang="en-US" sz="2800" dirty="0"/>
              <a:t> </a:t>
            </a:r>
            <a:r>
              <a:rPr lang="en-US" altLang="ko-KR" sz="2800" dirty="0"/>
              <a:t>Polling</a:t>
            </a:r>
            <a:endParaRPr lang="ko-KR" altLang="en-US" dirty="0">
              <a:latin typeface="+mn-lt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F66AB86-5F52-48F9-DE1D-514D27EA2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176" y="3429000"/>
            <a:ext cx="7366000" cy="2387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95070A-E820-99DD-1295-035DD42718DE}"/>
              </a:ext>
            </a:extLst>
          </p:cNvPr>
          <p:cNvSpPr txBox="1"/>
          <p:nvPr/>
        </p:nvSpPr>
        <p:spPr>
          <a:xfrm>
            <a:off x="4580681" y="2827506"/>
            <a:ext cx="3030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폴링</a:t>
            </a:r>
            <a:r>
              <a:rPr kumimoji="1" lang="ko-KR" altLang="en-US" dirty="0"/>
              <a:t> 방식과 </a:t>
            </a:r>
            <a:r>
              <a:rPr kumimoji="1" lang="en-US" altLang="ko-KR" dirty="0"/>
              <a:t>DMA </a:t>
            </a:r>
            <a:r>
              <a:rPr kumimoji="1" lang="ko-KR" altLang="en-US" dirty="0"/>
              <a:t>방식 비교</a:t>
            </a:r>
          </a:p>
        </p:txBody>
      </p:sp>
    </p:spTree>
    <p:extLst>
      <p:ext uri="{BB962C8B-B14F-4D97-AF65-F5344CB8AC3E}">
        <p14:creationId xmlns:p14="http://schemas.microsoft.com/office/powerpoint/2010/main" val="1071384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A94D4-E1A7-427A-22F9-35079CA8F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E1BC2-4475-531B-9E5D-919319A65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-1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#1</a:t>
            </a:r>
            <a:endParaRPr lang="ko-KR" altLang="en-US" dirty="0">
              <a:latin typeface="+mn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3CB561-7C57-9FB1-8A20-C3724DE4C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72" y="3970264"/>
            <a:ext cx="2667000" cy="1206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77B53E-2869-892E-E178-F2F94B2A892A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E3DF6B-B75E-C6FD-0E31-EEA549279F83}"/>
              </a:ext>
            </a:extLst>
          </p:cNvPr>
          <p:cNvSpPr txBox="1"/>
          <p:nvPr/>
        </p:nvSpPr>
        <p:spPr>
          <a:xfrm>
            <a:off x="782396" y="5456122"/>
            <a:ext cx="2391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1.</a:t>
            </a:r>
            <a:r>
              <a:rPr kumimoji="1" lang="ko-KR" altLang="en-US" dirty="0"/>
              <a:t> 프로젝트 파일 복사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5F470F0-7C55-97BE-6B65-34FF37711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499" y="4014714"/>
            <a:ext cx="2324100" cy="1117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466228-78D1-8407-14CE-AD1AF3DE9338}"/>
              </a:ext>
            </a:extLst>
          </p:cNvPr>
          <p:cNvSpPr txBox="1"/>
          <p:nvPr/>
        </p:nvSpPr>
        <p:spPr>
          <a:xfrm>
            <a:off x="4675459" y="5456122"/>
            <a:ext cx="1872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2. </a:t>
            </a:r>
            <a:r>
              <a:rPr kumimoji="1" lang="ko-KR" altLang="en-US" dirty="0"/>
              <a:t>폴더이름 변경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50B097B-73A5-4091-5104-676412FAC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537" y="3176514"/>
            <a:ext cx="4533900" cy="2794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26C500C-4B85-9EAD-5970-F0C51656DCE0}"/>
              </a:ext>
            </a:extLst>
          </p:cNvPr>
          <p:cNvSpPr txBox="1"/>
          <p:nvPr/>
        </p:nvSpPr>
        <p:spPr>
          <a:xfrm>
            <a:off x="7615973" y="6123543"/>
            <a:ext cx="4033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ioc</a:t>
            </a:r>
            <a:r>
              <a:rPr kumimoji="1" lang="ko-KR" altLang="en-US" dirty="0"/>
              <a:t> 파일을 변경된 이름에 맞춰 변경</a:t>
            </a:r>
          </a:p>
        </p:txBody>
      </p:sp>
    </p:spTree>
    <p:extLst>
      <p:ext uri="{BB962C8B-B14F-4D97-AF65-F5344CB8AC3E}">
        <p14:creationId xmlns:p14="http://schemas.microsoft.com/office/powerpoint/2010/main" val="3597007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784C1-9219-A67E-8450-689F8F0E0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F3DF9-C0F3-0965-F78A-022267A89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-2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#2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C90DA-D4F8-49E5-73F2-427EDD1B3502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29710D-6AF3-95FA-7F4E-3A30F5BA5201}"/>
              </a:ext>
            </a:extLst>
          </p:cNvPr>
          <p:cNvSpPr txBox="1"/>
          <p:nvPr/>
        </p:nvSpPr>
        <p:spPr>
          <a:xfrm>
            <a:off x="472542" y="5938877"/>
            <a:ext cx="4504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4.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Debug.launch</a:t>
            </a:r>
            <a:r>
              <a:rPr kumimoji="1" lang="ko-KR" altLang="en-US" dirty="0"/>
              <a:t> 파일과 </a:t>
            </a:r>
            <a:r>
              <a:rPr kumimoji="1" lang="en-US" altLang="ko-KR" dirty="0"/>
              <a:t>Debug </a:t>
            </a:r>
            <a:r>
              <a:rPr kumimoji="1" lang="ko-KR" altLang="en-US" dirty="0"/>
              <a:t>폴더 삭제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632F9-F3EB-3EE7-972A-3933406A11F6}"/>
              </a:ext>
            </a:extLst>
          </p:cNvPr>
          <p:cNvSpPr txBox="1"/>
          <p:nvPr/>
        </p:nvSpPr>
        <p:spPr>
          <a:xfrm>
            <a:off x="6060319" y="5792058"/>
            <a:ext cx="5108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5.</a:t>
            </a:r>
            <a:r>
              <a:rPr kumimoji="1" lang="ko-KR" altLang="en-US" dirty="0"/>
              <a:t> </a:t>
            </a:r>
            <a:r>
              <a:rPr kumimoji="1" lang="en-US" altLang="ko-KR" dirty="0"/>
              <a:t>STM32CubeIDE</a:t>
            </a:r>
            <a:r>
              <a:rPr kumimoji="1" lang="ko-KR" altLang="en-US" dirty="0"/>
              <a:t> 실행</a:t>
            </a:r>
            <a:endParaRPr kumimoji="1" lang="en-US" altLang="ko-KR" dirty="0"/>
          </a:p>
          <a:p>
            <a:r>
              <a:rPr kumimoji="1" lang="ko-KR" altLang="en-US" dirty="0"/>
              <a:t>*이때 워크스페이스는 프로젝트 </a:t>
            </a:r>
            <a:r>
              <a:rPr kumimoji="1" lang="en-US" altLang="ko-KR" dirty="0"/>
              <a:t>root </a:t>
            </a:r>
            <a:r>
              <a:rPr kumimoji="1" lang="ko-KR" altLang="en-US" dirty="0" err="1"/>
              <a:t>경로여야함</a:t>
            </a:r>
            <a:endParaRPr kumimoji="1" lang="ko-KR" altLang="en-US" dirty="0"/>
          </a:p>
        </p:txBody>
      </p:sp>
      <p:pic>
        <p:nvPicPr>
          <p:cNvPr id="7" name="그림 6" descr="텍스트, 스크린샷, 전자제품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6D4538-96BD-0DB7-85AA-49D94EA4C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52" y="3017235"/>
            <a:ext cx="4572000" cy="27813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9252DE3-F0D4-9257-9A22-84C82CC05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284" y="3573287"/>
            <a:ext cx="3886200" cy="158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802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2DA43-435D-0DBB-29EC-78C48A04B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83B1BB-1A82-203C-E27A-8A9678C5A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-1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#3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8C14D1-298F-249E-B3B8-90F6470739AC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9B58F-5E07-05B3-A776-6221332B2B11}"/>
              </a:ext>
            </a:extLst>
          </p:cNvPr>
          <p:cNvSpPr txBox="1"/>
          <p:nvPr/>
        </p:nvSpPr>
        <p:spPr>
          <a:xfrm>
            <a:off x="806247" y="5792058"/>
            <a:ext cx="3834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6.</a:t>
            </a:r>
            <a:r>
              <a:rPr kumimoji="1" lang="ko-KR" altLang="en-US" dirty="0"/>
              <a:t> 이전에 </a:t>
            </a:r>
            <a:r>
              <a:rPr kumimoji="1" lang="ko-KR" altLang="en-US" dirty="0" err="1"/>
              <a:t>열려있던</a:t>
            </a:r>
            <a:r>
              <a:rPr kumimoji="1" lang="ko-KR" altLang="en-US" dirty="0"/>
              <a:t> 프로젝트들 삭제</a:t>
            </a:r>
          </a:p>
        </p:txBody>
      </p:sp>
      <p:pic>
        <p:nvPicPr>
          <p:cNvPr id="4" name="그림 3" descr="텍스트, 소프트웨어, 멀티미디어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97F45E-D824-60A8-9136-1F9C8A134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908" y="3449506"/>
            <a:ext cx="4102100" cy="18288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630C58B-A99E-3ED5-1971-CE78B531A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444" y="3576506"/>
            <a:ext cx="3721100" cy="1701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3752F2-368E-1FCD-30DA-FB2B06619414}"/>
              </a:ext>
            </a:extLst>
          </p:cNvPr>
          <p:cNvSpPr txBox="1"/>
          <p:nvPr/>
        </p:nvSpPr>
        <p:spPr>
          <a:xfrm>
            <a:off x="6566452" y="5653558"/>
            <a:ext cx="4473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7.</a:t>
            </a:r>
            <a:r>
              <a:rPr kumimoji="1" lang="ko-KR" altLang="en-US" dirty="0"/>
              <a:t> </a:t>
            </a:r>
            <a:r>
              <a:rPr kumimoji="1" lang="en-US" altLang="ko-KR" dirty="0"/>
              <a:t>OK</a:t>
            </a:r>
            <a:r>
              <a:rPr kumimoji="1" lang="ko-KR" altLang="en-US" dirty="0"/>
              <a:t> 버튼 클릭</a:t>
            </a:r>
            <a:endParaRPr kumimoji="1" lang="en-US" altLang="ko-KR" dirty="0"/>
          </a:p>
          <a:p>
            <a:r>
              <a:rPr kumimoji="1" lang="ko-KR" altLang="en-US" dirty="0"/>
              <a:t>*이때 완전히 </a:t>
            </a:r>
            <a:r>
              <a:rPr kumimoji="1" lang="ko-KR" altLang="en-US" dirty="0" err="1"/>
              <a:t>삭제할꺼</a:t>
            </a:r>
            <a:r>
              <a:rPr kumimoji="1" lang="ko-KR" altLang="en-US" dirty="0"/>
              <a:t> 아니면 옵션 체크 </a:t>
            </a:r>
            <a:r>
              <a:rPr kumimoji="1" lang="en-US" altLang="ko-KR" dirty="0"/>
              <a:t>X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3394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99EED-11FF-1476-41B9-7AF561EE9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00C121-93B7-028D-930C-B51B886C5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-1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#4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DAE6DB-16F7-28E1-6FCE-3B21D72FD422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EC128E-4B17-3275-91EA-1FDB36CD9BA7}"/>
              </a:ext>
            </a:extLst>
          </p:cNvPr>
          <p:cNvSpPr txBox="1"/>
          <p:nvPr/>
        </p:nvSpPr>
        <p:spPr>
          <a:xfrm>
            <a:off x="697246" y="5653558"/>
            <a:ext cx="2557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8.</a:t>
            </a:r>
            <a:r>
              <a:rPr kumimoji="1" lang="ko-KR" altLang="en-US" dirty="0"/>
              <a:t> </a:t>
            </a:r>
            <a:r>
              <a:rPr kumimoji="1" lang="en-US" altLang="ko-KR" dirty="0"/>
              <a:t>Import projects</a:t>
            </a:r>
            <a:r>
              <a:rPr kumimoji="1" lang="ko-KR" altLang="en-US" dirty="0"/>
              <a:t> 클릭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C1A8C21-F6C4-461B-16B8-38FF504D9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9" y="3944806"/>
            <a:ext cx="3302000" cy="13335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4475CF1-7F2C-3414-3243-EA9D91851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956" y="3677721"/>
            <a:ext cx="2049985" cy="18830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3006B9-BDF8-4D09-9882-2F0E4CB1CF11}"/>
              </a:ext>
            </a:extLst>
          </p:cNvPr>
          <p:cNvSpPr txBox="1"/>
          <p:nvPr/>
        </p:nvSpPr>
        <p:spPr>
          <a:xfrm>
            <a:off x="4387070" y="5659614"/>
            <a:ext cx="3769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9.</a:t>
            </a:r>
            <a:r>
              <a:rPr kumimoji="1" lang="ko-KR" altLang="en-US" dirty="0"/>
              <a:t> </a:t>
            </a:r>
            <a:r>
              <a:rPr kumimoji="1" lang="en-US" altLang="ko-KR" dirty="0"/>
              <a:t>Existing Projects.. </a:t>
            </a:r>
            <a:r>
              <a:rPr kumimoji="1" lang="ko-KR" altLang="en-US" dirty="0"/>
              <a:t>옵션 선택</a:t>
            </a:r>
            <a:r>
              <a:rPr kumimoji="1" lang="en-US" altLang="ko-KR" dirty="0"/>
              <a:t> </a:t>
            </a:r>
            <a:r>
              <a:rPr kumimoji="1" lang="ko-KR" altLang="en-US" dirty="0"/>
              <a:t>후</a:t>
            </a:r>
            <a:endParaRPr kumimoji="1" lang="en-US" altLang="ko-KR" dirty="0"/>
          </a:p>
          <a:p>
            <a:r>
              <a:rPr kumimoji="1" lang="ko-KR" altLang="en-US" dirty="0"/>
              <a:t>프로젝트 </a:t>
            </a:r>
            <a:r>
              <a:rPr kumimoji="1" lang="en-US" altLang="ko-KR" dirty="0"/>
              <a:t>root </a:t>
            </a:r>
            <a:r>
              <a:rPr kumimoji="1" lang="ko-KR" altLang="en-US" dirty="0"/>
              <a:t>디렉토리 선택</a:t>
            </a:r>
            <a:endParaRPr kumimoji="1" lang="en-US" altLang="ko-KR" dirty="0"/>
          </a:p>
          <a:p>
            <a:endParaRPr kumimoji="1"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1F3B267-74D4-0544-329B-81FA71FB0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941" y="3584301"/>
            <a:ext cx="1776990" cy="206925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022800B-71EA-6AB6-DB24-07D65A0C02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2893" y="3922246"/>
            <a:ext cx="3138406" cy="14954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E78F8C-B740-EECC-00E9-506E7F8B8F09}"/>
              </a:ext>
            </a:extLst>
          </p:cNvPr>
          <p:cNvSpPr txBox="1"/>
          <p:nvPr/>
        </p:nvSpPr>
        <p:spPr>
          <a:xfrm>
            <a:off x="8317165" y="5657214"/>
            <a:ext cx="3769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10.</a:t>
            </a:r>
            <a:r>
              <a:rPr kumimoji="1" lang="ko-KR" altLang="en-US" dirty="0"/>
              <a:t> 불러와진 프로젝트 </a:t>
            </a:r>
            <a:r>
              <a:rPr kumimoji="1" lang="ko-KR" altLang="en-US" dirty="0" err="1"/>
              <a:t>우클릭</a:t>
            </a:r>
            <a:r>
              <a:rPr kumimoji="1" lang="ko-KR" altLang="en-US" dirty="0"/>
              <a:t> 하여</a:t>
            </a:r>
            <a:endParaRPr kumimoji="1" lang="en-US" altLang="ko-KR" dirty="0"/>
          </a:p>
          <a:p>
            <a:r>
              <a:rPr kumimoji="1" lang="ko-KR" altLang="en-US" dirty="0"/>
              <a:t>이름을 이전에 변경한 폴더명과 동일하게 설정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37454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3558D-BD5E-DF36-3AD4-F45E8C83A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A8422A-86D4-1765-6010-A80A7FCB3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-1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#5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4688BD-7B04-4FB5-C57B-ECE04C20D0A3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CAA767F-1FCE-A3F1-A189-02A8EB2CC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061" y="3284402"/>
            <a:ext cx="4929788" cy="259965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8008B18-C854-6581-A91B-4D29ED622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383" y="3669831"/>
            <a:ext cx="3454400" cy="1828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CEE2E3-6AF0-0163-364E-7AB3271F7A43}"/>
              </a:ext>
            </a:extLst>
          </p:cNvPr>
          <p:cNvSpPr txBox="1"/>
          <p:nvPr/>
        </p:nvSpPr>
        <p:spPr>
          <a:xfrm>
            <a:off x="2222984" y="6232707"/>
            <a:ext cx="7746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프로젝트를 살펴보면 이전에 설정한 값과 코드가 남아있는 것을 볼 수 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8892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AF0A2-002D-4ADE-DCEC-833B04586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FDE4AE-7D01-D563-0E92-43FB88329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-2 </a:t>
            </a:r>
            <a:r>
              <a:rPr lang="ko-KR" altLang="en-US" sz="2800" dirty="0"/>
              <a:t>세미나 보드 </a:t>
            </a:r>
            <a:r>
              <a:rPr lang="en-US" altLang="ko-KR" sz="2800" dirty="0"/>
              <a:t>ADC </a:t>
            </a:r>
            <a:r>
              <a:rPr lang="ko-KR" altLang="en-US" sz="2800" dirty="0"/>
              <a:t>회로도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798AC0A-6265-98C9-8C22-BDE2063D9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632953"/>
            <a:ext cx="5173231" cy="37471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BAFACA-2E48-FD99-5A4F-818F7BC70509}"/>
              </a:ext>
            </a:extLst>
          </p:cNvPr>
          <p:cNvSpPr txBox="1"/>
          <p:nvPr/>
        </p:nvSpPr>
        <p:spPr>
          <a:xfrm>
            <a:off x="5918820" y="3244334"/>
            <a:ext cx="572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가변저항 </a:t>
            </a:r>
            <a:r>
              <a:rPr kumimoji="1" lang="en-US" altLang="ko-KR" dirty="0"/>
              <a:t>3</a:t>
            </a:r>
            <a:r>
              <a:rPr kumimoji="1" lang="ko-KR" altLang="en-US" dirty="0"/>
              <a:t>개와 </a:t>
            </a:r>
            <a:r>
              <a:rPr kumimoji="1" lang="en-US" altLang="ko-KR" dirty="0"/>
              <a:t>CDS Cell 1</a:t>
            </a:r>
            <a:r>
              <a:rPr kumimoji="1" lang="ko-KR" altLang="en-US" dirty="0"/>
              <a:t>개가 아래 표와 같이 연결됨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230A93E-F68A-C8E0-1135-304BDB1DB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897548"/>
            <a:ext cx="5257800" cy="164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876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00A19-257F-0840-1059-DC98BD56D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1E06E2-DF9E-6865-A218-E489083B3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-3 ADC</a:t>
            </a:r>
            <a:r>
              <a:rPr lang="ko-KR" altLang="en-US" sz="2800" dirty="0"/>
              <a:t> 설정 방법</a:t>
            </a:r>
            <a:r>
              <a:rPr lang="en-US" altLang="ko-KR" sz="2800" dirty="0"/>
              <a:t>(Polling)</a:t>
            </a:r>
            <a:r>
              <a:rPr lang="ko-KR" altLang="en-US" sz="2800" dirty="0"/>
              <a:t> </a:t>
            </a:r>
            <a:r>
              <a:rPr lang="en-US" altLang="ko-KR" sz="2800" dirty="0"/>
              <a:t>#1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3722F51-89CA-28D2-2DBF-11B75A660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768892"/>
            <a:ext cx="5622858" cy="33673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241D3A-2135-0AE6-BD64-00310C5352BC}"/>
              </a:ext>
            </a:extLst>
          </p:cNvPr>
          <p:cNvSpPr txBox="1"/>
          <p:nvPr/>
        </p:nvSpPr>
        <p:spPr>
          <a:xfrm>
            <a:off x="6472335" y="2768892"/>
            <a:ext cx="48814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ko-KR" dirty="0"/>
              <a:t>Analog</a:t>
            </a:r>
            <a:r>
              <a:rPr kumimoji="1" lang="ko-KR" altLang="en-US" dirty="0"/>
              <a:t> 탭에서 사용하는 </a:t>
            </a:r>
            <a:r>
              <a:rPr kumimoji="1" lang="en-US" altLang="ko-KR" dirty="0"/>
              <a:t>ADC </a:t>
            </a:r>
            <a:r>
              <a:rPr kumimoji="1" lang="ko-KR" altLang="en-US" dirty="0"/>
              <a:t>선택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사용하고자 하는 채널 선택</a:t>
            </a:r>
            <a:r>
              <a:rPr kumimoji="1" lang="en-US" altLang="ko-KR" dirty="0"/>
              <a:t>(</a:t>
            </a:r>
            <a:r>
              <a:rPr kumimoji="1" lang="ko-KR" altLang="en-US" dirty="0"/>
              <a:t>복수 선택 가능</a:t>
            </a:r>
            <a:r>
              <a:rPr kumimoji="1" lang="en-US" altLang="ko-KR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132338-1CCB-DCCE-E2AD-96186AF19B2A}"/>
              </a:ext>
            </a:extLst>
          </p:cNvPr>
          <p:cNvSpPr txBox="1"/>
          <p:nvPr/>
        </p:nvSpPr>
        <p:spPr>
          <a:xfrm>
            <a:off x="1501359" y="6306667"/>
            <a:ext cx="49709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b="1" dirty="0"/>
              <a:t>* </a:t>
            </a:r>
            <a:r>
              <a:rPr kumimoji="1" lang="en-US" altLang="ko-KR" sz="1200" b="1" dirty="0"/>
              <a:t>CDS</a:t>
            </a:r>
            <a:r>
              <a:rPr kumimoji="1" lang="ko-KR" altLang="en-US" sz="1200" b="1" dirty="0"/>
              <a:t> </a:t>
            </a:r>
            <a:r>
              <a:rPr kumimoji="1" lang="en-US" altLang="ko-KR" sz="1200" b="1" dirty="0"/>
              <a:t>Cell</a:t>
            </a:r>
            <a:r>
              <a:rPr kumimoji="1" lang="ko-KR" altLang="en-US" sz="1200" b="1" dirty="0"/>
              <a:t>을 기준으로 설정됨</a:t>
            </a:r>
            <a:r>
              <a:rPr kumimoji="1" lang="en-US" altLang="ko-KR" sz="1200" b="1" dirty="0"/>
              <a:t>(</a:t>
            </a:r>
            <a:r>
              <a:rPr kumimoji="1" lang="ko-KR" altLang="en-US" sz="1200" b="1" dirty="0"/>
              <a:t>이때 </a:t>
            </a:r>
            <a:r>
              <a:rPr kumimoji="1" lang="en-US" altLang="ko-KR" sz="1200" b="1" dirty="0"/>
              <a:t>PC4</a:t>
            </a:r>
            <a:r>
              <a:rPr kumimoji="1" lang="ko-KR" altLang="en-US" sz="1200" b="1" dirty="0"/>
              <a:t>번에 할당되었는지 확인 필요</a:t>
            </a:r>
            <a:r>
              <a:rPr kumimoji="1" lang="en-US" altLang="ko-KR" sz="1200" b="1" dirty="0"/>
              <a:t>)</a:t>
            </a:r>
            <a:endParaRPr kumimoji="1"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561686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25489-FB87-7480-6CF8-9D1295517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BCA8AB-A96D-C7B8-A291-B51CAD267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-3 ADC</a:t>
            </a:r>
            <a:r>
              <a:rPr lang="ko-KR" altLang="en-US" sz="2800" dirty="0"/>
              <a:t> 설정 방법</a:t>
            </a:r>
            <a:r>
              <a:rPr lang="en-US" altLang="ko-KR" sz="2800" dirty="0"/>
              <a:t>(Polling)</a:t>
            </a:r>
            <a:r>
              <a:rPr lang="ko-KR" altLang="en-US" sz="2800" dirty="0"/>
              <a:t> </a:t>
            </a:r>
            <a:r>
              <a:rPr lang="en-US" altLang="ko-KR" sz="2800" dirty="0"/>
              <a:t>#2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3CE3A2-89D7-24C6-AB88-7FE420BB0F6B}"/>
              </a:ext>
            </a:extLst>
          </p:cNvPr>
          <p:cNvSpPr txBox="1"/>
          <p:nvPr/>
        </p:nvSpPr>
        <p:spPr>
          <a:xfrm>
            <a:off x="5135495" y="2534952"/>
            <a:ext cx="6218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채널 선택 완료 후 </a:t>
            </a:r>
            <a:r>
              <a:rPr kumimoji="1" lang="en-US" altLang="ko-KR" dirty="0"/>
              <a:t>Config</a:t>
            </a:r>
            <a:r>
              <a:rPr kumimoji="1" lang="ko-KR" altLang="en-US" dirty="0"/>
              <a:t> 탭에서 좌측 이미지와 같이 설정</a:t>
            </a:r>
            <a:endParaRPr kumimoji="1"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69CBD28-4D1D-F695-99E5-F351FC0CF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02" y="2534952"/>
            <a:ext cx="3886200" cy="36195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B46C6E8-1B73-1285-1282-4A07F4375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333" y="2975590"/>
            <a:ext cx="5892046" cy="340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499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802D4-80DB-942C-1D36-256C87BE3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CBFC61-7D0D-F5A3-CB74-9C9928026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-4 ADC</a:t>
            </a:r>
            <a:r>
              <a:rPr lang="ko-KR" altLang="en-US" sz="2800" dirty="0"/>
              <a:t> 설정 방법</a:t>
            </a:r>
            <a:r>
              <a:rPr lang="en-US" altLang="ko-KR" sz="2800" dirty="0"/>
              <a:t>(DMA)</a:t>
            </a:r>
            <a:r>
              <a:rPr lang="ko-KR" altLang="en-US" sz="2800" dirty="0"/>
              <a:t> </a:t>
            </a:r>
            <a:r>
              <a:rPr lang="en-US" altLang="ko-KR" sz="2800" dirty="0"/>
              <a:t>#1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DA8869-D847-677E-D7A6-BFC937528BB7}"/>
              </a:ext>
            </a:extLst>
          </p:cNvPr>
          <p:cNvSpPr txBox="1"/>
          <p:nvPr/>
        </p:nvSpPr>
        <p:spPr>
          <a:xfrm>
            <a:off x="6472335" y="2768892"/>
            <a:ext cx="48814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ko-KR" dirty="0"/>
              <a:t>Analog</a:t>
            </a:r>
            <a:r>
              <a:rPr kumimoji="1" lang="ko-KR" altLang="en-US" dirty="0"/>
              <a:t> 탭에서 사용하는 </a:t>
            </a:r>
            <a:r>
              <a:rPr kumimoji="1" lang="en-US" altLang="ko-KR" dirty="0"/>
              <a:t>ADC </a:t>
            </a:r>
            <a:r>
              <a:rPr kumimoji="1" lang="ko-KR" altLang="en-US" dirty="0"/>
              <a:t>선택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사용하고자 하는 채널 선택</a:t>
            </a:r>
            <a:r>
              <a:rPr kumimoji="1" lang="en-US" altLang="ko-KR" dirty="0"/>
              <a:t>(</a:t>
            </a:r>
            <a:r>
              <a:rPr kumimoji="1" lang="ko-KR" altLang="en-US" dirty="0"/>
              <a:t>복수 선택 가능</a:t>
            </a:r>
            <a:r>
              <a:rPr kumimoji="1" lang="en-US" altLang="ko-KR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DFC91-CF3D-CDED-C9B1-0FD434D12690}"/>
              </a:ext>
            </a:extLst>
          </p:cNvPr>
          <p:cNvSpPr txBox="1"/>
          <p:nvPr/>
        </p:nvSpPr>
        <p:spPr>
          <a:xfrm>
            <a:off x="883689" y="6215876"/>
            <a:ext cx="55886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b="1" dirty="0"/>
              <a:t>* </a:t>
            </a:r>
            <a:r>
              <a:rPr kumimoji="1" lang="en-US" altLang="ko-KR" sz="1200" b="1" dirty="0"/>
              <a:t>RV2 ~ RV4</a:t>
            </a:r>
            <a:r>
              <a:rPr kumimoji="1" lang="ko-KR" altLang="en-US" sz="1200" b="1" dirty="0" err="1"/>
              <a:t>를</a:t>
            </a:r>
            <a:r>
              <a:rPr kumimoji="1" lang="ko-KR" altLang="en-US" sz="1200" b="1" dirty="0"/>
              <a:t> 기준으로 설정됨</a:t>
            </a:r>
            <a:r>
              <a:rPr kumimoji="1" lang="en-US" altLang="ko-KR" sz="1200" b="1" dirty="0"/>
              <a:t>(</a:t>
            </a:r>
            <a:r>
              <a:rPr kumimoji="1" lang="ko-KR" altLang="en-US" sz="1200" b="1" dirty="0"/>
              <a:t>이때 </a:t>
            </a:r>
            <a:r>
              <a:rPr kumimoji="1" lang="en-US" altLang="ko-KR" sz="1200" b="1" dirty="0"/>
              <a:t>PA2 ~ PA4</a:t>
            </a:r>
            <a:r>
              <a:rPr kumimoji="1" lang="ko-KR" altLang="en-US" sz="1200" b="1" dirty="0"/>
              <a:t>번에 할당되었는지 확인 필요</a:t>
            </a:r>
            <a:r>
              <a:rPr kumimoji="1" lang="en-US" altLang="ko-KR" sz="1200" b="1" dirty="0"/>
              <a:t>)</a:t>
            </a:r>
            <a:endParaRPr kumimoji="1" lang="ko-KR" altLang="en-US" sz="12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42BE832-283F-8C1B-3283-5DA20C639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80824"/>
            <a:ext cx="4957365" cy="338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809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95F77-4A80-BC54-E589-FFF7C7B0E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11606E-1F25-49F2-2F58-8DA612CC2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-4 ADC</a:t>
            </a:r>
            <a:r>
              <a:rPr lang="ko-KR" altLang="en-US" sz="2800" dirty="0"/>
              <a:t> 설정 방법</a:t>
            </a:r>
            <a:r>
              <a:rPr lang="en-US" altLang="ko-KR" sz="2800" dirty="0"/>
              <a:t>(DMA)</a:t>
            </a:r>
            <a:r>
              <a:rPr lang="ko-KR" altLang="en-US" sz="2800" dirty="0"/>
              <a:t> </a:t>
            </a:r>
            <a:r>
              <a:rPr lang="en-US" altLang="ko-KR" sz="2800" dirty="0"/>
              <a:t>#2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F193EB-1D04-43BB-0C1D-E0CBE98CB955}"/>
              </a:ext>
            </a:extLst>
          </p:cNvPr>
          <p:cNvSpPr txBox="1"/>
          <p:nvPr/>
        </p:nvSpPr>
        <p:spPr>
          <a:xfrm>
            <a:off x="5137556" y="2601810"/>
            <a:ext cx="65693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3. DMA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사용하려면 좌측 빨간 박스 옵션을 활성화 </a:t>
            </a:r>
            <a:r>
              <a:rPr kumimoji="1" lang="ko-KR" altLang="en-US" dirty="0" err="1"/>
              <a:t>해야한다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4.</a:t>
            </a:r>
            <a:r>
              <a:rPr kumimoji="1" lang="ko-KR" altLang="en-US" dirty="0"/>
              <a:t> 만약 사용하는 채널이 복수개라면 </a:t>
            </a:r>
            <a:r>
              <a:rPr kumimoji="1" lang="en-US" altLang="ko-KR" dirty="0"/>
              <a:t>Scan Conversion Mode</a:t>
            </a:r>
            <a:r>
              <a:rPr kumimoji="1" lang="ko-KR" altLang="en-US" dirty="0" err="1"/>
              <a:t>를</a:t>
            </a:r>
            <a:endParaRPr kumimoji="1" lang="en-US" altLang="ko-KR" dirty="0"/>
          </a:p>
          <a:p>
            <a:r>
              <a:rPr kumimoji="1" lang="ko-KR" altLang="en-US" dirty="0"/>
              <a:t>활성화 해야 한다</a:t>
            </a:r>
            <a:r>
              <a:rPr kumimoji="1" lang="en-US" altLang="ko-KR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8BF4801-F1F5-0BD3-D0CB-424698EC1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24" y="2459138"/>
            <a:ext cx="4168195" cy="403373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5E12F9C-EE3B-5319-71D7-56AFD18FEAF5}"/>
              </a:ext>
            </a:extLst>
          </p:cNvPr>
          <p:cNvSpPr/>
          <p:nvPr/>
        </p:nvSpPr>
        <p:spPr>
          <a:xfrm>
            <a:off x="945541" y="4677318"/>
            <a:ext cx="2044093" cy="141116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14441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25530-CEB2-21C7-8C92-869B0A0E5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640F9-A72B-D42D-EDDB-B88663898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-4 ADC</a:t>
            </a:r>
            <a:r>
              <a:rPr lang="ko-KR" altLang="en-US" sz="2800" dirty="0"/>
              <a:t> 설정 방법</a:t>
            </a:r>
            <a:r>
              <a:rPr lang="en-US" altLang="ko-KR" sz="2800" dirty="0"/>
              <a:t>(DMA)</a:t>
            </a:r>
            <a:r>
              <a:rPr lang="ko-KR" altLang="en-US" sz="2800" dirty="0"/>
              <a:t> </a:t>
            </a:r>
            <a:r>
              <a:rPr lang="en-US" altLang="ko-KR" sz="2800" dirty="0"/>
              <a:t>#3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59A8DC-B0E5-2755-DD7C-39EC2B011F80}"/>
              </a:ext>
            </a:extLst>
          </p:cNvPr>
          <p:cNvSpPr txBox="1"/>
          <p:nvPr/>
        </p:nvSpPr>
        <p:spPr>
          <a:xfrm>
            <a:off x="5616112" y="2690336"/>
            <a:ext cx="539397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5.</a:t>
            </a:r>
            <a:r>
              <a:rPr kumimoji="1" lang="ko-KR" altLang="en-US" dirty="0"/>
              <a:t> </a:t>
            </a:r>
            <a:r>
              <a:rPr kumimoji="1" lang="en-US" altLang="ko-KR" dirty="0"/>
              <a:t>DMA Settings </a:t>
            </a:r>
            <a:r>
              <a:rPr kumimoji="1" lang="ko-KR" altLang="en-US" dirty="0"/>
              <a:t>탭에서 </a:t>
            </a:r>
            <a:r>
              <a:rPr kumimoji="1" lang="en-US" altLang="ko-KR" dirty="0"/>
              <a:t>DMA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Add</a:t>
            </a:r>
            <a:r>
              <a:rPr kumimoji="1" lang="ko-KR" altLang="en-US" dirty="0"/>
              <a:t>한다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6.</a:t>
            </a:r>
            <a:r>
              <a:rPr kumimoji="1" lang="ko-KR" altLang="en-US" dirty="0"/>
              <a:t> 만약 배열 형태로 데이터를 자동으로 저장하려면</a:t>
            </a:r>
            <a:r>
              <a:rPr kumimoji="1" lang="en-US" altLang="ko-KR" dirty="0"/>
              <a:t>,</a:t>
            </a:r>
          </a:p>
          <a:p>
            <a:r>
              <a:rPr kumimoji="1" lang="en-US" altLang="ko-KR" dirty="0"/>
              <a:t>Increment Address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활성화 </a:t>
            </a:r>
            <a:r>
              <a:rPr kumimoji="1" lang="ko-KR" altLang="en-US" dirty="0" err="1"/>
              <a:t>해야한다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7.</a:t>
            </a:r>
            <a:r>
              <a:rPr kumimoji="1" lang="ko-KR" altLang="en-US" dirty="0"/>
              <a:t> 마지막으로 채널이 </a:t>
            </a:r>
            <a:r>
              <a:rPr kumimoji="1" lang="en-US" altLang="ko-KR" dirty="0"/>
              <a:t>2</a:t>
            </a:r>
            <a:r>
              <a:rPr kumimoji="1" lang="ko-KR" altLang="en-US" dirty="0"/>
              <a:t>개 이상이므로 </a:t>
            </a:r>
            <a:r>
              <a:rPr kumimoji="1" lang="en-US" altLang="ko-KR" dirty="0"/>
              <a:t>Mode</a:t>
            </a:r>
            <a:r>
              <a:rPr kumimoji="1" lang="ko-KR" altLang="en-US" dirty="0" err="1"/>
              <a:t>를</a:t>
            </a:r>
            <a:endParaRPr kumimoji="1" lang="en-US" altLang="ko-KR" dirty="0"/>
          </a:p>
          <a:p>
            <a:r>
              <a:rPr kumimoji="1" lang="en-US" altLang="ko-KR" dirty="0"/>
              <a:t>Circular</a:t>
            </a:r>
            <a:r>
              <a:rPr kumimoji="1" lang="ko-KR" altLang="en-US" dirty="0"/>
              <a:t>로 설정해준다</a:t>
            </a:r>
            <a:r>
              <a:rPr kumimoji="1" lang="en-US" altLang="ko-KR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69573-8847-54EE-20D7-3424A63BB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489695"/>
            <a:ext cx="4781354" cy="40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15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EC097D-61F6-541A-2F99-2E124C0EF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0">
            <a:extLst>
              <a:ext uri="{FF2B5EF4-FFF2-40B4-BE49-F238E27FC236}">
                <a16:creationId xmlns:a16="http://schemas.microsoft.com/office/drawing/2014/main" id="{3756BD20-D5EE-E1FA-8AB8-C37A319DB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27CAEBD6-7F44-E760-90E9-D671B27CE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6" descr="회로판">
            <a:extLst>
              <a:ext uri="{FF2B5EF4-FFF2-40B4-BE49-F238E27FC236}">
                <a16:creationId xmlns:a16="http://schemas.microsoft.com/office/drawing/2014/main" id="{7EC4CE1C-917F-DE16-1524-14630531E1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1" y="12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22" name="Rectangle 24">
            <a:extLst>
              <a:ext uri="{FF2B5EF4-FFF2-40B4-BE49-F238E27FC236}">
                <a16:creationId xmlns:a16="http://schemas.microsoft.com/office/drawing/2014/main" id="{D5B3E57D-6BFE-3E27-7E6B-2961746A9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29530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46FCBF-F324-08C3-1B8A-5DC343EF61DE}"/>
              </a:ext>
            </a:extLst>
          </p:cNvPr>
          <p:cNvSpPr txBox="1"/>
          <p:nvPr/>
        </p:nvSpPr>
        <p:spPr>
          <a:xfrm>
            <a:off x="4405363" y="240075"/>
            <a:ext cx="3381273" cy="1815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en-US" altLang="ko-KR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Code</a:t>
            </a:r>
            <a:r>
              <a:rPr lang="ko-KR" alt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작성</a:t>
            </a:r>
            <a:r>
              <a:rPr lang="en-US" altLang="ko-KR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(ADC)</a:t>
            </a:r>
            <a:endParaRPr lang="ko-KR" altLang="en-US" sz="3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89166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2F427-5E7A-31A6-C9BB-A6D7165FC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3BF085-74A1-BDAB-E33F-C57897320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5. DAC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5</a:t>
            </a:r>
            <a:r>
              <a:rPr lang="en-US" altLang="ko-KR" sz="2800" dirty="0"/>
              <a:t>-1</a:t>
            </a:r>
            <a:r>
              <a:rPr lang="ko-KR" altLang="en-US" sz="2800" dirty="0"/>
              <a:t> </a:t>
            </a:r>
            <a:r>
              <a:rPr lang="en-US" altLang="ko-KR" sz="2800" dirty="0"/>
              <a:t>DAC vs PWM</a:t>
            </a:r>
            <a:endParaRPr lang="ko-KR" altLang="en-US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BF7128-2ECA-7016-FE2E-4DAA8856FE63}"/>
              </a:ext>
            </a:extLst>
          </p:cNvPr>
          <p:cNvSpPr txBox="1"/>
          <p:nvPr/>
        </p:nvSpPr>
        <p:spPr>
          <a:xfrm>
            <a:off x="5466946" y="2828835"/>
            <a:ext cx="55963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· PWM:</a:t>
            </a:r>
            <a:r>
              <a:rPr kumimoji="1" lang="ko-KR" altLang="en-US" dirty="0"/>
              <a:t> </a:t>
            </a:r>
            <a:r>
              <a:rPr kumimoji="1" lang="ko-KR" altLang="en-US" b="1" dirty="0"/>
              <a:t>비연속적인 디지털 신호를 사용하여</a:t>
            </a:r>
            <a:endParaRPr kumimoji="1" lang="en-US" altLang="ko-KR" b="1" dirty="0"/>
          </a:p>
          <a:p>
            <a:r>
              <a:rPr kumimoji="1" lang="ko-KR" altLang="en-US" dirty="0"/>
              <a:t>평균 전압을 만들어 내는 방식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·</a:t>
            </a:r>
            <a:r>
              <a:rPr kumimoji="1" lang="ko-KR" altLang="en-US" dirty="0"/>
              <a:t> </a:t>
            </a:r>
            <a:r>
              <a:rPr kumimoji="1" lang="en-US" altLang="ko-KR" dirty="0"/>
              <a:t>DAC:</a:t>
            </a:r>
            <a:r>
              <a:rPr kumimoji="1" lang="ko-KR" altLang="en-US" dirty="0"/>
              <a:t> </a:t>
            </a:r>
            <a:r>
              <a:rPr kumimoji="1" lang="ko-KR" altLang="en-US" b="1" dirty="0"/>
              <a:t>연속적인 아날로그 신호를 직접 출력하는 </a:t>
            </a:r>
            <a:r>
              <a:rPr kumimoji="1" lang="ko-KR" altLang="en-US" dirty="0"/>
              <a:t>방식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36EF897-638B-4D2B-9AA2-842BF9EED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005" y="4435882"/>
            <a:ext cx="5550222" cy="1533614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9CACCF5E-858E-547A-3246-37F872EB2F9C}"/>
              </a:ext>
            </a:extLst>
          </p:cNvPr>
          <p:cNvGrpSpPr/>
          <p:nvPr/>
        </p:nvGrpSpPr>
        <p:grpSpPr>
          <a:xfrm>
            <a:off x="484552" y="2995448"/>
            <a:ext cx="4076700" cy="2880868"/>
            <a:chOff x="484552" y="2995448"/>
            <a:chExt cx="4076700" cy="288086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B7F0A8E-B198-4C75-BB58-F8BCE13B2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4552" y="2995448"/>
              <a:ext cx="4076700" cy="2880868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48A168A-22A6-8C98-5B4E-C6DBABE43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01099" y="3062321"/>
              <a:ext cx="1960153" cy="889000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BAB12A1-489D-C0EB-B443-C0EE6C5993B9}"/>
              </a:ext>
            </a:extLst>
          </p:cNvPr>
          <p:cNvSpPr txBox="1"/>
          <p:nvPr/>
        </p:nvSpPr>
        <p:spPr>
          <a:xfrm>
            <a:off x="985913" y="5876316"/>
            <a:ext cx="3230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PWM</a:t>
            </a:r>
            <a:r>
              <a:rPr kumimoji="1" lang="ko-KR" altLang="en-US" dirty="0"/>
              <a:t>과 아날로그 신호의 차이</a:t>
            </a:r>
          </a:p>
        </p:txBody>
      </p:sp>
    </p:spTree>
    <p:extLst>
      <p:ext uri="{BB962C8B-B14F-4D97-AF65-F5344CB8AC3E}">
        <p14:creationId xmlns:p14="http://schemas.microsoft.com/office/powerpoint/2010/main" val="5693733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AA61B-3850-F408-C24C-69FC10CE4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50D160-61A5-9A54-405D-64AB5EC69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5. DAC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5</a:t>
            </a:r>
            <a:r>
              <a:rPr lang="en-US" altLang="ko-KR" sz="2800" dirty="0"/>
              <a:t>-2</a:t>
            </a:r>
            <a:r>
              <a:rPr lang="ko-KR" altLang="en-US" sz="2800" dirty="0"/>
              <a:t> </a:t>
            </a:r>
            <a:r>
              <a:rPr lang="en-US" altLang="ko-KR" sz="2800" dirty="0"/>
              <a:t>DAC</a:t>
            </a:r>
            <a:r>
              <a:rPr lang="ko-KR" altLang="en-US" sz="2800" dirty="0"/>
              <a:t> 구성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EB1F12-EBBA-1F60-853D-9F5C39B0D9A9}"/>
              </a:ext>
            </a:extLst>
          </p:cNvPr>
          <p:cNvSpPr txBox="1"/>
          <p:nvPr/>
        </p:nvSpPr>
        <p:spPr>
          <a:xfrm>
            <a:off x="5919176" y="4101775"/>
            <a:ext cx="4675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STM32F405</a:t>
            </a:r>
            <a:r>
              <a:rPr kumimoji="1" lang="ko-KR" altLang="en-US" dirty="0"/>
              <a:t>에는 </a:t>
            </a:r>
            <a:r>
              <a:rPr kumimoji="1" lang="en-US" altLang="ko-KR" dirty="0"/>
              <a:t>DAC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2</a:t>
            </a:r>
            <a:r>
              <a:rPr kumimoji="1" lang="ko-KR" altLang="en-US" dirty="0"/>
              <a:t>개 존재하며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전원 도메인은 </a:t>
            </a:r>
            <a:r>
              <a:rPr kumimoji="1" lang="en-US" altLang="ko-KR" dirty="0"/>
              <a:t>VDDA</a:t>
            </a:r>
            <a:r>
              <a:rPr kumimoji="1" lang="ko-KR" altLang="en-US" dirty="0"/>
              <a:t> 이다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553379F-8583-DA99-F40B-E22533DC4312}"/>
              </a:ext>
            </a:extLst>
          </p:cNvPr>
          <p:cNvGrpSpPr/>
          <p:nvPr/>
        </p:nvGrpSpPr>
        <p:grpSpPr>
          <a:xfrm>
            <a:off x="1691127" y="3167640"/>
            <a:ext cx="2908300" cy="2514600"/>
            <a:chOff x="1347416" y="3548063"/>
            <a:chExt cx="2908300" cy="25146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2888B58-0F79-0A37-BD5A-AE3B32990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7416" y="3548063"/>
              <a:ext cx="2908300" cy="2514600"/>
            </a:xfrm>
            <a:prstGeom prst="rect">
              <a:avLst/>
            </a:prstGeom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669F835F-FF86-F531-A5CE-8567ED3868E8}"/>
                </a:ext>
              </a:extLst>
            </p:cNvPr>
            <p:cNvSpPr/>
            <p:nvPr/>
          </p:nvSpPr>
          <p:spPr>
            <a:xfrm>
              <a:off x="1684845" y="3599166"/>
              <a:ext cx="896228" cy="214075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320523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B5969-3824-94B1-90A3-B1BEE050D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7BF10B-0E8F-D900-B858-2522A4DC6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5. DAC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5</a:t>
            </a:r>
            <a:r>
              <a:rPr lang="en-US" altLang="ko-KR" sz="2800" dirty="0"/>
              <a:t>-3</a:t>
            </a:r>
            <a:r>
              <a:rPr lang="ko-KR" altLang="en-US" sz="2800" dirty="0"/>
              <a:t> </a:t>
            </a:r>
            <a:r>
              <a:rPr lang="en-US" altLang="ko-KR" sz="2800" dirty="0"/>
              <a:t>DAC</a:t>
            </a:r>
            <a:r>
              <a:rPr lang="ko-KR" altLang="en-US" sz="2800" dirty="0"/>
              <a:t> 출력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CAAB12-3238-5D77-5460-796F03F7E47E}"/>
              </a:ext>
            </a:extLst>
          </p:cNvPr>
          <p:cNvSpPr txBox="1"/>
          <p:nvPr/>
        </p:nvSpPr>
        <p:spPr>
          <a:xfrm>
            <a:off x="6863058" y="4101776"/>
            <a:ext cx="4675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DAC </a:t>
            </a:r>
            <a:r>
              <a:rPr kumimoji="1" lang="ko-KR" altLang="en-US" dirty="0"/>
              <a:t>내부에 버퍼가 존재하여 출력 임피던스를 높거나 낮게 할 수 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58B4545-86ED-4751-67DD-DD5DCD5FB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805766"/>
            <a:ext cx="6233069" cy="323835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539085BB-E560-8497-E988-C50895AC2D6F}"/>
              </a:ext>
            </a:extLst>
          </p:cNvPr>
          <p:cNvSpPr/>
          <p:nvPr/>
        </p:nvSpPr>
        <p:spPr>
          <a:xfrm>
            <a:off x="1626478" y="3274913"/>
            <a:ext cx="1538255" cy="20758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759022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509C8-215D-A494-4D25-BC08CE2D4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338D71-2896-2608-9A8F-624B462A3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5. DAC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5</a:t>
            </a:r>
            <a:r>
              <a:rPr lang="en-US" altLang="ko-KR" sz="2800" dirty="0"/>
              <a:t>-4</a:t>
            </a:r>
            <a:r>
              <a:rPr lang="ko-KR" altLang="en-US" sz="2800" dirty="0"/>
              <a:t> </a:t>
            </a:r>
            <a:r>
              <a:rPr lang="en-US" altLang="ko-KR" sz="2800" dirty="0"/>
              <a:t>STM32CubeIDE </a:t>
            </a:r>
            <a:r>
              <a:rPr lang="ko-KR" altLang="en-US" sz="2800" dirty="0"/>
              <a:t>설정 </a:t>
            </a:r>
            <a:r>
              <a:rPr lang="en-US" altLang="ko-KR" sz="2800" dirty="0"/>
              <a:t>#1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2163C4-3C90-69AB-5515-88F14DEE2EE7}"/>
              </a:ext>
            </a:extLst>
          </p:cNvPr>
          <p:cNvSpPr txBox="1"/>
          <p:nvPr/>
        </p:nvSpPr>
        <p:spPr>
          <a:xfrm>
            <a:off x="4392249" y="3640111"/>
            <a:ext cx="73605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1.</a:t>
            </a:r>
            <a:r>
              <a:rPr kumimoji="1" lang="ko-KR" altLang="en-US" dirty="0"/>
              <a:t> 사용할 </a:t>
            </a:r>
            <a:r>
              <a:rPr kumimoji="1" lang="en-US" altLang="ko-KR" dirty="0"/>
              <a:t>DAC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선택</a:t>
            </a:r>
            <a:endParaRPr kumimoji="1" lang="en-US" altLang="ko-KR" dirty="0"/>
          </a:p>
          <a:p>
            <a:r>
              <a:rPr kumimoji="1" lang="ko-KR" altLang="en-US" sz="1200" dirty="0"/>
              <a:t>이때 주의할 점은 </a:t>
            </a:r>
            <a:r>
              <a:rPr kumimoji="1" lang="en-US" altLang="ko-KR" sz="1200" b="1" dirty="0"/>
              <a:t>OUT1</a:t>
            </a:r>
            <a:r>
              <a:rPr kumimoji="1" lang="ko-KR" altLang="en-US" sz="1200" dirty="0" err="1"/>
              <a:t>에</a:t>
            </a:r>
            <a:r>
              <a:rPr kumimoji="1" lang="ko-KR" altLang="en-US" sz="1200" dirty="0"/>
              <a:t> 해당하는 </a:t>
            </a:r>
            <a:r>
              <a:rPr kumimoji="1" lang="en-US" altLang="ko-KR" sz="1200" dirty="0"/>
              <a:t>PA4</a:t>
            </a:r>
            <a:r>
              <a:rPr kumimoji="1" lang="ko-KR" altLang="en-US" sz="1200" dirty="0"/>
              <a:t>번은 이미 </a:t>
            </a:r>
            <a:r>
              <a:rPr kumimoji="1" lang="ko-KR" altLang="en-US" sz="1200" dirty="0" err="1"/>
              <a:t>사용중</a:t>
            </a:r>
            <a:r>
              <a:rPr kumimoji="1" lang="en-US" altLang="ko-KR" sz="1200" dirty="0"/>
              <a:t>(RV4)</a:t>
            </a:r>
            <a:r>
              <a:rPr kumimoji="1" lang="ko-KR" altLang="en-US" sz="1200" dirty="0"/>
              <a:t>이기 때문에 </a:t>
            </a:r>
            <a:r>
              <a:rPr kumimoji="1" lang="ko-KR" altLang="en-US" sz="1200" b="1" dirty="0"/>
              <a:t>사용 </a:t>
            </a:r>
            <a:r>
              <a:rPr kumimoji="1" lang="en-US" altLang="ko-KR" sz="1200" b="1" dirty="0"/>
              <a:t>X</a:t>
            </a:r>
          </a:p>
          <a:p>
            <a:r>
              <a:rPr kumimoji="1" lang="en-US" altLang="ko-KR" sz="1200" b="1" dirty="0"/>
              <a:t>OUT2</a:t>
            </a:r>
            <a:r>
              <a:rPr kumimoji="1" lang="ko-KR" altLang="en-US" sz="1200" dirty="0"/>
              <a:t> 또한 </a:t>
            </a:r>
            <a:r>
              <a:rPr kumimoji="1" lang="en-US" altLang="ko-KR" sz="1200" dirty="0"/>
              <a:t>VS1003(</a:t>
            </a:r>
            <a:r>
              <a:rPr kumimoji="1" lang="ko-KR" altLang="en-US" sz="1200" dirty="0" err="1"/>
              <a:t>음성코덱</a:t>
            </a:r>
            <a:r>
              <a:rPr kumimoji="1" lang="en-US" altLang="ko-KR" sz="1200" dirty="0"/>
              <a:t>)</a:t>
            </a:r>
            <a:r>
              <a:rPr kumimoji="1" lang="ko-KR" altLang="en-US" sz="1200" dirty="0"/>
              <a:t> </a:t>
            </a:r>
            <a:r>
              <a:rPr kumimoji="1" lang="en-US" altLang="ko-KR" sz="1200" dirty="0"/>
              <a:t>SCK</a:t>
            </a:r>
            <a:r>
              <a:rPr kumimoji="1" lang="ko-KR" altLang="en-US" sz="1200" dirty="0"/>
              <a:t>와 겹치므로 </a:t>
            </a:r>
            <a:r>
              <a:rPr kumimoji="1" lang="ko-KR" altLang="en-US" sz="1200" b="1" dirty="0" err="1"/>
              <a:t>음성코덱과</a:t>
            </a:r>
            <a:r>
              <a:rPr kumimoji="1" lang="ko-KR" altLang="en-US" sz="1200" b="1" dirty="0"/>
              <a:t> 동시사용이 불가하다</a:t>
            </a:r>
            <a:r>
              <a:rPr kumimoji="1" lang="en-US" altLang="ko-KR" sz="1200" b="1" dirty="0"/>
              <a:t>.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2.</a:t>
            </a:r>
            <a:r>
              <a:rPr kumimoji="1" lang="ko-KR" altLang="en-US" dirty="0"/>
              <a:t> </a:t>
            </a:r>
            <a:r>
              <a:rPr kumimoji="1" lang="en-US" altLang="ko-KR" dirty="0"/>
              <a:t>Buffer</a:t>
            </a:r>
            <a:r>
              <a:rPr kumimoji="1" lang="ko-KR" altLang="en-US" dirty="0"/>
              <a:t>는 사용할 용도에 맞춰 활성화 혹은 비활성화</a:t>
            </a:r>
            <a:endParaRPr kumimoji="1" lang="en-US" altLang="ko-KR" dirty="0"/>
          </a:p>
          <a:p>
            <a:r>
              <a:rPr kumimoji="1" lang="en-US" altLang="ko-KR" dirty="0"/>
              <a:t>3.</a:t>
            </a:r>
            <a:r>
              <a:rPr kumimoji="1" lang="ko-KR" altLang="en-US" dirty="0"/>
              <a:t> </a:t>
            </a:r>
            <a:r>
              <a:rPr kumimoji="1" lang="en-US" altLang="ko-KR" dirty="0"/>
              <a:t>Trigger</a:t>
            </a:r>
            <a:r>
              <a:rPr kumimoji="1" lang="ko-KR" altLang="en-US" dirty="0"/>
              <a:t>또한 사용 용도에 맞춰서 설정</a:t>
            </a:r>
            <a:r>
              <a:rPr kumimoji="1" lang="en-US" altLang="ko-KR" dirty="0"/>
              <a:t>(</a:t>
            </a:r>
            <a:r>
              <a:rPr kumimoji="1" lang="ko-KR" altLang="en-US" dirty="0"/>
              <a:t>세미나에서는 </a:t>
            </a:r>
            <a:r>
              <a:rPr kumimoji="1" lang="en-US" altLang="ko-KR" dirty="0"/>
              <a:t>None)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52377A1-802D-6E11-3986-B42AB1A6B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736179"/>
            <a:ext cx="3584311" cy="337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6284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1CFC16-46D3-1A83-3066-A16CEA834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0">
            <a:extLst>
              <a:ext uri="{FF2B5EF4-FFF2-40B4-BE49-F238E27FC236}">
                <a16:creationId xmlns:a16="http://schemas.microsoft.com/office/drawing/2014/main" id="{23A0700A-A955-A7EB-0E22-4ED70099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E766F86F-66D8-65CB-1B15-08605FC83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6" descr="회로판">
            <a:extLst>
              <a:ext uri="{FF2B5EF4-FFF2-40B4-BE49-F238E27FC236}">
                <a16:creationId xmlns:a16="http://schemas.microsoft.com/office/drawing/2014/main" id="{8E93B01C-D962-276E-B06B-B94A85D54F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1" y="12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22" name="Rectangle 24">
            <a:extLst>
              <a:ext uri="{FF2B5EF4-FFF2-40B4-BE49-F238E27FC236}">
                <a16:creationId xmlns:a16="http://schemas.microsoft.com/office/drawing/2014/main" id="{F374802F-6B38-A0A5-14BD-91BFEAC3B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29530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93769E-B10B-ADC7-D898-9E120B1BD5B5}"/>
              </a:ext>
            </a:extLst>
          </p:cNvPr>
          <p:cNvSpPr txBox="1"/>
          <p:nvPr/>
        </p:nvSpPr>
        <p:spPr>
          <a:xfrm>
            <a:off x="4405363" y="240075"/>
            <a:ext cx="3381273" cy="1815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en-US" altLang="ko-KR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Code</a:t>
            </a:r>
            <a:r>
              <a:rPr lang="ko-KR" alt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작성</a:t>
            </a:r>
            <a:r>
              <a:rPr lang="en-US" altLang="ko-KR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(DAC)</a:t>
            </a:r>
            <a:endParaRPr lang="ko-KR" altLang="en-US" sz="3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364856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AD81B-2115-D1FD-6972-35A23BEA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0">
            <a:extLst>
              <a:ext uri="{FF2B5EF4-FFF2-40B4-BE49-F238E27FC236}">
                <a16:creationId xmlns:a16="http://schemas.microsoft.com/office/drawing/2014/main" id="{4D23E633-E6C0-7FD3-835A-F657588DC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230468DB-7E91-A677-B40E-B9728D769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6" descr="회로판">
            <a:extLst>
              <a:ext uri="{FF2B5EF4-FFF2-40B4-BE49-F238E27FC236}">
                <a16:creationId xmlns:a16="http://schemas.microsoft.com/office/drawing/2014/main" id="{638EE6DE-901A-49FB-D236-5EF89F7FAD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22" name="Rectangle 24">
            <a:extLst>
              <a:ext uri="{FF2B5EF4-FFF2-40B4-BE49-F238E27FC236}">
                <a16:creationId xmlns:a16="http://schemas.microsoft.com/office/drawing/2014/main" id="{2914EAE0-BBD5-3860-803F-947A1145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29530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24AFB3-2137-405A-75EF-3123B1714BE7}"/>
              </a:ext>
            </a:extLst>
          </p:cNvPr>
          <p:cNvSpPr txBox="1"/>
          <p:nvPr/>
        </p:nvSpPr>
        <p:spPr>
          <a:xfrm>
            <a:off x="5494308" y="240075"/>
            <a:ext cx="1203383" cy="1815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ko-KR" alt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응용</a:t>
            </a:r>
          </a:p>
        </p:txBody>
      </p:sp>
    </p:spTree>
    <p:extLst>
      <p:ext uri="{BB962C8B-B14F-4D97-AF65-F5344CB8AC3E}">
        <p14:creationId xmlns:p14="http://schemas.microsoft.com/office/powerpoint/2010/main" val="857938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49D6E-6895-753C-64DD-F32DB029C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03DA76-0C58-9379-6549-188F9BB48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FFFF"/>
                </a:solidFill>
              </a:rPr>
              <a:t>6. </a:t>
            </a:r>
            <a:r>
              <a:rPr lang="ko-KR" altLang="en-US" dirty="0" err="1">
                <a:solidFill>
                  <a:srgbClr val="FFFFFF"/>
                </a:solidFill>
              </a:rPr>
              <a:t>응용편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6-1 ADC</a:t>
            </a:r>
            <a:r>
              <a:rPr lang="ko-KR" altLang="en-US" sz="2800" dirty="0">
                <a:latin typeface="+mn-lt"/>
              </a:rPr>
              <a:t>값에 따라서 </a:t>
            </a:r>
            <a:r>
              <a:rPr lang="en-US" altLang="ko-KR" sz="2800" dirty="0">
                <a:latin typeface="+mn-lt"/>
              </a:rPr>
              <a:t>LED</a:t>
            </a:r>
            <a:r>
              <a:rPr lang="ko-KR" altLang="en-US" sz="2800" dirty="0">
                <a:latin typeface="+mn-lt"/>
              </a:rPr>
              <a:t> 밝기 제어</a:t>
            </a:r>
            <a:r>
              <a:rPr lang="en-US" altLang="ko-KR" sz="2800" dirty="0">
                <a:latin typeface="+mn-lt"/>
              </a:rPr>
              <a:t>(DAC</a:t>
            </a:r>
            <a:r>
              <a:rPr lang="ko-KR" altLang="en-US" sz="2800" dirty="0">
                <a:latin typeface="+mn-lt"/>
              </a:rPr>
              <a:t> 방식</a:t>
            </a:r>
            <a:r>
              <a:rPr lang="en-US" altLang="ko-KR" sz="2800" dirty="0">
                <a:latin typeface="+mn-lt"/>
              </a:rPr>
              <a:t>)</a:t>
            </a:r>
            <a:endParaRPr lang="ko-KR" alt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E221DC-CFC0-CD8C-41FE-365463A5F6C1}"/>
              </a:ext>
            </a:extLst>
          </p:cNvPr>
          <p:cNvSpPr txBox="1"/>
          <p:nvPr/>
        </p:nvSpPr>
        <p:spPr>
          <a:xfrm>
            <a:off x="484552" y="3235700"/>
            <a:ext cx="10869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문제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ADC(RV2 | PA2)</a:t>
            </a:r>
            <a:r>
              <a:rPr lang="ko-KR" altLang="en-US" dirty="0" err="1"/>
              <a:t>를</a:t>
            </a:r>
            <a:r>
              <a:rPr lang="ko-KR" altLang="en-US" dirty="0"/>
              <a:t> 읽어와서</a:t>
            </a:r>
            <a:r>
              <a:rPr lang="en-US" altLang="ko-KR" dirty="0"/>
              <a:t>(0~4095)</a:t>
            </a:r>
            <a:r>
              <a:rPr lang="ko-KR" altLang="en-US" dirty="0"/>
              <a:t> </a:t>
            </a:r>
            <a:r>
              <a:rPr lang="en-US" altLang="ko-KR" dirty="0"/>
              <a:t>DAC</a:t>
            </a:r>
            <a:r>
              <a:rPr lang="ko-KR" altLang="en-US" dirty="0" err="1"/>
              <a:t>에</a:t>
            </a:r>
            <a:r>
              <a:rPr lang="ko-KR" altLang="en-US" dirty="0"/>
              <a:t> 연결된 </a:t>
            </a:r>
            <a:r>
              <a:rPr lang="en-US" altLang="ko-KR" dirty="0"/>
              <a:t>LED </a:t>
            </a:r>
            <a:r>
              <a:rPr lang="ko-KR" altLang="en-US" dirty="0"/>
              <a:t>밝기를 제어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17885622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2368</TotalTime>
  <Words>1210</Words>
  <Application>Microsoft Macintosh PowerPoint</Application>
  <PresentationFormat>와이드스크린</PresentationFormat>
  <Paragraphs>151</Paragraphs>
  <Slides>31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6" baseType="lpstr">
      <vt:lpstr>맑은 고딕</vt:lpstr>
      <vt:lpstr>Arial</vt:lpstr>
      <vt:lpstr>Avenir Next LT Pro</vt:lpstr>
      <vt:lpstr>Bahnschrift</vt:lpstr>
      <vt:lpstr>MatrixVTI</vt:lpstr>
      <vt:lpstr>ARM Processor </vt:lpstr>
      <vt:lpstr>응용편 메모장 만들기</vt:lpstr>
      <vt:lpstr>ARM Processor Seminar Roadmap</vt:lpstr>
      <vt:lpstr>PowerPoint 프레젠테이션</vt:lpstr>
      <vt:lpstr>1. STM32F405 1-1 ADC 구성</vt:lpstr>
      <vt:lpstr>1. STM32F405 1-2 ADC 구성(상세)</vt:lpstr>
      <vt:lpstr>1. STM32F405 1-3 ADC IT 구성</vt:lpstr>
      <vt:lpstr>1. STM32F405 1-4 ADC IT(AWD 사용방법)</vt:lpstr>
      <vt:lpstr>2. ADC 2-1 raw 데이터 전압값으로 변환 방법</vt:lpstr>
      <vt:lpstr>3. DMA(Direct Memory Access) 3-1 DMA란?</vt:lpstr>
      <vt:lpstr>3. DMA(Direct Memory Access) 3-2 STM32F405 DMA 구성</vt:lpstr>
      <vt:lpstr>3. DMA(Direct Memory Access) 3-3 DMA vs Polling</vt:lpstr>
      <vt:lpstr>4. STM32CubeIDE 설정 4-1 프로젝트 파일 관리 방법#1</vt:lpstr>
      <vt:lpstr>4. STM32CubeIDE 설정 4-2 프로젝트 파일 관리 방법#2</vt:lpstr>
      <vt:lpstr>4. STM32CubeIDE 설정 4-1 프로젝트 파일 관리 방법#3</vt:lpstr>
      <vt:lpstr>4. STM32CubeIDE 설정 4-1 프로젝트 파일 관리 방법#4</vt:lpstr>
      <vt:lpstr>4. STM32CubeIDE 설정 4-1 프로젝트 파일 관리 방법#5</vt:lpstr>
      <vt:lpstr>4. STM32CubeIDE 설정 4-2 세미나 보드 ADC 회로도</vt:lpstr>
      <vt:lpstr>4. STM32CubeIDE 설정 4-3 ADC 설정 방법(Polling) #1</vt:lpstr>
      <vt:lpstr>4. STM32CubeIDE 설정 4-3 ADC 설정 방법(Polling) #2</vt:lpstr>
      <vt:lpstr>4. STM32CubeIDE 설정 4-4 ADC 설정 방법(DMA) #1</vt:lpstr>
      <vt:lpstr>4. STM32CubeIDE 설정 4-4 ADC 설정 방법(DMA) #2</vt:lpstr>
      <vt:lpstr>4. STM32CubeIDE 설정 4-4 ADC 설정 방법(DMA) #3</vt:lpstr>
      <vt:lpstr>PowerPoint 프레젠테이션</vt:lpstr>
      <vt:lpstr>5. DAC 5-1 DAC vs PWM</vt:lpstr>
      <vt:lpstr>5. DAC 5-2 DAC 구성</vt:lpstr>
      <vt:lpstr>5. DAC 5-3 DAC 출력</vt:lpstr>
      <vt:lpstr>5. DAC 5-4 STM32CubeIDE 설정 #1</vt:lpstr>
      <vt:lpstr>PowerPoint 프레젠테이션</vt:lpstr>
      <vt:lpstr>PowerPoint 프레젠테이션</vt:lpstr>
      <vt:lpstr>6. 응용편 6-1 ADC값에 따라서 LED 밝기 제어(DAC 방식)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 Processor 세미나</dc:title>
  <dc:creator>mta</dc:creator>
  <cp:lastModifiedBy>mta</cp:lastModifiedBy>
  <cp:revision>792</cp:revision>
  <dcterms:created xsi:type="dcterms:W3CDTF">2023-04-01T05:56:39Z</dcterms:created>
  <dcterms:modified xsi:type="dcterms:W3CDTF">2025-11-12T19:52:20Z</dcterms:modified>
</cp:coreProperties>
</file>